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437" r:id="rId3"/>
    <p:sldId id="425" r:id="rId4"/>
    <p:sldId id="435" r:id="rId5"/>
    <p:sldId id="438" r:id="rId6"/>
    <p:sldId id="439" r:id="rId7"/>
    <p:sldId id="419" r:id="rId8"/>
    <p:sldId id="427" r:id="rId9"/>
    <p:sldId id="441" r:id="rId10"/>
    <p:sldId id="442" r:id="rId11"/>
    <p:sldId id="443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852" autoAdjust="0"/>
  </p:normalViewPr>
  <p:slideViewPr>
    <p:cSldViewPr snapToGrid="0">
      <p:cViewPr varScale="1">
        <p:scale>
          <a:sx n="98" d="100"/>
          <a:sy n="98" d="100"/>
        </p:scale>
        <p:origin x="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138CA0-D2C8-4CBD-A352-0534456D3CCF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1C1761-BC92-431A-8FD2-4DA588ACCE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86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8EC584-D879-4BC2-9EFB-E67AB630AB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286E5B-F704-40E3-A1E8-DB0FDAF1A2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41D8501-DF67-411D-A477-A03C9AA84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5BC256-B1E8-48AA-A767-3B0EC6B68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2FB524-73C4-43DC-97AA-331D140CF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0328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B2E1AC-DF1E-4E37-9627-F4FAC300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419A72-0BB0-42F0-9D1A-B36043A95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65065A-5A30-442A-BE59-05645B638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DEB79F-2DB5-4BDA-95BF-B9BD34CF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92E81B-8457-4221-9759-003101D7A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5089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778497-5FF2-4063-8CBD-A61D6F09C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88E37C8-54AA-4227-AB6F-06E97AD84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996A281-0EC1-4F37-89CC-F4B2714F6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C9D7C-9051-44EB-9AF3-C65F0E6DC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32B6A1-B207-412B-B216-6861D3E4A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251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2EBEA6-E0DB-40B1-B194-C1D06A6EA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56AE76F-E91D-49D5-84EB-01E1615C95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22DCBC0-F8D0-4784-8509-F0235CE153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572F83-3E5B-40FD-8A47-AC65D8AC0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7C56E5-E1D9-494E-BEFF-78DB90087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E2E66E8-369F-44EF-BE25-6BFDAE152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8827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42FEE2-DD5B-420D-B2C3-A0E4E5397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7542F0-0A55-46B9-B6F9-130729DF7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B62748-135C-4FBF-A2CC-0934D0FC0A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D1FD7DC-E5AE-4753-A3AE-BF4AE6B78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E473791-30B3-4762-A60C-4E79E046BC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D2A6019-14CE-4D0C-B38A-3E9EC2301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09D0F88-B27D-4687-9E5B-4056923B8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CD0C52-D3AE-4851-8FB0-87A50E9CD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9198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58D405-FDF0-441C-9732-A01B8E048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BA742C-97C0-41AB-A285-F6365B35F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32EF57-BB7F-41E3-9280-0F4AD6390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B0C3E0F-FA2F-4ACD-A6E1-9E390A23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84707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494F57C-61B4-4E47-9BBC-BF1E0CF72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F148328-AE47-4FB0-A81E-4D941B2B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8DB6EA0-FC67-4C61-8F45-205ACFA6C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709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538B5-0CDD-49B1-9550-C3FEF4F24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9272C4-2797-4D1D-973A-AB50961B7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608C78-4E00-4EA2-BC51-B9A01E8357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78A6B1-E6F0-4EE9-BE3C-7A57AD933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D931090-5A14-48A8-9AA2-7566DB0F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363FCDA-BE2A-4689-BC84-D4D7A6F3D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881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3ED19F-DF58-4BE2-8646-27299FEB3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70F0D68-EDBC-4F73-934F-8BAB8FBF42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7208708-EEDB-4CEC-B2B1-00F6BA8FC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8BC80E-37F7-45FC-88AF-B1DA76FCE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84B1A78-B5C6-4F6A-991D-4E0F67E72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4F5965-434E-48EA-B7EF-71E52608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41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B91F20-A1D8-409B-B75A-C4CA0D0D8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ABA1A4-C053-4579-9EEF-12122CDCB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15BDE58-8695-4E12-B3CD-64EC39C83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394BF8-C72C-4DD8-82FB-858F3617C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33E7B8-7751-4C02-BF43-D23A86D25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7935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28B55B0-5C6E-4BB8-B735-1178200977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7CF004-AFFF-4675-A9B9-036E1A8C2D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5D61EE-CF4E-4444-AB6E-848D2F4F5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09A6C7-AC47-4C8C-97F9-52D089E1C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FA252A-AD06-4841-8F9C-ED0AEC49B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8517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2093810-2041-413F-AE68-3EE82BBA04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C803390-82C6-4693-8525-EEBC0737A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2B72C3-C2F2-4D63-8D8B-CD007468A5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A35C42-AD79-47EE-A839-0FD92B9C5B13}" type="datetimeFigureOut">
              <a:rPr lang="zh-CN" altLang="en-US" smtClean="0"/>
              <a:t>2021/8/14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341FBD-4048-4118-990B-5FF8ACE4FD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4CFA93-E1B2-4A56-9AB5-8C186A2AFB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408E0B-079E-4D63-9648-A59241BF523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940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45E63B2A-2972-4A28-9A46-D2D12E58286D}"/>
              </a:ext>
            </a:extLst>
          </p:cNvPr>
          <p:cNvGrpSpPr/>
          <p:nvPr/>
        </p:nvGrpSpPr>
        <p:grpSpPr>
          <a:xfrm>
            <a:off x="195385" y="436978"/>
            <a:ext cx="11785600" cy="2042160"/>
            <a:chOff x="1072" y="2747"/>
            <a:chExt cx="17444" cy="3216"/>
          </a:xfrm>
        </p:grpSpPr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9EFA3CF4-B7E5-4A9D-869A-B515AF07C280}"/>
                </a:ext>
              </a:extLst>
            </p:cNvPr>
            <p:cNvGrpSpPr/>
            <p:nvPr/>
          </p:nvGrpSpPr>
          <p:grpSpPr>
            <a:xfrm>
              <a:off x="1072" y="2747"/>
              <a:ext cx="1316" cy="3216"/>
              <a:chOff x="2384" y="2668"/>
              <a:chExt cx="1316" cy="3216"/>
            </a:xfrm>
          </p:grpSpPr>
          <p:sp>
            <p:nvSpPr>
              <p:cNvPr id="14" name="矩形 87">
                <a:extLst>
                  <a:ext uri="{FF2B5EF4-FFF2-40B4-BE49-F238E27FC236}">
                    <a16:creationId xmlns:a16="http://schemas.microsoft.com/office/drawing/2014/main" id="{5D6218DE-BA00-4A8C-AEC0-903D1DD27A7E}"/>
                  </a:ext>
                </a:extLst>
              </p:cNvPr>
              <p:cNvSpPr/>
              <p:nvPr/>
            </p:nvSpPr>
            <p:spPr>
              <a:xfrm>
                <a:off x="2400" y="3160"/>
                <a:ext cx="528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5" name="矩形 102">
                <a:extLst>
                  <a:ext uri="{FF2B5EF4-FFF2-40B4-BE49-F238E27FC236}">
                    <a16:creationId xmlns:a16="http://schemas.microsoft.com/office/drawing/2014/main" id="{998B798D-7FD5-4C81-B9F5-6F8D29A81E97}"/>
                  </a:ext>
                </a:extLst>
              </p:cNvPr>
              <p:cNvSpPr/>
              <p:nvPr/>
            </p:nvSpPr>
            <p:spPr>
              <a:xfrm>
                <a:off x="2400" y="2668"/>
                <a:ext cx="1300" cy="2722"/>
              </a:xfrm>
              <a:prstGeom prst="rect">
                <a:avLst/>
              </a:prstGeom>
              <a:solidFill>
                <a:srgbClr val="005825"/>
              </a:solidFill>
              <a:ln w="12700"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6" name="直角三角形 89">
                <a:extLst>
                  <a:ext uri="{FF2B5EF4-FFF2-40B4-BE49-F238E27FC236}">
                    <a16:creationId xmlns:a16="http://schemas.microsoft.com/office/drawing/2014/main" id="{DA9BB46C-78EA-4BDF-9E17-77BFC60F1DE0}"/>
                  </a:ext>
                </a:extLst>
              </p:cNvPr>
              <p:cNvSpPr/>
              <p:nvPr/>
            </p:nvSpPr>
            <p:spPr>
              <a:xfrm rot="-5400000" flipH="1">
                <a:off x="2400" y="5358"/>
                <a:ext cx="510" cy="542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5F2EA8F9-B98D-4AE2-9BAB-A4966B7C4258}"/>
                </a:ext>
              </a:extLst>
            </p:cNvPr>
            <p:cNvGrpSpPr/>
            <p:nvPr/>
          </p:nvGrpSpPr>
          <p:grpSpPr>
            <a:xfrm>
              <a:off x="17988" y="3203"/>
              <a:ext cx="528" cy="2723"/>
              <a:chOff x="16273" y="3160"/>
              <a:chExt cx="528" cy="2723"/>
            </a:xfrm>
          </p:grpSpPr>
          <p:sp>
            <p:nvSpPr>
              <p:cNvPr id="12" name="矩形 88">
                <a:extLst>
                  <a:ext uri="{FF2B5EF4-FFF2-40B4-BE49-F238E27FC236}">
                    <a16:creationId xmlns:a16="http://schemas.microsoft.com/office/drawing/2014/main" id="{5FCE61B3-8A3D-4886-A006-CED88F46D276}"/>
                  </a:ext>
                </a:extLst>
              </p:cNvPr>
              <p:cNvSpPr/>
              <p:nvPr/>
            </p:nvSpPr>
            <p:spPr>
              <a:xfrm>
                <a:off x="16273" y="3160"/>
                <a:ext cx="527" cy="2723"/>
              </a:xfrm>
              <a:prstGeom prst="rect">
                <a:avLst/>
              </a:prstGeom>
              <a:solidFill>
                <a:srgbClr val="A5A5A5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  <p:sp>
            <p:nvSpPr>
              <p:cNvPr id="13" name="直角三角形 91">
                <a:extLst>
                  <a:ext uri="{FF2B5EF4-FFF2-40B4-BE49-F238E27FC236}">
                    <a16:creationId xmlns:a16="http://schemas.microsoft.com/office/drawing/2014/main" id="{2A2C1F84-2E2F-4937-A0F5-A64A3C17E925}"/>
                  </a:ext>
                </a:extLst>
              </p:cNvPr>
              <p:cNvSpPr/>
              <p:nvPr/>
            </p:nvSpPr>
            <p:spPr>
              <a:xfrm rot="-5400000" flipH="1" flipV="1">
                <a:off x="16283" y="5365"/>
                <a:ext cx="507" cy="528"/>
              </a:xfrm>
              <a:prstGeom prst="rtTriangle">
                <a:avLst/>
              </a:prstGeom>
              <a:solidFill>
                <a:schemeClr val="tx1"/>
              </a:solidFill>
              <a:ln w="12700">
                <a:noFill/>
              </a:ln>
            </p:spPr>
            <p:txBody>
              <a:bodyPr anchor="ctr"/>
              <a:lstStyle>
                <a:lvl1pPr marL="171450" indent="-171450" algn="l" defTabSz="685800" rtl="0" eaLnBrk="0" fontAlgn="base" hangingPunct="0">
                  <a:lnSpc>
                    <a:spcPct val="90000"/>
                  </a:lnSpc>
                  <a:spcBef>
                    <a:spcPts val="750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1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Calibri" panose="020F0502020204030204" pitchFamily="34" charset="0"/>
                  </a:defRPr>
                </a:lvl1pPr>
                <a:lvl2pPr marL="5143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28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2pPr>
                <a:lvl3pPr marL="8572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5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3pPr>
                <a:lvl4pPr marL="12001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4pPr>
                <a:lvl5pPr marL="1543050" indent="-171450" algn="l" defTabSz="685800" rtl="0" eaLnBrk="0" fontAlgn="base" hangingPunct="0">
                  <a:lnSpc>
                    <a:spcPct val="90000"/>
                  </a:lnSpc>
                  <a:spcBef>
                    <a:spcPts val="375"/>
                  </a:spcBef>
                  <a:spcAft>
                    <a:spcPct val="0"/>
                  </a:spcAft>
                  <a:buFont typeface="Arial" panose="020B0604020202090204" pitchFamily="34" charset="0"/>
                  <a:buChar char="•"/>
                  <a:defRPr sz="1300">
                    <a:solidFill>
                      <a:schemeClr val="tx1"/>
                    </a:solidFill>
                    <a:latin typeface="+mn-lt"/>
                    <a:ea typeface="+mn-ea"/>
                    <a:sym typeface="Calibri" panose="020F0502020204030204" pitchFamily="34" charset="0"/>
                  </a:defRPr>
                </a:lvl5pPr>
              </a:lstStyle>
              <a:p>
                <a:pPr marL="0" lvl="0" indent="0" algn="ctr" defTabSz="914400" eaLnBrk="1" hangingPunct="1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lang="zh-CN" altLang="zh-CN" sz="1800" dirty="0">
                  <a:solidFill>
                    <a:srgbClr val="FFFFFF"/>
                  </a:solidFill>
                  <a:latin typeface="宋体" panose="02010600030101010101" pitchFamily="2" charset="-122"/>
                  <a:sym typeface="宋体" panose="02010600030101010101" pitchFamily="2" charset="-122"/>
                </a:endParaRPr>
              </a:p>
            </p:txBody>
          </p:sp>
        </p:grpSp>
      </p:grpSp>
      <p:sp>
        <p:nvSpPr>
          <p:cNvPr id="17" name="直接连接符 83">
            <a:extLst>
              <a:ext uri="{FF2B5EF4-FFF2-40B4-BE49-F238E27FC236}">
                <a16:creationId xmlns:a16="http://schemas.microsoft.com/office/drawing/2014/main" id="{9AB3BDF5-8C5C-4727-B9C9-CB6EF28CE63A}"/>
              </a:ext>
            </a:extLst>
          </p:cNvPr>
          <p:cNvSpPr/>
          <p:nvPr/>
        </p:nvSpPr>
        <p:spPr>
          <a:xfrm>
            <a:off x="1919923" y="6229668"/>
            <a:ext cx="8353425" cy="1587"/>
          </a:xfrm>
          <a:prstGeom prst="line">
            <a:avLst/>
          </a:prstGeom>
          <a:ln w="6350" cap="flat" cmpd="sng">
            <a:solidFill>
              <a:srgbClr val="BFBFBF"/>
            </a:solidFill>
            <a:prstDash val="solid"/>
            <a:bevel/>
            <a:headEnd type="none" w="med" len="med"/>
            <a:tailEnd type="none" w="med" len="med"/>
          </a:ln>
        </p:spPr>
      </p:sp>
      <p:sp>
        <p:nvSpPr>
          <p:cNvPr id="18" name="灯片编号占位符 4">
            <a:extLst>
              <a:ext uri="{FF2B5EF4-FFF2-40B4-BE49-F238E27FC236}">
                <a16:creationId xmlns:a16="http://schemas.microsoft.com/office/drawing/2014/main" id="{A4E641B7-D37E-4CBA-B48A-A2ADFC0F9993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69098BC-435A-4030-81A5-4D0F9BC22E6F}"/>
              </a:ext>
            </a:extLst>
          </p:cNvPr>
          <p:cNvSpPr txBox="1"/>
          <p:nvPr/>
        </p:nvSpPr>
        <p:spPr>
          <a:xfrm>
            <a:off x="2465033" y="5705455"/>
            <a:ext cx="726193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400" dirty="0">
                <a:latin typeface="等线" panose="02010600030101010101" pitchFamily="2" charset="-122"/>
                <a:cs typeface="Times New Roman" panose="02020603050405020304" pitchFamily="18" charset="0"/>
              </a:rPr>
              <a:t>ACL 2021</a:t>
            </a:r>
            <a:endParaRPr lang="zh-CN" altLang="en-US" sz="2400" dirty="0">
              <a:latin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C7CEB6-F596-449E-8788-402704011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904" y="1301213"/>
            <a:ext cx="9758278" cy="3579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423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介绍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2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1FB156-AD4E-4EAA-BA5F-391FC0CFD172}"/>
              </a:ext>
            </a:extLst>
          </p:cNvPr>
          <p:cNvSpPr txBox="1"/>
          <p:nvPr/>
        </p:nvSpPr>
        <p:spPr>
          <a:xfrm>
            <a:off x="570523" y="1206151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/>
              <a:t>任务：实体关系联合抽取</a:t>
            </a:r>
            <a:endParaRPr lang="en-US" altLang="zh-CN" sz="2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04C5F51-B98D-4AB4-A65A-E7CE3D2C6352}"/>
              </a:ext>
            </a:extLst>
          </p:cNvPr>
          <p:cNvSpPr txBox="1"/>
          <p:nvPr/>
        </p:nvSpPr>
        <p:spPr>
          <a:xfrm>
            <a:off x="570523" y="2397789"/>
            <a:ext cx="964418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动机：</a:t>
            </a:r>
            <a:endParaRPr lang="en-US" altLang="zh-CN" sz="2400" dirty="0"/>
          </a:p>
          <a:p>
            <a:r>
              <a:rPr lang="en-US" altLang="zh-CN" sz="2400" dirty="0"/>
              <a:t>      </a:t>
            </a:r>
            <a:r>
              <a:rPr lang="zh-CN" altLang="en-US" sz="2400" dirty="0"/>
              <a:t>把实体关系联合抽取任务看作三个子任务：</a:t>
            </a:r>
            <a:r>
              <a:rPr lang="en-US" altLang="zh-CN" sz="2400" dirty="0"/>
              <a:t>1</a:t>
            </a:r>
            <a:r>
              <a:rPr lang="zh-CN" altLang="en-US" sz="2400" dirty="0"/>
              <a:t>）潜在关系类型预测；</a:t>
            </a:r>
            <a:r>
              <a:rPr lang="en-US" altLang="zh-CN" sz="2400" dirty="0"/>
              <a:t>2</a:t>
            </a:r>
            <a:r>
              <a:rPr lang="zh-CN" altLang="en-US" sz="2400" dirty="0"/>
              <a:t>）根据预测关系类型进行实体抽取；</a:t>
            </a:r>
            <a:r>
              <a:rPr lang="en-US" altLang="zh-CN" sz="2400" dirty="0"/>
              <a:t>3</a:t>
            </a:r>
            <a:r>
              <a:rPr lang="zh-CN" altLang="en-US" sz="2400" dirty="0"/>
              <a:t>）头尾实体对齐。</a:t>
            </a:r>
            <a:endParaRPr lang="en-US" altLang="zh-CN" sz="2400" dirty="0"/>
          </a:p>
          <a:p>
            <a:r>
              <a:rPr lang="en-US" altLang="zh-CN" sz="2400" dirty="0"/>
              <a:t>      </a:t>
            </a:r>
            <a:r>
              <a:rPr lang="zh-CN" altLang="en-US" sz="2400" dirty="0"/>
              <a:t>使用一个统一的</a:t>
            </a:r>
            <a:r>
              <a:rPr lang="zh-CN" altLang="en-US" sz="2400"/>
              <a:t>模型（各解码模块共享编码器）来解决</a:t>
            </a:r>
            <a:r>
              <a:rPr lang="zh-CN" altLang="en-US" sz="2400" dirty="0"/>
              <a:t>这些子任务，从而实现联合抽取。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579956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介绍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8890635" y="6356350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3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11FB156-AD4E-4EAA-BA5F-391FC0CFD172}"/>
              </a:ext>
            </a:extLst>
          </p:cNvPr>
          <p:cNvSpPr txBox="1"/>
          <p:nvPr/>
        </p:nvSpPr>
        <p:spPr>
          <a:xfrm>
            <a:off x="570523" y="105765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zh-CN" altLang="en-US" sz="2400" dirty="0"/>
              <a:t>背景：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953A63D-6A03-4BC6-BFD4-8EB93544A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917" y="1288491"/>
            <a:ext cx="6108718" cy="437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145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4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AA57250-CE02-4DDD-BB14-7DDB306AD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585" y="1062843"/>
            <a:ext cx="9716830" cy="550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034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5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6BC3223-45A2-4BFB-9D9E-F9EF9EC3FF92}"/>
              </a:ext>
            </a:extLst>
          </p:cNvPr>
          <p:cNvSpPr txBox="1"/>
          <p:nvPr/>
        </p:nvSpPr>
        <p:spPr>
          <a:xfrm>
            <a:off x="576079" y="1037271"/>
            <a:ext cx="60960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1. </a:t>
            </a:r>
            <a:r>
              <a:rPr lang="zh-CN" altLang="en-US" sz="2400" dirty="0"/>
              <a:t>编码器：</a:t>
            </a:r>
            <a:r>
              <a:rPr lang="en-GB" altLang="zh-CN" sz="2400" dirty="0"/>
              <a:t>BERT</a:t>
            </a:r>
            <a:endParaRPr lang="en-US" altLang="zh-CN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CA16E58-43E6-44AB-894F-A3CB7F03049C}"/>
              </a:ext>
            </a:extLst>
          </p:cNvPr>
          <p:cNvSpPr txBox="1"/>
          <p:nvPr/>
        </p:nvSpPr>
        <p:spPr>
          <a:xfrm>
            <a:off x="576079" y="2395108"/>
            <a:ext cx="60960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2. </a:t>
            </a:r>
            <a:r>
              <a:rPr lang="zh-CN" altLang="en-US" sz="2400" dirty="0"/>
              <a:t>解码器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770656-0295-4C44-8CF9-237A9DE55919}"/>
              </a:ext>
            </a:extLst>
          </p:cNvPr>
          <p:cNvSpPr txBox="1"/>
          <p:nvPr/>
        </p:nvSpPr>
        <p:spPr>
          <a:xfrm>
            <a:off x="576079" y="2985140"/>
            <a:ext cx="2687222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000" b="1" dirty="0"/>
              <a:t>2.1 </a:t>
            </a:r>
            <a:r>
              <a:rPr lang="zh-CN" altLang="en-US" sz="2000" b="1" dirty="0"/>
              <a:t>潜在关系类型预测</a:t>
            </a:r>
            <a:endParaRPr lang="en-US" altLang="zh-CN" sz="20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0F5AAA1-907B-450A-9F6C-3FFB7B182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270" y="3614172"/>
            <a:ext cx="3276600" cy="8096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42D89A3-E6CF-439F-8AEA-097BF69CEB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883" y="1819733"/>
            <a:ext cx="2943591" cy="36093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35154D7-1AFF-4631-9280-8C0FA7C7A7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014" y="1869488"/>
            <a:ext cx="1292577" cy="31117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A054E80-7778-4F50-A6FB-4837E52A0A46}"/>
              </a:ext>
            </a:extLst>
          </p:cNvPr>
          <p:cNvSpPr txBox="1"/>
          <p:nvPr/>
        </p:nvSpPr>
        <p:spPr>
          <a:xfrm>
            <a:off x="5751621" y="2985141"/>
            <a:ext cx="3034543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000" b="1" dirty="0"/>
              <a:t>2.2 </a:t>
            </a:r>
            <a:r>
              <a:rPr lang="zh-CN" altLang="en-US" sz="2000" b="1" dirty="0"/>
              <a:t>按关系类型抽取实体</a:t>
            </a:r>
            <a:endParaRPr lang="en-US" altLang="zh-CN" sz="2000" b="1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AA0DF0D0-82A0-4FA3-9EEF-263DE2DEF8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35238"/>
          <a:stretch/>
        </p:blipFill>
        <p:spPr>
          <a:xfrm>
            <a:off x="5491780" y="4541429"/>
            <a:ext cx="4997451" cy="194992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51974F1-B1C7-489B-AEC5-6C32D66ED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6750" y="3619075"/>
            <a:ext cx="4487512" cy="895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6590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6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A054E80-7778-4F50-A6FB-4837E52A0A46}"/>
              </a:ext>
            </a:extLst>
          </p:cNvPr>
          <p:cNvSpPr txBox="1"/>
          <p:nvPr/>
        </p:nvSpPr>
        <p:spPr>
          <a:xfrm>
            <a:off x="589536" y="1790611"/>
            <a:ext cx="3034543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000" b="1" dirty="0"/>
              <a:t>2.3 </a:t>
            </a:r>
            <a:r>
              <a:rPr lang="zh-CN" altLang="en-US" sz="2000" b="1" dirty="0"/>
              <a:t>头尾实体对齐</a:t>
            </a:r>
            <a:endParaRPr lang="en-US" altLang="zh-CN" sz="2000" b="1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22FFD2D-9E88-4DDA-988C-EB6FB5074A7E}"/>
              </a:ext>
            </a:extLst>
          </p:cNvPr>
          <p:cNvSpPr txBox="1"/>
          <p:nvPr/>
        </p:nvSpPr>
        <p:spPr>
          <a:xfrm>
            <a:off x="589536" y="1200578"/>
            <a:ext cx="6096000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2. </a:t>
            </a:r>
            <a:r>
              <a:rPr lang="zh-CN" altLang="en-US" sz="2400" dirty="0"/>
              <a:t>解码器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C87891DC-71DB-48EE-8BFF-BCF60CF978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51" y="3488611"/>
            <a:ext cx="5218968" cy="1578779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00951B8-A026-424E-BBE0-BDE9872DB0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051" y="2671083"/>
            <a:ext cx="4333875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397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005403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方法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7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7B16A5-218A-452B-B2FF-8F00BFB63DB3}"/>
              </a:ext>
            </a:extLst>
          </p:cNvPr>
          <p:cNvSpPr txBox="1"/>
          <p:nvPr/>
        </p:nvSpPr>
        <p:spPr>
          <a:xfrm>
            <a:off x="509269" y="1082919"/>
            <a:ext cx="6133807" cy="590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en-US" altLang="zh-CN" sz="2400" dirty="0"/>
              <a:t>3. </a:t>
            </a:r>
            <a:r>
              <a:rPr lang="zh-CN" altLang="en-US" sz="2400" dirty="0"/>
              <a:t>训练损失</a:t>
            </a:r>
            <a:endParaRPr lang="en-US" altLang="zh-CN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1F69DD4-AC67-4F44-A47B-FD13972EB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673" y="1890469"/>
            <a:ext cx="5991225" cy="369753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EB21C16E-C468-4213-996E-7840287DD1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825" y="6062732"/>
            <a:ext cx="4067175" cy="42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295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8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5C4D8B7-1D07-4346-B5AD-47457F526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77" y="1188457"/>
            <a:ext cx="10183446" cy="530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05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9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C9B5D7A-3414-4346-90BC-DBB170DAD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189" y="1263239"/>
            <a:ext cx="5254381" cy="477890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DE21610-20B8-4018-B748-8C4DDD35119F}"/>
              </a:ext>
            </a:extLst>
          </p:cNvPr>
          <p:cNvSpPr txBox="1"/>
          <p:nvPr/>
        </p:nvSpPr>
        <p:spPr>
          <a:xfrm>
            <a:off x="509270" y="1338072"/>
            <a:ext cx="6096000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dirty="0"/>
              <a:t>在不同重合模式下的模型性能</a:t>
            </a:r>
            <a:endParaRPr lang="en-US" altLang="zh-CN" sz="20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4F9C3AC-A573-41DA-893C-F330CE58891E}"/>
              </a:ext>
            </a:extLst>
          </p:cNvPr>
          <p:cNvSpPr txBox="1"/>
          <p:nvPr/>
        </p:nvSpPr>
        <p:spPr>
          <a:xfrm>
            <a:off x="617415" y="2076363"/>
            <a:ext cx="50565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0" i="1" dirty="0">
                <a:solidFill>
                  <a:srgbClr val="000000"/>
                </a:solidFill>
                <a:effectLst/>
                <a:latin typeface="NimbusRomNo9L-ReguItal"/>
              </a:rPr>
              <a:t>SEO:  Single Entity Overlap </a:t>
            </a:r>
            <a:endParaRPr lang="en-US" altLang="zh-CN" sz="2000" i="1" dirty="0">
              <a:solidFill>
                <a:srgbClr val="000000"/>
              </a:solidFill>
              <a:latin typeface="NimbusRomNo9L-ReguItal"/>
            </a:endParaRPr>
          </a:p>
          <a:p>
            <a:r>
              <a:rPr lang="en-US" altLang="zh-CN" sz="2000" b="0" i="1" dirty="0">
                <a:solidFill>
                  <a:srgbClr val="000000"/>
                </a:solidFill>
                <a:effectLst/>
                <a:latin typeface="NimbusRomNo9L-ReguItal"/>
              </a:rPr>
              <a:t>EPO:  Entity Pair Overlap</a:t>
            </a:r>
            <a:r>
              <a:rPr lang="en-US" altLang="zh-CN" sz="2000" dirty="0"/>
              <a:t> </a:t>
            </a:r>
          </a:p>
          <a:p>
            <a:r>
              <a:rPr lang="en-US" altLang="zh-CN" sz="2000" i="1" dirty="0">
                <a:solidFill>
                  <a:srgbClr val="000000"/>
                </a:solidFill>
                <a:latin typeface="NimbusRomNo9L-ReguItal"/>
              </a:rPr>
              <a:t>SOO:  Subject Object </a:t>
            </a:r>
            <a:r>
              <a:rPr lang="en-US" altLang="zh-CN" sz="2000" b="0" i="1" dirty="0">
                <a:solidFill>
                  <a:srgbClr val="000000"/>
                </a:solidFill>
                <a:effectLst/>
                <a:latin typeface="NimbusRomNo9L-ReguItal"/>
              </a:rPr>
              <a:t>Overlap</a:t>
            </a:r>
            <a:r>
              <a:rPr lang="en-US" altLang="zh-CN" sz="2000" dirty="0"/>
              <a:t> </a:t>
            </a:r>
            <a:endParaRPr lang="zh-CN" altLang="en-US" sz="2000" i="1" dirty="0">
              <a:solidFill>
                <a:srgbClr val="000000"/>
              </a:solidFill>
              <a:latin typeface="NimbusRomNo9L-ReguItal"/>
            </a:endParaRPr>
          </a:p>
        </p:txBody>
      </p:sp>
    </p:spTree>
    <p:extLst>
      <p:ext uri="{BB962C8B-B14F-4D97-AF65-F5344CB8AC3E}">
        <p14:creationId xmlns:p14="http://schemas.microsoft.com/office/powerpoint/2010/main" val="41269237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10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E21610-20B8-4018-B748-8C4DDD35119F}"/>
              </a:ext>
            </a:extLst>
          </p:cNvPr>
          <p:cNvSpPr txBox="1"/>
          <p:nvPr/>
        </p:nvSpPr>
        <p:spPr>
          <a:xfrm>
            <a:off x="571793" y="1087980"/>
            <a:ext cx="6096000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dirty="0"/>
              <a:t>句子中关系三元组数量对模型性能的影响</a:t>
            </a:r>
            <a:endParaRPr lang="en-US" altLang="zh-CN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B4A992-ACC4-4BDD-9570-773D88776D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11" y="1716783"/>
            <a:ext cx="6037347" cy="477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9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5">
            <a:extLst>
              <a:ext uri="{FF2B5EF4-FFF2-40B4-BE49-F238E27FC236}">
                <a16:creationId xmlns:a16="http://schemas.microsoft.com/office/drawing/2014/main" id="{850F23D1-2757-4497-976B-88014D030436}"/>
              </a:ext>
            </a:extLst>
          </p:cNvPr>
          <p:cNvSpPr/>
          <p:nvPr/>
        </p:nvSpPr>
        <p:spPr>
          <a:xfrm rot="10800000">
            <a:off x="120650" y="94615"/>
            <a:ext cx="288925" cy="709295"/>
          </a:xfrm>
          <a:prstGeom prst="rect">
            <a:avLst/>
          </a:prstGeom>
          <a:solidFill>
            <a:srgbClr val="005825"/>
          </a:solidFill>
          <a:ln w="12700">
            <a:noFill/>
          </a:ln>
        </p:spPr>
        <p:txBody>
          <a:bodyPr anchor="ctr"/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algn="ctr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endParaRPr lang="zh-CN" altLang="zh-CN" sz="1800" dirty="0">
              <a:solidFill>
                <a:srgbClr val="FFFF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矩形 1">
            <a:extLst>
              <a:ext uri="{FF2B5EF4-FFF2-40B4-BE49-F238E27FC236}">
                <a16:creationId xmlns:a16="http://schemas.microsoft.com/office/drawing/2014/main" id="{A059F2D0-83B6-40D9-8387-4F447FD4FA59}"/>
              </a:ext>
            </a:extLst>
          </p:cNvPr>
          <p:cNvSpPr/>
          <p:nvPr/>
        </p:nvSpPr>
        <p:spPr>
          <a:xfrm>
            <a:off x="509270" y="157480"/>
            <a:ext cx="1826141" cy="5847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171450" indent="-171450" algn="l" defTabSz="685800" rtl="0" eaLnBrk="0" fontAlgn="base" hangingPunct="0">
              <a:lnSpc>
                <a:spcPct val="90000"/>
              </a:lnSpc>
              <a:spcBef>
                <a:spcPts val="75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100">
                <a:solidFill>
                  <a:schemeClr val="tx1"/>
                </a:solidFill>
                <a:latin typeface="+mn-lt"/>
                <a:ea typeface="+mn-ea"/>
                <a:cs typeface="+mn-cs"/>
                <a:sym typeface="Calibri" panose="020F0502020204030204" charset="0"/>
              </a:defRPr>
            </a:lvl1pPr>
            <a:lvl2pPr marL="5143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2pPr>
            <a:lvl3pPr marL="8572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5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3pPr>
            <a:lvl4pPr marL="12001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4pPr>
            <a:lvl5pPr marL="1543050" indent="-171450" algn="l" defTabSz="685800" rtl="0" eaLnBrk="0" fontAlgn="base" hangingPunct="0">
              <a:lnSpc>
                <a:spcPct val="9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+mn-lt"/>
                <a:ea typeface="+mn-ea"/>
                <a:sym typeface="Calibri" panose="020F0502020204030204" charset="0"/>
              </a:defRPr>
            </a:lvl5pPr>
          </a:lstStyle>
          <a:p>
            <a:pPr marL="0" lvl="0" indent="0" defTabSz="914400" eaLnBrk="1" hangingPunct="1"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宋体" panose="02010600030101010101" pitchFamily="2" charset="-122"/>
              </a:rPr>
              <a:t>实验结果</a:t>
            </a:r>
            <a:endParaRPr lang="en-US" altLang="zh-CN" sz="32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15" name="灯片编号占位符 4">
            <a:extLst>
              <a:ext uri="{FF2B5EF4-FFF2-40B4-BE49-F238E27FC236}">
                <a16:creationId xmlns:a16="http://schemas.microsoft.com/office/drawing/2014/main" id="{5FCB248D-9455-4BA1-B742-84535FE45C90}"/>
              </a:ext>
            </a:extLst>
          </p:cNvPr>
          <p:cNvSpPr txBox="1">
            <a:spLocks/>
          </p:cNvSpPr>
          <p:nvPr/>
        </p:nvSpPr>
        <p:spPr>
          <a:xfrm>
            <a:off x="9448800" y="6491357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buFont typeface="Arial" panose="020B0604020202020204" pitchFamily="34" charset="0"/>
              <a:buNone/>
            </a:pPr>
            <a:fld id="{9A0DB2DC-4C9A-4742-B13C-FB6460FD3503}" type="slidenum">
              <a:rPr lang="zh-CN" altLang="en-US" sz="1200" smtClean="0">
                <a:solidFill>
                  <a:srgbClr val="898989"/>
                </a:solidFill>
                <a:latin typeface="Arial Black" panose="020B0A04020102020204" charset="0"/>
                <a:cs typeface="Arial Black" panose="020B0A04020102020204" charset="0"/>
                <a:sym typeface="Calibri" panose="020F0502020204030204" charset="0"/>
              </a:rPr>
              <a:pPr algn="r">
                <a:spcBef>
                  <a:spcPct val="0"/>
                </a:spcBef>
                <a:buFont typeface="Arial" panose="020B0604020202020204" pitchFamily="34" charset="0"/>
                <a:buNone/>
              </a:pPr>
              <a:t>11</a:t>
            </a:fld>
            <a:endParaRPr lang="zh-CN" altLang="en-US" sz="1200" dirty="0">
              <a:solidFill>
                <a:srgbClr val="898989"/>
              </a:solidFill>
              <a:latin typeface="Arial Black" panose="020B0A04020102020204" charset="0"/>
              <a:cs typeface="Arial Black" panose="020B0A04020102020204" charset="0"/>
              <a:sym typeface="Calibri" panose="020F050202020403020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DE21610-20B8-4018-B748-8C4DDD35119F}"/>
              </a:ext>
            </a:extLst>
          </p:cNvPr>
          <p:cNvSpPr txBox="1"/>
          <p:nvPr/>
        </p:nvSpPr>
        <p:spPr>
          <a:xfrm>
            <a:off x="769815" y="1034396"/>
            <a:ext cx="6096000" cy="507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200"/>
              </a:spcAft>
            </a:pPr>
            <a:r>
              <a:rPr lang="zh-CN" altLang="en-US" sz="2000" dirty="0"/>
              <a:t>模型效率</a:t>
            </a:r>
            <a:endParaRPr lang="en-US" altLang="zh-CN" sz="20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952AB0D-C732-401C-89E1-8D6107CFF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815" y="1792178"/>
            <a:ext cx="10652369" cy="3644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736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1992</TotalTime>
  <Words>162</Words>
  <Application>Microsoft Office PowerPoint</Application>
  <PresentationFormat>宽屏</PresentationFormat>
  <Paragraphs>40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NimbusRomNo9L-ReguItal</vt:lpstr>
      <vt:lpstr>等线</vt:lpstr>
      <vt:lpstr>等线 Light</vt:lpstr>
      <vt:lpstr>仿宋</vt:lpstr>
      <vt:lpstr>华文楷体</vt:lpstr>
      <vt:lpstr>宋体</vt:lpstr>
      <vt:lpstr>Arial</vt:lpstr>
      <vt:lpstr>Arial Black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羽鑫</dc:creator>
  <cp:lastModifiedBy>羽鑫</cp:lastModifiedBy>
  <cp:revision>215</cp:revision>
  <dcterms:created xsi:type="dcterms:W3CDTF">2021-06-01T08:24:38Z</dcterms:created>
  <dcterms:modified xsi:type="dcterms:W3CDTF">2021-08-14T09:03:20Z</dcterms:modified>
</cp:coreProperties>
</file>