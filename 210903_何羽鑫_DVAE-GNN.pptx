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437" r:id="rId3"/>
    <p:sldId id="450" r:id="rId4"/>
    <p:sldId id="438" r:id="rId5"/>
    <p:sldId id="451" r:id="rId6"/>
    <p:sldId id="452" r:id="rId7"/>
    <p:sldId id="453" r:id="rId8"/>
    <p:sldId id="444" r:id="rId9"/>
    <p:sldId id="454" r:id="rId10"/>
    <p:sldId id="455" r:id="rId11"/>
    <p:sldId id="456" r:id="rId12"/>
    <p:sldId id="457" r:id="rId13"/>
    <p:sldId id="458" r:id="rId14"/>
    <p:sldId id="459" r:id="rId15"/>
    <p:sldId id="427" r:id="rId16"/>
    <p:sldId id="460" r:id="rId17"/>
    <p:sldId id="461"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852" autoAdjust="0"/>
  </p:normalViewPr>
  <p:slideViewPr>
    <p:cSldViewPr snapToGrid="0">
      <p:cViewPr varScale="1">
        <p:scale>
          <a:sx n="66" d="100"/>
          <a:sy n="66" d="100"/>
        </p:scale>
        <p:origin x="67" y="77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138CA0-D2C8-4CBD-A352-0534456D3CCF}" type="datetimeFigureOut">
              <a:rPr lang="zh-CN" altLang="en-US" smtClean="0"/>
              <a:t>2021/9/4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1C1761-BC92-431A-8FD2-4DA588ACCE66}" type="slidenum">
              <a:rPr lang="zh-CN" altLang="en-US" smtClean="0"/>
              <a:t>‹#›</a:t>
            </a:fld>
            <a:endParaRPr lang="zh-CN" altLang="en-US"/>
          </a:p>
        </p:txBody>
      </p:sp>
    </p:spTree>
    <p:extLst>
      <p:ext uri="{BB962C8B-B14F-4D97-AF65-F5344CB8AC3E}">
        <p14:creationId xmlns:p14="http://schemas.microsoft.com/office/powerpoint/2010/main" val="1865866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8EC584-D879-4BC2-9EFB-E67AB630ABA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8286E5B-F704-40E3-A1E8-DB0FDAF1A2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41D8501-DF67-411D-A477-A03C9AA84364}"/>
              </a:ext>
            </a:extLst>
          </p:cNvPr>
          <p:cNvSpPr>
            <a:spLocks noGrp="1"/>
          </p:cNvSpPr>
          <p:nvPr>
            <p:ph type="dt" sz="half" idx="10"/>
          </p:nvPr>
        </p:nvSpPr>
        <p:spPr/>
        <p:txBody>
          <a:bodyPr/>
          <a:lstStyle/>
          <a:p>
            <a:fld id="{F6A35C42-AD79-47EE-A839-0FD92B9C5B13}" type="datetimeFigureOut">
              <a:rPr lang="zh-CN" altLang="en-US" smtClean="0"/>
              <a:t>2021/9/4</a:t>
            </a:fld>
            <a:endParaRPr lang="zh-CN" altLang="en-US"/>
          </a:p>
        </p:txBody>
      </p:sp>
      <p:sp>
        <p:nvSpPr>
          <p:cNvPr id="5" name="页脚占位符 4">
            <a:extLst>
              <a:ext uri="{FF2B5EF4-FFF2-40B4-BE49-F238E27FC236}">
                <a16:creationId xmlns:a16="http://schemas.microsoft.com/office/drawing/2014/main" id="{415BC256-B1E8-48AA-A767-3B0EC6B681C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72FB524-73C4-43DC-97AA-331D140CFCEA}"/>
              </a:ext>
            </a:extLst>
          </p:cNvPr>
          <p:cNvSpPr>
            <a:spLocks noGrp="1"/>
          </p:cNvSpPr>
          <p:nvPr>
            <p:ph type="sldNum" sz="quarter" idx="12"/>
          </p:nvPr>
        </p:nvSpPr>
        <p:spPr/>
        <p:txBody>
          <a:body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1060328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B2E1AC-DF1E-4E37-9627-F4FAC300A68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3419A72-0BB0-42F0-9D1A-B36043A9588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465065A-5A30-442A-BE59-05645B638D0A}"/>
              </a:ext>
            </a:extLst>
          </p:cNvPr>
          <p:cNvSpPr>
            <a:spLocks noGrp="1"/>
          </p:cNvSpPr>
          <p:nvPr>
            <p:ph type="dt" sz="half" idx="10"/>
          </p:nvPr>
        </p:nvSpPr>
        <p:spPr/>
        <p:txBody>
          <a:bodyPr/>
          <a:lstStyle/>
          <a:p>
            <a:fld id="{F6A35C42-AD79-47EE-A839-0FD92B9C5B13}" type="datetimeFigureOut">
              <a:rPr lang="zh-CN" altLang="en-US" smtClean="0"/>
              <a:t>2021/9/4</a:t>
            </a:fld>
            <a:endParaRPr lang="zh-CN" altLang="en-US"/>
          </a:p>
        </p:txBody>
      </p:sp>
      <p:sp>
        <p:nvSpPr>
          <p:cNvPr id="5" name="页脚占位符 4">
            <a:extLst>
              <a:ext uri="{FF2B5EF4-FFF2-40B4-BE49-F238E27FC236}">
                <a16:creationId xmlns:a16="http://schemas.microsoft.com/office/drawing/2014/main" id="{1FDEB79F-2DB5-4BDA-95BF-B9BD34CF91B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792E81B-8457-4221-9759-003101D7ABC0}"/>
              </a:ext>
            </a:extLst>
          </p:cNvPr>
          <p:cNvSpPr>
            <a:spLocks noGrp="1"/>
          </p:cNvSpPr>
          <p:nvPr>
            <p:ph type="sldNum" sz="quarter" idx="12"/>
          </p:nvPr>
        </p:nvSpPr>
        <p:spPr/>
        <p:txBody>
          <a:body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685089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778497-5FF2-4063-8CBD-A61D6F09CEE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88E37C8-54AA-4227-AB6F-06E97AD8461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996A281-0EC1-4F37-89CC-F4B2714F6371}"/>
              </a:ext>
            </a:extLst>
          </p:cNvPr>
          <p:cNvSpPr>
            <a:spLocks noGrp="1"/>
          </p:cNvSpPr>
          <p:nvPr>
            <p:ph type="dt" sz="half" idx="10"/>
          </p:nvPr>
        </p:nvSpPr>
        <p:spPr/>
        <p:txBody>
          <a:bodyPr/>
          <a:lstStyle/>
          <a:p>
            <a:fld id="{F6A35C42-AD79-47EE-A839-0FD92B9C5B13}" type="datetimeFigureOut">
              <a:rPr lang="zh-CN" altLang="en-US" smtClean="0"/>
              <a:t>2021/9/4</a:t>
            </a:fld>
            <a:endParaRPr lang="zh-CN" altLang="en-US"/>
          </a:p>
        </p:txBody>
      </p:sp>
      <p:sp>
        <p:nvSpPr>
          <p:cNvPr id="5" name="页脚占位符 4">
            <a:extLst>
              <a:ext uri="{FF2B5EF4-FFF2-40B4-BE49-F238E27FC236}">
                <a16:creationId xmlns:a16="http://schemas.microsoft.com/office/drawing/2014/main" id="{14DC9D7C-9051-44EB-9AF3-C65F0E6DC9C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232B6A1-B207-412B-B216-6861D3E4A4F5}"/>
              </a:ext>
            </a:extLst>
          </p:cNvPr>
          <p:cNvSpPr>
            <a:spLocks noGrp="1"/>
          </p:cNvSpPr>
          <p:nvPr>
            <p:ph type="sldNum" sz="quarter" idx="12"/>
          </p:nvPr>
        </p:nvSpPr>
        <p:spPr/>
        <p:txBody>
          <a:body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606251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EBEA6-E0DB-40B1-B194-C1D06A6EA40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56AE76F-E91D-49D5-84EB-01E1615C950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122DCBC0-F8D0-4784-8509-F0235CE1539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3572F83-3E5B-40FD-8A47-AC65D8AC0CF8}"/>
              </a:ext>
            </a:extLst>
          </p:cNvPr>
          <p:cNvSpPr>
            <a:spLocks noGrp="1"/>
          </p:cNvSpPr>
          <p:nvPr>
            <p:ph type="dt" sz="half" idx="10"/>
          </p:nvPr>
        </p:nvSpPr>
        <p:spPr/>
        <p:txBody>
          <a:bodyPr/>
          <a:lstStyle/>
          <a:p>
            <a:fld id="{F6A35C42-AD79-47EE-A839-0FD92B9C5B13}" type="datetimeFigureOut">
              <a:rPr lang="zh-CN" altLang="en-US" smtClean="0"/>
              <a:t>2021/9/4</a:t>
            </a:fld>
            <a:endParaRPr lang="zh-CN" altLang="en-US"/>
          </a:p>
        </p:txBody>
      </p:sp>
      <p:sp>
        <p:nvSpPr>
          <p:cNvPr id="6" name="页脚占位符 5">
            <a:extLst>
              <a:ext uri="{FF2B5EF4-FFF2-40B4-BE49-F238E27FC236}">
                <a16:creationId xmlns:a16="http://schemas.microsoft.com/office/drawing/2014/main" id="{2C7C56E5-E1D9-494E-BEFF-78DB900878C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E2E66E8-369F-44EF-BE25-6BFDAE1520BA}"/>
              </a:ext>
            </a:extLst>
          </p:cNvPr>
          <p:cNvSpPr>
            <a:spLocks noGrp="1"/>
          </p:cNvSpPr>
          <p:nvPr>
            <p:ph type="sldNum" sz="quarter" idx="12"/>
          </p:nvPr>
        </p:nvSpPr>
        <p:spPr/>
        <p:txBody>
          <a:body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6688270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42FEE2-DD5B-420D-B2C3-A0E4E53971C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C7542F0-0A55-46B9-B6F9-130729DF72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8B62748-135C-4FBF-A2CC-0934D0FC0A6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D1FD7DC-E5AE-4753-A3AE-BF4AE6B78C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E473791-30B3-4762-A60C-4E79E046BCF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D2A6019-14CE-4D0C-B38A-3E9EC2301AA6}"/>
              </a:ext>
            </a:extLst>
          </p:cNvPr>
          <p:cNvSpPr>
            <a:spLocks noGrp="1"/>
          </p:cNvSpPr>
          <p:nvPr>
            <p:ph type="dt" sz="half" idx="10"/>
          </p:nvPr>
        </p:nvSpPr>
        <p:spPr/>
        <p:txBody>
          <a:bodyPr/>
          <a:lstStyle/>
          <a:p>
            <a:fld id="{F6A35C42-AD79-47EE-A839-0FD92B9C5B13}" type="datetimeFigureOut">
              <a:rPr lang="zh-CN" altLang="en-US" smtClean="0"/>
              <a:t>2021/9/4</a:t>
            </a:fld>
            <a:endParaRPr lang="zh-CN" altLang="en-US"/>
          </a:p>
        </p:txBody>
      </p:sp>
      <p:sp>
        <p:nvSpPr>
          <p:cNvPr id="8" name="页脚占位符 7">
            <a:extLst>
              <a:ext uri="{FF2B5EF4-FFF2-40B4-BE49-F238E27FC236}">
                <a16:creationId xmlns:a16="http://schemas.microsoft.com/office/drawing/2014/main" id="{C09D0F88-B27D-4687-9E5B-4056923B84A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CD0C52-D3AE-4851-8FB0-87A50E9CDBE1}"/>
              </a:ext>
            </a:extLst>
          </p:cNvPr>
          <p:cNvSpPr>
            <a:spLocks noGrp="1"/>
          </p:cNvSpPr>
          <p:nvPr>
            <p:ph type="sldNum" sz="quarter" idx="12"/>
          </p:nvPr>
        </p:nvSpPr>
        <p:spPr/>
        <p:txBody>
          <a:body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209091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58D405-FDF0-441C-9732-A01B8E048D1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0BA742C-97C0-41AB-A285-F6365B35F185}"/>
              </a:ext>
            </a:extLst>
          </p:cNvPr>
          <p:cNvSpPr>
            <a:spLocks noGrp="1"/>
          </p:cNvSpPr>
          <p:nvPr>
            <p:ph type="dt" sz="half" idx="10"/>
          </p:nvPr>
        </p:nvSpPr>
        <p:spPr/>
        <p:txBody>
          <a:bodyPr/>
          <a:lstStyle/>
          <a:p>
            <a:fld id="{F6A35C42-AD79-47EE-A839-0FD92B9C5B13}" type="datetimeFigureOut">
              <a:rPr lang="zh-CN" altLang="en-US" smtClean="0"/>
              <a:t>2021/9/4</a:t>
            </a:fld>
            <a:endParaRPr lang="zh-CN" altLang="en-US"/>
          </a:p>
        </p:txBody>
      </p:sp>
      <p:sp>
        <p:nvSpPr>
          <p:cNvPr id="4" name="页脚占位符 3">
            <a:extLst>
              <a:ext uri="{FF2B5EF4-FFF2-40B4-BE49-F238E27FC236}">
                <a16:creationId xmlns:a16="http://schemas.microsoft.com/office/drawing/2014/main" id="{E832EF57-BB7F-41E3-9280-0F4AD63901B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B0C3E0F-FA2F-4ACD-A6E1-9E390A230850}"/>
              </a:ext>
            </a:extLst>
          </p:cNvPr>
          <p:cNvSpPr>
            <a:spLocks noGrp="1"/>
          </p:cNvSpPr>
          <p:nvPr>
            <p:ph type="sldNum" sz="quarter" idx="12"/>
          </p:nvPr>
        </p:nvSpPr>
        <p:spPr/>
        <p:txBody>
          <a:body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2008470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494F57C-61B4-4E47-9BBC-BF1E0CF72749}"/>
              </a:ext>
            </a:extLst>
          </p:cNvPr>
          <p:cNvSpPr>
            <a:spLocks noGrp="1"/>
          </p:cNvSpPr>
          <p:nvPr>
            <p:ph type="dt" sz="half" idx="10"/>
          </p:nvPr>
        </p:nvSpPr>
        <p:spPr/>
        <p:txBody>
          <a:bodyPr/>
          <a:lstStyle/>
          <a:p>
            <a:fld id="{F6A35C42-AD79-47EE-A839-0FD92B9C5B13}" type="datetimeFigureOut">
              <a:rPr lang="zh-CN" altLang="en-US" smtClean="0"/>
              <a:t>2021/9/4</a:t>
            </a:fld>
            <a:endParaRPr lang="zh-CN" altLang="en-US"/>
          </a:p>
        </p:txBody>
      </p:sp>
      <p:sp>
        <p:nvSpPr>
          <p:cNvPr id="3" name="页脚占位符 2">
            <a:extLst>
              <a:ext uri="{FF2B5EF4-FFF2-40B4-BE49-F238E27FC236}">
                <a16:creationId xmlns:a16="http://schemas.microsoft.com/office/drawing/2014/main" id="{EF148328-AE47-4FB0-A81E-4D941B2BB1D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8DB6EA0-FC67-4C61-8F45-205ACFA6C67B}"/>
              </a:ext>
            </a:extLst>
          </p:cNvPr>
          <p:cNvSpPr>
            <a:spLocks noGrp="1"/>
          </p:cNvSpPr>
          <p:nvPr>
            <p:ph type="sldNum" sz="quarter" idx="12"/>
          </p:nvPr>
        </p:nvSpPr>
        <p:spPr/>
        <p:txBody>
          <a:body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2447091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B538B5-0CDD-49B1-9550-C3FEF4F2423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A9272C4-2797-4D1D-973A-AB50961B7D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6608C78-4E00-4EA2-BC51-B9A01E8357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78A6B1-E6F0-4EE9-BE3C-7A57AD9339B4}"/>
              </a:ext>
            </a:extLst>
          </p:cNvPr>
          <p:cNvSpPr>
            <a:spLocks noGrp="1"/>
          </p:cNvSpPr>
          <p:nvPr>
            <p:ph type="dt" sz="half" idx="10"/>
          </p:nvPr>
        </p:nvSpPr>
        <p:spPr/>
        <p:txBody>
          <a:bodyPr/>
          <a:lstStyle/>
          <a:p>
            <a:fld id="{F6A35C42-AD79-47EE-A839-0FD92B9C5B13}" type="datetimeFigureOut">
              <a:rPr lang="zh-CN" altLang="en-US" smtClean="0"/>
              <a:t>2021/9/4</a:t>
            </a:fld>
            <a:endParaRPr lang="zh-CN" altLang="en-US"/>
          </a:p>
        </p:txBody>
      </p:sp>
      <p:sp>
        <p:nvSpPr>
          <p:cNvPr id="6" name="页脚占位符 5">
            <a:extLst>
              <a:ext uri="{FF2B5EF4-FFF2-40B4-BE49-F238E27FC236}">
                <a16:creationId xmlns:a16="http://schemas.microsoft.com/office/drawing/2014/main" id="{BD931090-5A14-48A8-9AA2-7566DB0F2F0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63FCDA-BE2A-4689-BC84-D4D7A6F3D2F5}"/>
              </a:ext>
            </a:extLst>
          </p:cNvPr>
          <p:cNvSpPr>
            <a:spLocks noGrp="1"/>
          </p:cNvSpPr>
          <p:nvPr>
            <p:ph type="sldNum" sz="quarter" idx="12"/>
          </p:nvPr>
        </p:nvSpPr>
        <p:spPr/>
        <p:txBody>
          <a:body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7918814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3ED19F-DF58-4BE2-8646-27299FEB3FB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70F0D68-EDBC-4F73-934F-8BAB8FBF42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7208708-EEDB-4CEC-B2B1-00F6BA8FC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18BC80E-37F7-45FC-88AF-B1DA76FCE94E}"/>
              </a:ext>
            </a:extLst>
          </p:cNvPr>
          <p:cNvSpPr>
            <a:spLocks noGrp="1"/>
          </p:cNvSpPr>
          <p:nvPr>
            <p:ph type="dt" sz="half" idx="10"/>
          </p:nvPr>
        </p:nvSpPr>
        <p:spPr/>
        <p:txBody>
          <a:bodyPr/>
          <a:lstStyle/>
          <a:p>
            <a:fld id="{F6A35C42-AD79-47EE-A839-0FD92B9C5B13}" type="datetimeFigureOut">
              <a:rPr lang="zh-CN" altLang="en-US" smtClean="0"/>
              <a:t>2021/9/4</a:t>
            </a:fld>
            <a:endParaRPr lang="zh-CN" altLang="en-US"/>
          </a:p>
        </p:txBody>
      </p:sp>
      <p:sp>
        <p:nvSpPr>
          <p:cNvPr id="6" name="页脚占位符 5">
            <a:extLst>
              <a:ext uri="{FF2B5EF4-FFF2-40B4-BE49-F238E27FC236}">
                <a16:creationId xmlns:a16="http://schemas.microsoft.com/office/drawing/2014/main" id="{A84B1A78-B5C6-4F6A-991D-4E0F67E7224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E4F5965-434E-48EA-B7EF-71E5260879E1}"/>
              </a:ext>
            </a:extLst>
          </p:cNvPr>
          <p:cNvSpPr>
            <a:spLocks noGrp="1"/>
          </p:cNvSpPr>
          <p:nvPr>
            <p:ph type="sldNum" sz="quarter" idx="12"/>
          </p:nvPr>
        </p:nvSpPr>
        <p:spPr/>
        <p:txBody>
          <a:body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3346841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B91F20-A1D8-409B-B75A-C4CA0D0D844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1ABA1A4-C053-4579-9EEF-12122CDCBCF0}"/>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15BDE58-8695-4E12-B3CD-64EC39C830D1}"/>
              </a:ext>
            </a:extLst>
          </p:cNvPr>
          <p:cNvSpPr>
            <a:spLocks noGrp="1"/>
          </p:cNvSpPr>
          <p:nvPr>
            <p:ph type="dt" sz="half" idx="10"/>
          </p:nvPr>
        </p:nvSpPr>
        <p:spPr/>
        <p:txBody>
          <a:bodyPr/>
          <a:lstStyle/>
          <a:p>
            <a:fld id="{F6A35C42-AD79-47EE-A839-0FD92B9C5B13}" type="datetimeFigureOut">
              <a:rPr lang="zh-CN" altLang="en-US" smtClean="0"/>
              <a:t>2021/9/4</a:t>
            </a:fld>
            <a:endParaRPr lang="zh-CN" altLang="en-US"/>
          </a:p>
        </p:txBody>
      </p:sp>
      <p:sp>
        <p:nvSpPr>
          <p:cNvPr id="5" name="页脚占位符 4">
            <a:extLst>
              <a:ext uri="{FF2B5EF4-FFF2-40B4-BE49-F238E27FC236}">
                <a16:creationId xmlns:a16="http://schemas.microsoft.com/office/drawing/2014/main" id="{1B394BF8-C72C-4DD8-82FB-858F3617C45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E33E7B8-7751-4C02-BF43-D23A86D255D1}"/>
              </a:ext>
            </a:extLst>
          </p:cNvPr>
          <p:cNvSpPr>
            <a:spLocks noGrp="1"/>
          </p:cNvSpPr>
          <p:nvPr>
            <p:ph type="sldNum" sz="quarter" idx="12"/>
          </p:nvPr>
        </p:nvSpPr>
        <p:spPr/>
        <p:txBody>
          <a:body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1047935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28B55B0-5C6E-4BB8-B735-1178200977D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47CF004-AFFF-4675-A9B9-036E1A8C2DC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75D61EE-CF4E-4444-AB6E-848D2F4F5546}"/>
              </a:ext>
            </a:extLst>
          </p:cNvPr>
          <p:cNvSpPr>
            <a:spLocks noGrp="1"/>
          </p:cNvSpPr>
          <p:nvPr>
            <p:ph type="dt" sz="half" idx="10"/>
          </p:nvPr>
        </p:nvSpPr>
        <p:spPr/>
        <p:txBody>
          <a:bodyPr/>
          <a:lstStyle/>
          <a:p>
            <a:fld id="{F6A35C42-AD79-47EE-A839-0FD92B9C5B13}" type="datetimeFigureOut">
              <a:rPr lang="zh-CN" altLang="en-US" smtClean="0"/>
              <a:t>2021/9/4</a:t>
            </a:fld>
            <a:endParaRPr lang="zh-CN" altLang="en-US"/>
          </a:p>
        </p:txBody>
      </p:sp>
      <p:sp>
        <p:nvSpPr>
          <p:cNvPr id="5" name="页脚占位符 4">
            <a:extLst>
              <a:ext uri="{FF2B5EF4-FFF2-40B4-BE49-F238E27FC236}">
                <a16:creationId xmlns:a16="http://schemas.microsoft.com/office/drawing/2014/main" id="{3A09A6C7-AC47-4C8C-97F9-52D089E1C71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AFA252A-AD06-4841-8F9C-ED0AEC49B0A0}"/>
              </a:ext>
            </a:extLst>
          </p:cNvPr>
          <p:cNvSpPr>
            <a:spLocks noGrp="1"/>
          </p:cNvSpPr>
          <p:nvPr>
            <p:ph type="sldNum" sz="quarter" idx="12"/>
          </p:nvPr>
        </p:nvSpPr>
        <p:spPr/>
        <p:txBody>
          <a:body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28085175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2093810-2041-413F-AE68-3EE82BBA04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C803390-82C6-4693-8525-EEBC0737AC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2B72C3-C2F2-4D63-8D8B-CD007468A5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A35C42-AD79-47EE-A839-0FD92B9C5B13}" type="datetimeFigureOut">
              <a:rPr lang="zh-CN" altLang="en-US" smtClean="0"/>
              <a:t>2021/9/4</a:t>
            </a:fld>
            <a:endParaRPr lang="zh-CN" altLang="en-US"/>
          </a:p>
        </p:txBody>
      </p:sp>
      <p:sp>
        <p:nvSpPr>
          <p:cNvPr id="5" name="页脚占位符 4">
            <a:extLst>
              <a:ext uri="{FF2B5EF4-FFF2-40B4-BE49-F238E27FC236}">
                <a16:creationId xmlns:a16="http://schemas.microsoft.com/office/drawing/2014/main" id="{A5341FBD-4048-4118-990B-5FF8ACE4FD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04CFA93-E1B2-4A56-9AB5-8C186A2AFB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408E0B-079E-4D63-9648-A59241BF5237}" type="slidenum">
              <a:rPr lang="zh-CN" altLang="en-US" smtClean="0"/>
              <a:t>‹#›</a:t>
            </a:fld>
            <a:endParaRPr lang="zh-CN" altLang="en-US"/>
          </a:p>
        </p:txBody>
      </p:sp>
    </p:spTree>
    <p:extLst>
      <p:ext uri="{BB962C8B-B14F-4D97-AF65-F5344CB8AC3E}">
        <p14:creationId xmlns:p14="http://schemas.microsoft.com/office/powerpoint/2010/main" val="27569408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45E63B2A-2972-4A28-9A46-D2D12E58286D}"/>
              </a:ext>
            </a:extLst>
          </p:cNvPr>
          <p:cNvGrpSpPr/>
          <p:nvPr/>
        </p:nvGrpSpPr>
        <p:grpSpPr>
          <a:xfrm>
            <a:off x="195385" y="436978"/>
            <a:ext cx="11785600" cy="2042160"/>
            <a:chOff x="1072" y="2747"/>
            <a:chExt cx="17444" cy="3216"/>
          </a:xfrm>
        </p:grpSpPr>
        <p:grpSp>
          <p:nvGrpSpPr>
            <p:cNvPr id="8" name="组合 7">
              <a:extLst>
                <a:ext uri="{FF2B5EF4-FFF2-40B4-BE49-F238E27FC236}">
                  <a16:creationId xmlns:a16="http://schemas.microsoft.com/office/drawing/2014/main" id="{9EFA3CF4-B7E5-4A9D-869A-B515AF07C280}"/>
                </a:ext>
              </a:extLst>
            </p:cNvPr>
            <p:cNvGrpSpPr/>
            <p:nvPr/>
          </p:nvGrpSpPr>
          <p:grpSpPr>
            <a:xfrm>
              <a:off x="1072" y="2747"/>
              <a:ext cx="1316" cy="3216"/>
              <a:chOff x="2384" y="2668"/>
              <a:chExt cx="1316" cy="3216"/>
            </a:xfrm>
          </p:grpSpPr>
          <p:sp>
            <p:nvSpPr>
              <p:cNvPr id="14" name="矩形 87">
                <a:extLst>
                  <a:ext uri="{FF2B5EF4-FFF2-40B4-BE49-F238E27FC236}">
                    <a16:creationId xmlns:a16="http://schemas.microsoft.com/office/drawing/2014/main" id="{5D6218DE-BA00-4A8C-AEC0-903D1DD27A7E}"/>
                  </a:ext>
                </a:extLst>
              </p:cNvPr>
              <p:cNvSpPr/>
              <p:nvPr/>
            </p:nvSpPr>
            <p:spPr>
              <a:xfrm>
                <a:off x="2400" y="3160"/>
                <a:ext cx="528" cy="2723"/>
              </a:xfrm>
              <a:prstGeom prst="rect">
                <a:avLst/>
              </a:prstGeom>
              <a:solidFill>
                <a:srgbClr val="A5A5A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90204" pitchFamily="34" charset="0"/>
                  <a:buChar char="•"/>
                  <a:defRPr sz="2100">
                    <a:solidFill>
                      <a:schemeClr val="tx1"/>
                    </a:solidFill>
                    <a:latin typeface="+mn-lt"/>
                    <a:ea typeface="+mn-ea"/>
                    <a:cs typeface="+mn-cs"/>
                    <a:sym typeface="Calibri" panose="020F0502020204030204" pitchFamily="34" charset="0"/>
                  </a:defRPr>
                </a:lvl1pPr>
                <a:lvl2pPr marL="514350" indent="-171450" algn="l" defTabSz="685800" rtl="0" eaLnBrk="0" fontAlgn="base" hangingPunct="0">
                  <a:lnSpc>
                    <a:spcPct val="90000"/>
                  </a:lnSpc>
                  <a:spcBef>
                    <a:spcPts val="375"/>
                  </a:spcBef>
                  <a:spcAft>
                    <a:spcPct val="0"/>
                  </a:spcAft>
                  <a:buFont typeface="Arial" panose="020B0604020202090204" pitchFamily="34" charset="0"/>
                  <a:buChar char="•"/>
                  <a:defRPr sz="2800">
                    <a:solidFill>
                      <a:schemeClr val="tx1"/>
                    </a:solidFill>
                    <a:latin typeface="+mn-lt"/>
                    <a:ea typeface="+mn-ea"/>
                    <a:sym typeface="Calibri" panose="020F0502020204030204" pitchFamily="34" charset="0"/>
                  </a:defRPr>
                </a:lvl2pPr>
                <a:lvl3pPr marL="857250" indent="-171450" algn="l" defTabSz="685800" rtl="0" eaLnBrk="0" fontAlgn="base" hangingPunct="0">
                  <a:lnSpc>
                    <a:spcPct val="90000"/>
                  </a:lnSpc>
                  <a:spcBef>
                    <a:spcPts val="375"/>
                  </a:spcBef>
                  <a:spcAft>
                    <a:spcPct val="0"/>
                  </a:spcAft>
                  <a:buFont typeface="Arial" panose="020B0604020202090204" pitchFamily="34" charset="0"/>
                  <a:buChar char="•"/>
                  <a:defRPr sz="1500">
                    <a:solidFill>
                      <a:schemeClr val="tx1"/>
                    </a:solidFill>
                    <a:latin typeface="+mn-lt"/>
                    <a:ea typeface="+mn-ea"/>
                    <a:sym typeface="Calibri" panose="020F0502020204030204" pitchFamily="34" charset="0"/>
                  </a:defRPr>
                </a:lvl3pPr>
                <a:lvl4pPr marL="1200150" indent="-171450" algn="l" defTabSz="685800" rtl="0" eaLnBrk="0" fontAlgn="base" hangingPunct="0">
                  <a:lnSpc>
                    <a:spcPct val="90000"/>
                  </a:lnSpc>
                  <a:spcBef>
                    <a:spcPts val="375"/>
                  </a:spcBef>
                  <a:spcAft>
                    <a:spcPct val="0"/>
                  </a:spcAft>
                  <a:buFont typeface="Arial" panose="020B0604020202090204" pitchFamily="34" charset="0"/>
                  <a:buChar char="•"/>
                  <a:defRPr sz="1300">
                    <a:solidFill>
                      <a:schemeClr val="tx1"/>
                    </a:solidFill>
                    <a:latin typeface="+mn-lt"/>
                    <a:ea typeface="+mn-ea"/>
                    <a:sym typeface="Calibri" panose="020F0502020204030204" pitchFamily="34" charset="0"/>
                  </a:defRPr>
                </a:lvl4pPr>
                <a:lvl5pPr marL="1543050" indent="-171450" algn="l" defTabSz="685800" rtl="0" eaLnBrk="0" fontAlgn="base" hangingPunct="0">
                  <a:lnSpc>
                    <a:spcPct val="90000"/>
                  </a:lnSpc>
                  <a:spcBef>
                    <a:spcPts val="375"/>
                  </a:spcBef>
                  <a:spcAft>
                    <a:spcPct val="0"/>
                  </a:spcAft>
                  <a:buFont typeface="Arial" panose="020B0604020202090204" pitchFamily="34" charset="0"/>
                  <a:buChar char="•"/>
                  <a:defRPr sz="1300">
                    <a:solidFill>
                      <a:schemeClr val="tx1"/>
                    </a:solidFill>
                    <a:latin typeface="+mn-lt"/>
                    <a:ea typeface="+mn-ea"/>
                    <a:sym typeface="Calibri" panose="020F0502020204030204" pitchFamily="3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宋体" panose="02010600030101010101" pitchFamily="2" charset="-122"/>
                  <a:sym typeface="宋体" panose="02010600030101010101" pitchFamily="2" charset="-122"/>
                </a:endParaRPr>
              </a:p>
            </p:txBody>
          </p:sp>
          <p:sp>
            <p:nvSpPr>
              <p:cNvPr id="15" name="矩形 102">
                <a:extLst>
                  <a:ext uri="{FF2B5EF4-FFF2-40B4-BE49-F238E27FC236}">
                    <a16:creationId xmlns:a16="http://schemas.microsoft.com/office/drawing/2014/main" id="{998B798D-7FD5-4C81-B9F5-6F8D29A81E97}"/>
                  </a:ext>
                </a:extLst>
              </p:cNvPr>
              <p:cNvSpPr/>
              <p:nvPr/>
            </p:nvSpPr>
            <p:spPr>
              <a:xfrm>
                <a:off x="2400" y="2668"/>
                <a:ext cx="1300" cy="2722"/>
              </a:xfrm>
              <a:prstGeom prst="rect">
                <a:avLst/>
              </a:prstGeom>
              <a:solidFill>
                <a:srgbClr val="005825"/>
              </a:solidFill>
              <a:ln w="12700">
                <a:noFill/>
              </a:ln>
              <a:effectLst>
                <a:outerShdw blurRad="50800" dist="38100" dir="2700000" algn="tl" rotWithShape="0">
                  <a:prstClr val="black">
                    <a:alpha val="40000"/>
                  </a:prstClr>
                </a:outerShdw>
              </a:effectLst>
            </p:spPr>
            <p:txBody>
              <a:bodyPr anchor="ctr"/>
              <a:lstStyle>
                <a:lvl1pPr marL="171450" indent="-171450" algn="l" defTabSz="685800" rtl="0" eaLnBrk="0" fontAlgn="base" hangingPunct="0">
                  <a:lnSpc>
                    <a:spcPct val="90000"/>
                  </a:lnSpc>
                  <a:spcBef>
                    <a:spcPts val="750"/>
                  </a:spcBef>
                  <a:spcAft>
                    <a:spcPct val="0"/>
                  </a:spcAft>
                  <a:buFont typeface="Arial" panose="020B0604020202090204" pitchFamily="34" charset="0"/>
                  <a:buChar char="•"/>
                  <a:defRPr sz="2100">
                    <a:solidFill>
                      <a:schemeClr val="tx1"/>
                    </a:solidFill>
                    <a:latin typeface="+mn-lt"/>
                    <a:ea typeface="+mn-ea"/>
                    <a:cs typeface="+mn-cs"/>
                    <a:sym typeface="Calibri" panose="020F0502020204030204" pitchFamily="34" charset="0"/>
                  </a:defRPr>
                </a:lvl1pPr>
                <a:lvl2pPr marL="514350" indent="-171450" algn="l" defTabSz="685800" rtl="0" eaLnBrk="0" fontAlgn="base" hangingPunct="0">
                  <a:lnSpc>
                    <a:spcPct val="90000"/>
                  </a:lnSpc>
                  <a:spcBef>
                    <a:spcPts val="375"/>
                  </a:spcBef>
                  <a:spcAft>
                    <a:spcPct val="0"/>
                  </a:spcAft>
                  <a:buFont typeface="Arial" panose="020B0604020202090204" pitchFamily="34" charset="0"/>
                  <a:buChar char="•"/>
                  <a:defRPr sz="2800">
                    <a:solidFill>
                      <a:schemeClr val="tx1"/>
                    </a:solidFill>
                    <a:latin typeface="+mn-lt"/>
                    <a:ea typeface="+mn-ea"/>
                    <a:sym typeface="Calibri" panose="020F0502020204030204" pitchFamily="34" charset="0"/>
                  </a:defRPr>
                </a:lvl2pPr>
                <a:lvl3pPr marL="857250" indent="-171450" algn="l" defTabSz="685800" rtl="0" eaLnBrk="0" fontAlgn="base" hangingPunct="0">
                  <a:lnSpc>
                    <a:spcPct val="90000"/>
                  </a:lnSpc>
                  <a:spcBef>
                    <a:spcPts val="375"/>
                  </a:spcBef>
                  <a:spcAft>
                    <a:spcPct val="0"/>
                  </a:spcAft>
                  <a:buFont typeface="Arial" panose="020B0604020202090204" pitchFamily="34" charset="0"/>
                  <a:buChar char="•"/>
                  <a:defRPr sz="1500">
                    <a:solidFill>
                      <a:schemeClr val="tx1"/>
                    </a:solidFill>
                    <a:latin typeface="+mn-lt"/>
                    <a:ea typeface="+mn-ea"/>
                    <a:sym typeface="Calibri" panose="020F0502020204030204" pitchFamily="34" charset="0"/>
                  </a:defRPr>
                </a:lvl3pPr>
                <a:lvl4pPr marL="1200150" indent="-171450" algn="l" defTabSz="685800" rtl="0" eaLnBrk="0" fontAlgn="base" hangingPunct="0">
                  <a:lnSpc>
                    <a:spcPct val="90000"/>
                  </a:lnSpc>
                  <a:spcBef>
                    <a:spcPts val="375"/>
                  </a:spcBef>
                  <a:spcAft>
                    <a:spcPct val="0"/>
                  </a:spcAft>
                  <a:buFont typeface="Arial" panose="020B0604020202090204" pitchFamily="34" charset="0"/>
                  <a:buChar char="•"/>
                  <a:defRPr sz="1300">
                    <a:solidFill>
                      <a:schemeClr val="tx1"/>
                    </a:solidFill>
                    <a:latin typeface="+mn-lt"/>
                    <a:ea typeface="+mn-ea"/>
                    <a:sym typeface="Calibri" panose="020F0502020204030204" pitchFamily="34" charset="0"/>
                  </a:defRPr>
                </a:lvl4pPr>
                <a:lvl5pPr marL="1543050" indent="-171450" algn="l" defTabSz="685800" rtl="0" eaLnBrk="0" fontAlgn="base" hangingPunct="0">
                  <a:lnSpc>
                    <a:spcPct val="90000"/>
                  </a:lnSpc>
                  <a:spcBef>
                    <a:spcPts val="375"/>
                  </a:spcBef>
                  <a:spcAft>
                    <a:spcPct val="0"/>
                  </a:spcAft>
                  <a:buFont typeface="Arial" panose="020B0604020202090204" pitchFamily="34" charset="0"/>
                  <a:buChar char="•"/>
                  <a:defRPr sz="1300">
                    <a:solidFill>
                      <a:schemeClr val="tx1"/>
                    </a:solidFill>
                    <a:latin typeface="+mn-lt"/>
                    <a:ea typeface="+mn-ea"/>
                    <a:sym typeface="Calibri" panose="020F0502020204030204" pitchFamily="3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宋体" panose="02010600030101010101" pitchFamily="2" charset="-122"/>
                  <a:sym typeface="宋体" panose="02010600030101010101" pitchFamily="2" charset="-122"/>
                </a:endParaRPr>
              </a:p>
            </p:txBody>
          </p:sp>
          <p:sp>
            <p:nvSpPr>
              <p:cNvPr id="16" name="直角三角形 89">
                <a:extLst>
                  <a:ext uri="{FF2B5EF4-FFF2-40B4-BE49-F238E27FC236}">
                    <a16:creationId xmlns:a16="http://schemas.microsoft.com/office/drawing/2014/main" id="{DA9BB46C-78EA-4BDF-9E17-77BFC60F1DE0}"/>
                  </a:ext>
                </a:extLst>
              </p:cNvPr>
              <p:cNvSpPr/>
              <p:nvPr/>
            </p:nvSpPr>
            <p:spPr>
              <a:xfrm rot="-5400000" flipH="1">
                <a:off x="2400" y="5358"/>
                <a:ext cx="510" cy="542"/>
              </a:xfrm>
              <a:prstGeom prst="rtTriangle">
                <a:avLst/>
              </a:prstGeom>
              <a:solidFill>
                <a:schemeClr val="tx1"/>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90204" pitchFamily="34" charset="0"/>
                  <a:buChar char="•"/>
                  <a:defRPr sz="2100">
                    <a:solidFill>
                      <a:schemeClr val="tx1"/>
                    </a:solidFill>
                    <a:latin typeface="+mn-lt"/>
                    <a:ea typeface="+mn-ea"/>
                    <a:cs typeface="+mn-cs"/>
                    <a:sym typeface="Calibri" panose="020F0502020204030204" pitchFamily="34" charset="0"/>
                  </a:defRPr>
                </a:lvl1pPr>
                <a:lvl2pPr marL="514350" indent="-171450" algn="l" defTabSz="685800" rtl="0" eaLnBrk="0" fontAlgn="base" hangingPunct="0">
                  <a:lnSpc>
                    <a:spcPct val="90000"/>
                  </a:lnSpc>
                  <a:spcBef>
                    <a:spcPts val="375"/>
                  </a:spcBef>
                  <a:spcAft>
                    <a:spcPct val="0"/>
                  </a:spcAft>
                  <a:buFont typeface="Arial" panose="020B0604020202090204" pitchFamily="34" charset="0"/>
                  <a:buChar char="•"/>
                  <a:defRPr sz="2800">
                    <a:solidFill>
                      <a:schemeClr val="tx1"/>
                    </a:solidFill>
                    <a:latin typeface="+mn-lt"/>
                    <a:ea typeface="+mn-ea"/>
                    <a:sym typeface="Calibri" panose="020F0502020204030204" pitchFamily="34" charset="0"/>
                  </a:defRPr>
                </a:lvl2pPr>
                <a:lvl3pPr marL="857250" indent="-171450" algn="l" defTabSz="685800" rtl="0" eaLnBrk="0" fontAlgn="base" hangingPunct="0">
                  <a:lnSpc>
                    <a:spcPct val="90000"/>
                  </a:lnSpc>
                  <a:spcBef>
                    <a:spcPts val="375"/>
                  </a:spcBef>
                  <a:spcAft>
                    <a:spcPct val="0"/>
                  </a:spcAft>
                  <a:buFont typeface="Arial" panose="020B0604020202090204" pitchFamily="34" charset="0"/>
                  <a:buChar char="•"/>
                  <a:defRPr sz="1500">
                    <a:solidFill>
                      <a:schemeClr val="tx1"/>
                    </a:solidFill>
                    <a:latin typeface="+mn-lt"/>
                    <a:ea typeface="+mn-ea"/>
                    <a:sym typeface="Calibri" panose="020F0502020204030204" pitchFamily="34" charset="0"/>
                  </a:defRPr>
                </a:lvl3pPr>
                <a:lvl4pPr marL="1200150" indent="-171450" algn="l" defTabSz="685800" rtl="0" eaLnBrk="0" fontAlgn="base" hangingPunct="0">
                  <a:lnSpc>
                    <a:spcPct val="90000"/>
                  </a:lnSpc>
                  <a:spcBef>
                    <a:spcPts val="375"/>
                  </a:spcBef>
                  <a:spcAft>
                    <a:spcPct val="0"/>
                  </a:spcAft>
                  <a:buFont typeface="Arial" panose="020B0604020202090204" pitchFamily="34" charset="0"/>
                  <a:buChar char="•"/>
                  <a:defRPr sz="1300">
                    <a:solidFill>
                      <a:schemeClr val="tx1"/>
                    </a:solidFill>
                    <a:latin typeface="+mn-lt"/>
                    <a:ea typeface="+mn-ea"/>
                    <a:sym typeface="Calibri" panose="020F0502020204030204" pitchFamily="34" charset="0"/>
                  </a:defRPr>
                </a:lvl4pPr>
                <a:lvl5pPr marL="1543050" indent="-171450" algn="l" defTabSz="685800" rtl="0" eaLnBrk="0" fontAlgn="base" hangingPunct="0">
                  <a:lnSpc>
                    <a:spcPct val="90000"/>
                  </a:lnSpc>
                  <a:spcBef>
                    <a:spcPts val="375"/>
                  </a:spcBef>
                  <a:spcAft>
                    <a:spcPct val="0"/>
                  </a:spcAft>
                  <a:buFont typeface="Arial" panose="020B0604020202090204" pitchFamily="34" charset="0"/>
                  <a:buChar char="•"/>
                  <a:defRPr sz="1300">
                    <a:solidFill>
                      <a:schemeClr val="tx1"/>
                    </a:solidFill>
                    <a:latin typeface="+mn-lt"/>
                    <a:ea typeface="+mn-ea"/>
                    <a:sym typeface="Calibri" panose="020F0502020204030204" pitchFamily="3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宋体" panose="02010600030101010101" pitchFamily="2" charset="-122"/>
                  <a:sym typeface="宋体" panose="02010600030101010101" pitchFamily="2" charset="-122"/>
                </a:endParaRPr>
              </a:p>
            </p:txBody>
          </p:sp>
        </p:grpSp>
        <p:grpSp>
          <p:nvGrpSpPr>
            <p:cNvPr id="9" name="组合 8">
              <a:extLst>
                <a:ext uri="{FF2B5EF4-FFF2-40B4-BE49-F238E27FC236}">
                  <a16:creationId xmlns:a16="http://schemas.microsoft.com/office/drawing/2014/main" id="{5F2EA8F9-B98D-4AE2-9BAB-A4966B7C4258}"/>
                </a:ext>
              </a:extLst>
            </p:cNvPr>
            <p:cNvGrpSpPr/>
            <p:nvPr/>
          </p:nvGrpSpPr>
          <p:grpSpPr>
            <a:xfrm>
              <a:off x="17988" y="3203"/>
              <a:ext cx="528" cy="2723"/>
              <a:chOff x="16273" y="3160"/>
              <a:chExt cx="528" cy="2723"/>
            </a:xfrm>
          </p:grpSpPr>
          <p:sp>
            <p:nvSpPr>
              <p:cNvPr id="12" name="矩形 88">
                <a:extLst>
                  <a:ext uri="{FF2B5EF4-FFF2-40B4-BE49-F238E27FC236}">
                    <a16:creationId xmlns:a16="http://schemas.microsoft.com/office/drawing/2014/main" id="{5FCE61B3-8A3D-4886-A006-CED88F46D276}"/>
                  </a:ext>
                </a:extLst>
              </p:cNvPr>
              <p:cNvSpPr/>
              <p:nvPr/>
            </p:nvSpPr>
            <p:spPr>
              <a:xfrm>
                <a:off x="16273" y="3160"/>
                <a:ext cx="527" cy="2723"/>
              </a:xfrm>
              <a:prstGeom prst="rect">
                <a:avLst/>
              </a:prstGeom>
              <a:solidFill>
                <a:srgbClr val="A5A5A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90204" pitchFamily="34" charset="0"/>
                  <a:buChar char="•"/>
                  <a:defRPr sz="2100">
                    <a:solidFill>
                      <a:schemeClr val="tx1"/>
                    </a:solidFill>
                    <a:latin typeface="+mn-lt"/>
                    <a:ea typeface="+mn-ea"/>
                    <a:cs typeface="+mn-cs"/>
                    <a:sym typeface="Calibri" panose="020F0502020204030204" pitchFamily="34" charset="0"/>
                  </a:defRPr>
                </a:lvl1pPr>
                <a:lvl2pPr marL="514350" indent="-171450" algn="l" defTabSz="685800" rtl="0" eaLnBrk="0" fontAlgn="base" hangingPunct="0">
                  <a:lnSpc>
                    <a:spcPct val="90000"/>
                  </a:lnSpc>
                  <a:spcBef>
                    <a:spcPts val="375"/>
                  </a:spcBef>
                  <a:spcAft>
                    <a:spcPct val="0"/>
                  </a:spcAft>
                  <a:buFont typeface="Arial" panose="020B0604020202090204" pitchFamily="34" charset="0"/>
                  <a:buChar char="•"/>
                  <a:defRPr sz="2800">
                    <a:solidFill>
                      <a:schemeClr val="tx1"/>
                    </a:solidFill>
                    <a:latin typeface="+mn-lt"/>
                    <a:ea typeface="+mn-ea"/>
                    <a:sym typeface="Calibri" panose="020F0502020204030204" pitchFamily="34" charset="0"/>
                  </a:defRPr>
                </a:lvl2pPr>
                <a:lvl3pPr marL="857250" indent="-171450" algn="l" defTabSz="685800" rtl="0" eaLnBrk="0" fontAlgn="base" hangingPunct="0">
                  <a:lnSpc>
                    <a:spcPct val="90000"/>
                  </a:lnSpc>
                  <a:spcBef>
                    <a:spcPts val="375"/>
                  </a:spcBef>
                  <a:spcAft>
                    <a:spcPct val="0"/>
                  </a:spcAft>
                  <a:buFont typeface="Arial" panose="020B0604020202090204" pitchFamily="34" charset="0"/>
                  <a:buChar char="•"/>
                  <a:defRPr sz="1500">
                    <a:solidFill>
                      <a:schemeClr val="tx1"/>
                    </a:solidFill>
                    <a:latin typeface="+mn-lt"/>
                    <a:ea typeface="+mn-ea"/>
                    <a:sym typeface="Calibri" panose="020F0502020204030204" pitchFamily="34" charset="0"/>
                  </a:defRPr>
                </a:lvl3pPr>
                <a:lvl4pPr marL="1200150" indent="-171450" algn="l" defTabSz="685800" rtl="0" eaLnBrk="0" fontAlgn="base" hangingPunct="0">
                  <a:lnSpc>
                    <a:spcPct val="90000"/>
                  </a:lnSpc>
                  <a:spcBef>
                    <a:spcPts val="375"/>
                  </a:spcBef>
                  <a:spcAft>
                    <a:spcPct val="0"/>
                  </a:spcAft>
                  <a:buFont typeface="Arial" panose="020B0604020202090204" pitchFamily="34" charset="0"/>
                  <a:buChar char="•"/>
                  <a:defRPr sz="1300">
                    <a:solidFill>
                      <a:schemeClr val="tx1"/>
                    </a:solidFill>
                    <a:latin typeface="+mn-lt"/>
                    <a:ea typeface="+mn-ea"/>
                    <a:sym typeface="Calibri" panose="020F0502020204030204" pitchFamily="34" charset="0"/>
                  </a:defRPr>
                </a:lvl4pPr>
                <a:lvl5pPr marL="1543050" indent="-171450" algn="l" defTabSz="685800" rtl="0" eaLnBrk="0" fontAlgn="base" hangingPunct="0">
                  <a:lnSpc>
                    <a:spcPct val="90000"/>
                  </a:lnSpc>
                  <a:spcBef>
                    <a:spcPts val="375"/>
                  </a:spcBef>
                  <a:spcAft>
                    <a:spcPct val="0"/>
                  </a:spcAft>
                  <a:buFont typeface="Arial" panose="020B0604020202090204" pitchFamily="34" charset="0"/>
                  <a:buChar char="•"/>
                  <a:defRPr sz="1300">
                    <a:solidFill>
                      <a:schemeClr val="tx1"/>
                    </a:solidFill>
                    <a:latin typeface="+mn-lt"/>
                    <a:ea typeface="+mn-ea"/>
                    <a:sym typeface="Calibri" panose="020F0502020204030204" pitchFamily="3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宋体" panose="02010600030101010101" pitchFamily="2" charset="-122"/>
                  <a:sym typeface="宋体" panose="02010600030101010101" pitchFamily="2" charset="-122"/>
                </a:endParaRPr>
              </a:p>
            </p:txBody>
          </p:sp>
          <p:sp>
            <p:nvSpPr>
              <p:cNvPr id="13" name="直角三角形 91">
                <a:extLst>
                  <a:ext uri="{FF2B5EF4-FFF2-40B4-BE49-F238E27FC236}">
                    <a16:creationId xmlns:a16="http://schemas.microsoft.com/office/drawing/2014/main" id="{2A2C1F84-2E2F-4937-A0F5-A64A3C17E925}"/>
                  </a:ext>
                </a:extLst>
              </p:cNvPr>
              <p:cNvSpPr/>
              <p:nvPr/>
            </p:nvSpPr>
            <p:spPr>
              <a:xfrm rot="-5400000" flipH="1" flipV="1">
                <a:off x="16283" y="5365"/>
                <a:ext cx="507" cy="528"/>
              </a:xfrm>
              <a:prstGeom prst="rtTriangle">
                <a:avLst/>
              </a:prstGeom>
              <a:solidFill>
                <a:schemeClr val="tx1"/>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90204" pitchFamily="34" charset="0"/>
                  <a:buChar char="•"/>
                  <a:defRPr sz="2100">
                    <a:solidFill>
                      <a:schemeClr val="tx1"/>
                    </a:solidFill>
                    <a:latin typeface="+mn-lt"/>
                    <a:ea typeface="+mn-ea"/>
                    <a:cs typeface="+mn-cs"/>
                    <a:sym typeface="Calibri" panose="020F0502020204030204" pitchFamily="34" charset="0"/>
                  </a:defRPr>
                </a:lvl1pPr>
                <a:lvl2pPr marL="514350" indent="-171450" algn="l" defTabSz="685800" rtl="0" eaLnBrk="0" fontAlgn="base" hangingPunct="0">
                  <a:lnSpc>
                    <a:spcPct val="90000"/>
                  </a:lnSpc>
                  <a:spcBef>
                    <a:spcPts val="375"/>
                  </a:spcBef>
                  <a:spcAft>
                    <a:spcPct val="0"/>
                  </a:spcAft>
                  <a:buFont typeface="Arial" panose="020B0604020202090204" pitchFamily="34" charset="0"/>
                  <a:buChar char="•"/>
                  <a:defRPr sz="2800">
                    <a:solidFill>
                      <a:schemeClr val="tx1"/>
                    </a:solidFill>
                    <a:latin typeface="+mn-lt"/>
                    <a:ea typeface="+mn-ea"/>
                    <a:sym typeface="Calibri" panose="020F0502020204030204" pitchFamily="34" charset="0"/>
                  </a:defRPr>
                </a:lvl2pPr>
                <a:lvl3pPr marL="857250" indent="-171450" algn="l" defTabSz="685800" rtl="0" eaLnBrk="0" fontAlgn="base" hangingPunct="0">
                  <a:lnSpc>
                    <a:spcPct val="90000"/>
                  </a:lnSpc>
                  <a:spcBef>
                    <a:spcPts val="375"/>
                  </a:spcBef>
                  <a:spcAft>
                    <a:spcPct val="0"/>
                  </a:spcAft>
                  <a:buFont typeface="Arial" panose="020B0604020202090204" pitchFamily="34" charset="0"/>
                  <a:buChar char="•"/>
                  <a:defRPr sz="1500">
                    <a:solidFill>
                      <a:schemeClr val="tx1"/>
                    </a:solidFill>
                    <a:latin typeface="+mn-lt"/>
                    <a:ea typeface="+mn-ea"/>
                    <a:sym typeface="Calibri" panose="020F0502020204030204" pitchFamily="34" charset="0"/>
                  </a:defRPr>
                </a:lvl3pPr>
                <a:lvl4pPr marL="1200150" indent="-171450" algn="l" defTabSz="685800" rtl="0" eaLnBrk="0" fontAlgn="base" hangingPunct="0">
                  <a:lnSpc>
                    <a:spcPct val="90000"/>
                  </a:lnSpc>
                  <a:spcBef>
                    <a:spcPts val="375"/>
                  </a:spcBef>
                  <a:spcAft>
                    <a:spcPct val="0"/>
                  </a:spcAft>
                  <a:buFont typeface="Arial" panose="020B0604020202090204" pitchFamily="34" charset="0"/>
                  <a:buChar char="•"/>
                  <a:defRPr sz="1300">
                    <a:solidFill>
                      <a:schemeClr val="tx1"/>
                    </a:solidFill>
                    <a:latin typeface="+mn-lt"/>
                    <a:ea typeface="+mn-ea"/>
                    <a:sym typeface="Calibri" panose="020F0502020204030204" pitchFamily="34" charset="0"/>
                  </a:defRPr>
                </a:lvl4pPr>
                <a:lvl5pPr marL="1543050" indent="-171450" algn="l" defTabSz="685800" rtl="0" eaLnBrk="0" fontAlgn="base" hangingPunct="0">
                  <a:lnSpc>
                    <a:spcPct val="90000"/>
                  </a:lnSpc>
                  <a:spcBef>
                    <a:spcPts val="375"/>
                  </a:spcBef>
                  <a:spcAft>
                    <a:spcPct val="0"/>
                  </a:spcAft>
                  <a:buFont typeface="Arial" panose="020B0604020202090204" pitchFamily="34" charset="0"/>
                  <a:buChar char="•"/>
                  <a:defRPr sz="1300">
                    <a:solidFill>
                      <a:schemeClr val="tx1"/>
                    </a:solidFill>
                    <a:latin typeface="+mn-lt"/>
                    <a:ea typeface="+mn-ea"/>
                    <a:sym typeface="Calibri" panose="020F0502020204030204" pitchFamily="3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宋体" panose="02010600030101010101" pitchFamily="2" charset="-122"/>
                  <a:sym typeface="宋体" panose="02010600030101010101" pitchFamily="2" charset="-122"/>
                </a:endParaRPr>
              </a:p>
            </p:txBody>
          </p:sp>
        </p:grpSp>
      </p:grpSp>
      <p:sp>
        <p:nvSpPr>
          <p:cNvPr id="17" name="直接连接符 83">
            <a:extLst>
              <a:ext uri="{FF2B5EF4-FFF2-40B4-BE49-F238E27FC236}">
                <a16:creationId xmlns:a16="http://schemas.microsoft.com/office/drawing/2014/main" id="{9AB3BDF5-8C5C-4727-B9C9-CB6EF28CE63A}"/>
              </a:ext>
            </a:extLst>
          </p:cNvPr>
          <p:cNvSpPr/>
          <p:nvPr/>
        </p:nvSpPr>
        <p:spPr>
          <a:xfrm>
            <a:off x="1919923" y="6229668"/>
            <a:ext cx="8353425" cy="1587"/>
          </a:xfrm>
          <a:prstGeom prst="line">
            <a:avLst/>
          </a:prstGeom>
          <a:ln w="6350" cap="flat" cmpd="sng">
            <a:solidFill>
              <a:srgbClr val="BFBFBF"/>
            </a:solidFill>
            <a:prstDash val="solid"/>
            <a:bevel/>
            <a:headEnd type="none" w="med" len="med"/>
            <a:tailEnd type="none" w="med" len="med"/>
          </a:ln>
        </p:spPr>
      </p:sp>
      <p:sp>
        <p:nvSpPr>
          <p:cNvPr id="18" name="灯片编号占位符 4">
            <a:extLst>
              <a:ext uri="{FF2B5EF4-FFF2-40B4-BE49-F238E27FC236}">
                <a16:creationId xmlns:a16="http://schemas.microsoft.com/office/drawing/2014/main" id="{A4E641B7-D37E-4CBA-B48A-A2ADFC0F9993}"/>
              </a:ext>
            </a:extLst>
          </p:cNvPr>
          <p:cNvSpPr txBox="1">
            <a:spLocks/>
          </p:cNvSpPr>
          <p:nvPr/>
        </p:nvSpPr>
        <p:spPr>
          <a:xfrm>
            <a:off x="8890635" y="6356350"/>
            <a:ext cx="2743200"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Font typeface="Arial" panose="020B0604020202020204" pitchFamily="34" charset="0"/>
              <a:buNone/>
            </a:pPr>
            <a:fld id="{9A0DB2DC-4C9A-4742-B13C-FB6460FD3503}" type="slidenum">
              <a:rPr lang="zh-CN" altLang="en-US" sz="1200" smtClean="0">
                <a:solidFill>
                  <a:srgbClr val="898989"/>
                </a:solidFill>
                <a:latin typeface="Arial Black" panose="020B0A04020102020204" charset="0"/>
                <a:cs typeface="Arial Black" panose="020B0A04020102020204" charset="0"/>
                <a:sym typeface="Calibri" panose="020F0502020204030204" charset="0"/>
              </a:rPr>
              <a:pPr algn="r">
                <a:spcBef>
                  <a:spcPct val="0"/>
                </a:spcBef>
                <a:buFont typeface="Arial" panose="020B0604020202020204" pitchFamily="34" charset="0"/>
                <a:buNone/>
              </a:pPr>
              <a:t>1</a:t>
            </a:fld>
            <a:endParaRPr lang="zh-CN" altLang="en-US" sz="1200" dirty="0">
              <a:solidFill>
                <a:srgbClr val="898989"/>
              </a:solidFill>
              <a:latin typeface="Arial Black" panose="020B0A04020102020204" charset="0"/>
              <a:cs typeface="Arial Black" panose="020B0A04020102020204" charset="0"/>
              <a:sym typeface="Calibri" panose="020F0502020204030204" charset="0"/>
            </a:endParaRPr>
          </a:p>
        </p:txBody>
      </p:sp>
      <p:pic>
        <p:nvPicPr>
          <p:cNvPr id="3" name="图片 2">
            <a:extLst>
              <a:ext uri="{FF2B5EF4-FFF2-40B4-BE49-F238E27FC236}">
                <a16:creationId xmlns:a16="http://schemas.microsoft.com/office/drawing/2014/main" id="{1570BA4A-2C82-4A66-9DB9-0A7F3A9854C3}"/>
              </a:ext>
            </a:extLst>
          </p:cNvPr>
          <p:cNvPicPr>
            <a:picLocks noChangeAspect="1"/>
          </p:cNvPicPr>
          <p:nvPr/>
        </p:nvPicPr>
        <p:blipFill>
          <a:blip r:embed="rId2"/>
          <a:stretch>
            <a:fillRect/>
          </a:stretch>
        </p:blipFill>
        <p:spPr>
          <a:xfrm>
            <a:off x="1121021" y="1468530"/>
            <a:ext cx="10466044" cy="3009686"/>
          </a:xfrm>
          <a:prstGeom prst="rect">
            <a:avLst/>
          </a:prstGeom>
        </p:spPr>
      </p:pic>
      <p:sp>
        <p:nvSpPr>
          <p:cNvPr id="19" name="文本框 18">
            <a:extLst>
              <a:ext uri="{FF2B5EF4-FFF2-40B4-BE49-F238E27FC236}">
                <a16:creationId xmlns:a16="http://schemas.microsoft.com/office/drawing/2014/main" id="{463D8877-1AD4-411B-8C56-C386DF158BED}"/>
              </a:ext>
            </a:extLst>
          </p:cNvPr>
          <p:cNvSpPr txBox="1"/>
          <p:nvPr/>
        </p:nvSpPr>
        <p:spPr>
          <a:xfrm>
            <a:off x="2465033" y="5705455"/>
            <a:ext cx="7261933"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dirty="0">
                <a:latin typeface="等线" panose="02010600030101010101" pitchFamily="2" charset="-122"/>
                <a:cs typeface="Times New Roman" panose="02020603050405020304" pitchFamily="18" charset="0"/>
              </a:rPr>
              <a:t>ACL 2021</a:t>
            </a:r>
            <a:endParaRPr lang="zh-CN" altLang="en-US" sz="2400" dirty="0">
              <a:latin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46423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介绍</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15" name="灯片编号占位符 4">
            <a:extLst>
              <a:ext uri="{FF2B5EF4-FFF2-40B4-BE49-F238E27FC236}">
                <a16:creationId xmlns:a16="http://schemas.microsoft.com/office/drawing/2014/main" id="{5FCB248D-9455-4BA1-B742-84535FE45C90}"/>
              </a:ext>
            </a:extLst>
          </p:cNvPr>
          <p:cNvSpPr txBox="1">
            <a:spLocks/>
          </p:cNvSpPr>
          <p:nvPr/>
        </p:nvSpPr>
        <p:spPr>
          <a:xfrm>
            <a:off x="8890635" y="6356350"/>
            <a:ext cx="2743200"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Font typeface="Arial" panose="020B0604020202020204" pitchFamily="34" charset="0"/>
              <a:buNone/>
            </a:pPr>
            <a:fld id="{9A0DB2DC-4C9A-4742-B13C-FB6460FD3503}" type="slidenum">
              <a:rPr lang="zh-CN" altLang="en-US" sz="1200" smtClean="0">
                <a:solidFill>
                  <a:srgbClr val="898989"/>
                </a:solidFill>
                <a:latin typeface="Arial Black" panose="020B0A04020102020204" charset="0"/>
                <a:cs typeface="Arial Black" panose="020B0A04020102020204" charset="0"/>
                <a:sym typeface="Calibri" panose="020F0502020204030204" charset="0"/>
              </a:rPr>
              <a:pPr algn="r">
                <a:spcBef>
                  <a:spcPct val="0"/>
                </a:spcBef>
                <a:buFont typeface="Arial" panose="020B0604020202020204" pitchFamily="34" charset="0"/>
                <a:buNone/>
              </a:pPr>
              <a:t>2</a:t>
            </a:fld>
            <a:endParaRPr lang="zh-CN" altLang="en-US" sz="1200" dirty="0">
              <a:solidFill>
                <a:srgbClr val="898989"/>
              </a:solidFill>
              <a:latin typeface="Arial Black" panose="020B0A04020102020204" charset="0"/>
              <a:cs typeface="Arial Black" panose="020B0A04020102020204" charset="0"/>
              <a:sym typeface="Calibri" panose="020F0502020204030204" charset="0"/>
            </a:endParaRPr>
          </a:p>
        </p:txBody>
      </p:sp>
      <p:sp>
        <p:nvSpPr>
          <p:cNvPr id="8" name="文本框 7">
            <a:extLst>
              <a:ext uri="{FF2B5EF4-FFF2-40B4-BE49-F238E27FC236}">
                <a16:creationId xmlns:a16="http://schemas.microsoft.com/office/drawing/2014/main" id="{611FB156-AD4E-4EAA-BA5F-391FC0CFD172}"/>
              </a:ext>
            </a:extLst>
          </p:cNvPr>
          <p:cNvSpPr txBox="1"/>
          <p:nvPr/>
        </p:nvSpPr>
        <p:spPr>
          <a:xfrm>
            <a:off x="570521" y="1206151"/>
            <a:ext cx="9503509" cy="830997"/>
          </a:xfrm>
          <a:prstGeom prst="rect">
            <a:avLst/>
          </a:prstGeom>
          <a:noFill/>
        </p:spPr>
        <p:txBody>
          <a:bodyPr wrap="square">
            <a:spAutoFit/>
          </a:bodyPr>
          <a:lstStyle/>
          <a:p>
            <a:pPr>
              <a:spcAft>
                <a:spcPts val="600"/>
              </a:spcAft>
            </a:pPr>
            <a:r>
              <a:rPr lang="zh-CN" altLang="en-US" sz="2400" dirty="0"/>
              <a:t>任务：开放域对话结构探索</a:t>
            </a:r>
            <a:r>
              <a:rPr lang="en-US" altLang="zh-CN" sz="2400" dirty="0"/>
              <a:t>(open-domain dialog structure discovery)</a:t>
            </a:r>
            <a:r>
              <a:rPr lang="zh-CN" altLang="en-US" sz="2400" dirty="0"/>
              <a:t>，</a:t>
            </a:r>
            <a:r>
              <a:rPr lang="en-US" altLang="zh-CN" sz="2400" dirty="0"/>
              <a:t>	</a:t>
            </a:r>
            <a:r>
              <a:rPr lang="zh-CN" altLang="en-US" sz="2400" dirty="0"/>
              <a:t>多轮对话</a:t>
            </a:r>
            <a:endParaRPr lang="en-US" altLang="zh-CN" sz="2400" dirty="0"/>
          </a:p>
        </p:txBody>
      </p:sp>
      <p:sp>
        <p:nvSpPr>
          <p:cNvPr id="12" name="文本框 11">
            <a:extLst>
              <a:ext uri="{FF2B5EF4-FFF2-40B4-BE49-F238E27FC236}">
                <a16:creationId xmlns:a16="http://schemas.microsoft.com/office/drawing/2014/main" id="{704C5F51-B98D-4AB4-A65A-E7CE3D2C6352}"/>
              </a:ext>
            </a:extLst>
          </p:cNvPr>
          <p:cNvSpPr txBox="1"/>
          <p:nvPr/>
        </p:nvSpPr>
        <p:spPr>
          <a:xfrm>
            <a:off x="570523" y="2397789"/>
            <a:ext cx="10472615" cy="2308324"/>
          </a:xfrm>
          <a:prstGeom prst="rect">
            <a:avLst/>
          </a:prstGeom>
          <a:noFill/>
        </p:spPr>
        <p:txBody>
          <a:bodyPr wrap="square">
            <a:spAutoFit/>
          </a:bodyPr>
          <a:lstStyle/>
          <a:p>
            <a:r>
              <a:rPr lang="zh-CN" altLang="en-US" sz="2400" dirty="0"/>
              <a:t>动机：</a:t>
            </a:r>
            <a:endParaRPr lang="en-US" altLang="zh-CN" sz="2400" dirty="0"/>
          </a:p>
          <a:p>
            <a:r>
              <a:rPr lang="zh-CN" altLang="en-US" sz="2400" dirty="0"/>
              <a:t>       从大量现有的人</a:t>
            </a:r>
            <a:r>
              <a:rPr lang="en-US" altLang="zh-CN" sz="2400" dirty="0"/>
              <a:t>-</a:t>
            </a:r>
            <a:r>
              <a:rPr lang="zh-CN" altLang="en-US" sz="2400" dirty="0"/>
              <a:t>人对话数据中无监督地学习对话结构图能够为对话生成提供丰富的先验知识，然而面向开放域的对话结构探索的研究很少。在这篇论文中作者提出将离散变分自编码器和图神经网络结合，通过在开发域语料库上无监督地学习来发现离散的层级对话状态以及对话状态间的转移机制，从而构建对话结构图谱，并借助构建的对话结构图谱来进行多轮对话生成。</a:t>
            </a:r>
            <a:endParaRPr lang="zh-CN" altLang="en-US" sz="2400" b="1" dirty="0"/>
          </a:p>
        </p:txBody>
      </p:sp>
    </p:spTree>
    <p:extLst>
      <p:ext uri="{BB962C8B-B14F-4D97-AF65-F5344CB8AC3E}">
        <p14:creationId xmlns:p14="http://schemas.microsoft.com/office/powerpoint/2010/main" val="1579956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15" name="灯片编号占位符 4">
            <a:extLst>
              <a:ext uri="{FF2B5EF4-FFF2-40B4-BE49-F238E27FC236}">
                <a16:creationId xmlns:a16="http://schemas.microsoft.com/office/drawing/2014/main" id="{5FCB248D-9455-4BA1-B742-84535FE45C90}"/>
              </a:ext>
            </a:extLst>
          </p:cNvPr>
          <p:cNvSpPr txBox="1">
            <a:spLocks/>
          </p:cNvSpPr>
          <p:nvPr/>
        </p:nvSpPr>
        <p:spPr>
          <a:xfrm>
            <a:off x="9448800" y="6491357"/>
            <a:ext cx="2743200"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Font typeface="Arial" panose="020B0604020202020204" pitchFamily="34" charset="0"/>
              <a:buNone/>
            </a:pPr>
            <a:fld id="{9A0DB2DC-4C9A-4742-B13C-FB6460FD3503}" type="slidenum">
              <a:rPr lang="zh-CN" altLang="en-US" sz="1200" smtClean="0">
                <a:solidFill>
                  <a:srgbClr val="898989"/>
                </a:solidFill>
                <a:latin typeface="Arial Black" panose="020B0A04020102020204" charset="0"/>
                <a:cs typeface="Arial Black" panose="020B0A04020102020204" charset="0"/>
                <a:sym typeface="Calibri" panose="020F0502020204030204" charset="0"/>
              </a:rPr>
              <a:pPr algn="r">
                <a:spcBef>
                  <a:spcPct val="0"/>
                </a:spcBef>
                <a:buFont typeface="Arial" panose="020B0604020202020204" pitchFamily="34" charset="0"/>
                <a:buNone/>
              </a:pPr>
              <a:t>3</a:t>
            </a:fld>
            <a:endParaRPr lang="zh-CN" altLang="en-US" sz="1200" dirty="0">
              <a:solidFill>
                <a:srgbClr val="898989"/>
              </a:solidFill>
              <a:latin typeface="Arial Black" panose="020B0A04020102020204" charset="0"/>
              <a:cs typeface="Arial Black" panose="020B0A04020102020204" charset="0"/>
              <a:sym typeface="Calibri" panose="020F0502020204030204" charset="0"/>
            </a:endParaRPr>
          </a:p>
        </p:txBody>
      </p:sp>
      <p:pic>
        <p:nvPicPr>
          <p:cNvPr id="2" name="图片 1">
            <a:extLst>
              <a:ext uri="{FF2B5EF4-FFF2-40B4-BE49-F238E27FC236}">
                <a16:creationId xmlns:a16="http://schemas.microsoft.com/office/drawing/2014/main" id="{043D47ED-46D4-4208-9044-86FB2C3EE286}"/>
              </a:ext>
            </a:extLst>
          </p:cNvPr>
          <p:cNvPicPr>
            <a:picLocks noChangeAspect="1"/>
          </p:cNvPicPr>
          <p:nvPr/>
        </p:nvPicPr>
        <p:blipFill>
          <a:blip r:embed="rId2"/>
          <a:stretch>
            <a:fillRect/>
          </a:stretch>
        </p:blipFill>
        <p:spPr>
          <a:xfrm>
            <a:off x="164989" y="1078521"/>
            <a:ext cx="11862021" cy="5337910"/>
          </a:xfrm>
          <a:prstGeom prst="rect">
            <a:avLst/>
          </a:prstGeom>
        </p:spPr>
      </p:pic>
      <p:sp>
        <p:nvSpPr>
          <p:cNvPr id="7" name="文本框 6">
            <a:extLst>
              <a:ext uri="{FF2B5EF4-FFF2-40B4-BE49-F238E27FC236}">
                <a16:creationId xmlns:a16="http://schemas.microsoft.com/office/drawing/2014/main" id="{8EB088E7-E23B-4E1E-83F0-7BB9CB91A659}"/>
              </a:ext>
            </a:extLst>
          </p:cNvPr>
          <p:cNvSpPr txBox="1"/>
          <p:nvPr/>
        </p:nvSpPr>
        <p:spPr>
          <a:xfrm>
            <a:off x="409575" y="878466"/>
            <a:ext cx="6096000" cy="400110"/>
          </a:xfrm>
          <a:prstGeom prst="rect">
            <a:avLst/>
          </a:prstGeom>
          <a:noFill/>
        </p:spPr>
        <p:txBody>
          <a:bodyPr wrap="square">
            <a:spAutoFit/>
          </a:bodyPr>
          <a:lstStyle/>
          <a:p>
            <a:r>
              <a:rPr lang="en-US" altLang="zh-CN" sz="2000" dirty="0"/>
              <a:t>Dialog Structure Discovery</a:t>
            </a:r>
            <a:endParaRPr lang="zh-CN" altLang="en-US" sz="2000" dirty="0"/>
          </a:p>
        </p:txBody>
      </p:sp>
    </p:spTree>
    <p:extLst>
      <p:ext uri="{BB962C8B-B14F-4D97-AF65-F5344CB8AC3E}">
        <p14:creationId xmlns:p14="http://schemas.microsoft.com/office/powerpoint/2010/main" val="1819647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15" name="灯片编号占位符 4">
            <a:extLst>
              <a:ext uri="{FF2B5EF4-FFF2-40B4-BE49-F238E27FC236}">
                <a16:creationId xmlns:a16="http://schemas.microsoft.com/office/drawing/2014/main" id="{5FCB248D-9455-4BA1-B742-84535FE45C90}"/>
              </a:ext>
            </a:extLst>
          </p:cNvPr>
          <p:cNvSpPr txBox="1">
            <a:spLocks/>
          </p:cNvSpPr>
          <p:nvPr/>
        </p:nvSpPr>
        <p:spPr>
          <a:xfrm>
            <a:off x="9448800" y="6491357"/>
            <a:ext cx="2743200"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Font typeface="Arial" panose="020B0604020202020204" pitchFamily="34" charset="0"/>
              <a:buNone/>
            </a:pPr>
            <a:fld id="{9A0DB2DC-4C9A-4742-B13C-FB6460FD3503}" type="slidenum">
              <a:rPr lang="zh-CN" altLang="en-US" sz="1200" smtClean="0">
                <a:solidFill>
                  <a:srgbClr val="898989"/>
                </a:solidFill>
                <a:latin typeface="Arial Black" panose="020B0A04020102020204" charset="0"/>
                <a:cs typeface="Arial Black" panose="020B0A04020102020204" charset="0"/>
                <a:sym typeface="Calibri" panose="020F0502020204030204" charset="0"/>
              </a:rPr>
              <a:pPr algn="r">
                <a:spcBef>
                  <a:spcPct val="0"/>
                </a:spcBef>
                <a:buFont typeface="Arial" panose="020B0604020202020204" pitchFamily="34" charset="0"/>
                <a:buNone/>
              </a:pPr>
              <a:t>4</a:t>
            </a:fld>
            <a:endParaRPr lang="zh-CN" altLang="en-US" sz="1200" dirty="0">
              <a:solidFill>
                <a:srgbClr val="898989"/>
              </a:solidFill>
              <a:latin typeface="Arial Black" panose="020B0A04020102020204" charset="0"/>
              <a:cs typeface="Arial Black" panose="020B0A04020102020204" charset="0"/>
              <a:sym typeface="Calibri" panose="020F0502020204030204" charset="0"/>
            </a:endParaRPr>
          </a:p>
        </p:txBody>
      </p:sp>
      <p:sp>
        <p:nvSpPr>
          <p:cNvPr id="7" name="文本框 6">
            <a:extLst>
              <a:ext uri="{FF2B5EF4-FFF2-40B4-BE49-F238E27FC236}">
                <a16:creationId xmlns:a16="http://schemas.microsoft.com/office/drawing/2014/main" id="{96BC3223-45A2-4BFB-9D9E-F9EF9EC3FF92}"/>
              </a:ext>
            </a:extLst>
          </p:cNvPr>
          <p:cNvSpPr txBox="1"/>
          <p:nvPr/>
        </p:nvSpPr>
        <p:spPr>
          <a:xfrm>
            <a:off x="409575" y="994082"/>
            <a:ext cx="6096000" cy="590033"/>
          </a:xfrm>
          <a:prstGeom prst="rect">
            <a:avLst/>
          </a:prstGeom>
          <a:noFill/>
        </p:spPr>
        <p:txBody>
          <a:bodyPr wrap="square">
            <a:spAutoFit/>
          </a:bodyPr>
          <a:lstStyle/>
          <a:p>
            <a:pPr>
              <a:lnSpc>
                <a:spcPct val="150000"/>
              </a:lnSpc>
              <a:spcAft>
                <a:spcPts val="1200"/>
              </a:spcAft>
            </a:pPr>
            <a:r>
              <a:rPr lang="en-US" altLang="zh-CN" sz="2400" dirty="0"/>
              <a:t>1. </a:t>
            </a:r>
            <a:r>
              <a:rPr lang="en-GB" altLang="zh-CN" sz="2400" dirty="0"/>
              <a:t>Graph Initialization</a:t>
            </a:r>
            <a:endParaRPr lang="en-US" altLang="zh-CN" sz="2400" dirty="0"/>
          </a:p>
        </p:txBody>
      </p:sp>
      <p:sp>
        <p:nvSpPr>
          <p:cNvPr id="18" name="文本框 17">
            <a:extLst>
              <a:ext uri="{FF2B5EF4-FFF2-40B4-BE49-F238E27FC236}">
                <a16:creationId xmlns:a16="http://schemas.microsoft.com/office/drawing/2014/main" id="{1D988659-65A4-49EA-B969-A39795B550DE}"/>
              </a:ext>
            </a:extLst>
          </p:cNvPr>
          <p:cNvSpPr txBox="1"/>
          <p:nvPr/>
        </p:nvSpPr>
        <p:spPr>
          <a:xfrm>
            <a:off x="409575" y="1584115"/>
            <a:ext cx="6096000" cy="400110"/>
          </a:xfrm>
          <a:prstGeom prst="rect">
            <a:avLst/>
          </a:prstGeom>
          <a:noFill/>
        </p:spPr>
        <p:txBody>
          <a:bodyPr wrap="square">
            <a:spAutoFit/>
          </a:bodyPr>
          <a:lstStyle/>
          <a:p>
            <a:r>
              <a:rPr lang="en-US" altLang="zh-CN" sz="2000" b="1" dirty="0"/>
              <a:t>1.1 </a:t>
            </a:r>
            <a:r>
              <a:rPr lang="en-GB" altLang="zh-CN" sz="2000" b="1" dirty="0"/>
              <a:t>Vertex Initialization</a:t>
            </a:r>
            <a:endParaRPr lang="zh-CN" altLang="en-US" sz="2000" b="1" dirty="0"/>
          </a:p>
        </p:txBody>
      </p:sp>
      <p:pic>
        <p:nvPicPr>
          <p:cNvPr id="3" name="图片 2">
            <a:extLst>
              <a:ext uri="{FF2B5EF4-FFF2-40B4-BE49-F238E27FC236}">
                <a16:creationId xmlns:a16="http://schemas.microsoft.com/office/drawing/2014/main" id="{C25C4BD4-93F7-4137-BF81-41333A5C25AF}"/>
              </a:ext>
            </a:extLst>
          </p:cNvPr>
          <p:cNvPicPr>
            <a:picLocks noChangeAspect="1"/>
          </p:cNvPicPr>
          <p:nvPr/>
        </p:nvPicPr>
        <p:blipFill>
          <a:blip r:embed="rId2"/>
          <a:stretch>
            <a:fillRect/>
          </a:stretch>
        </p:blipFill>
        <p:spPr>
          <a:xfrm>
            <a:off x="6080867" y="994082"/>
            <a:ext cx="5701558" cy="3409515"/>
          </a:xfrm>
          <a:prstGeom prst="rect">
            <a:avLst/>
          </a:prstGeom>
        </p:spPr>
      </p:pic>
      <p:pic>
        <p:nvPicPr>
          <p:cNvPr id="4" name="图片 3">
            <a:extLst>
              <a:ext uri="{FF2B5EF4-FFF2-40B4-BE49-F238E27FC236}">
                <a16:creationId xmlns:a16="http://schemas.microsoft.com/office/drawing/2014/main" id="{67D1C67B-C3B4-4DD4-AC17-1ECF89015534}"/>
              </a:ext>
            </a:extLst>
          </p:cNvPr>
          <p:cNvPicPr>
            <a:picLocks noChangeAspect="1"/>
          </p:cNvPicPr>
          <p:nvPr/>
        </p:nvPicPr>
        <p:blipFill>
          <a:blip r:embed="rId3"/>
          <a:stretch>
            <a:fillRect/>
          </a:stretch>
        </p:blipFill>
        <p:spPr>
          <a:xfrm>
            <a:off x="876859" y="1627304"/>
            <a:ext cx="4811121" cy="5230696"/>
          </a:xfrm>
          <a:prstGeom prst="rect">
            <a:avLst/>
          </a:prstGeom>
        </p:spPr>
      </p:pic>
      <p:pic>
        <p:nvPicPr>
          <p:cNvPr id="8" name="图片 7">
            <a:extLst>
              <a:ext uri="{FF2B5EF4-FFF2-40B4-BE49-F238E27FC236}">
                <a16:creationId xmlns:a16="http://schemas.microsoft.com/office/drawing/2014/main" id="{92E107B5-EEF8-4CC4-8BB7-CDF9E2987D3E}"/>
              </a:ext>
            </a:extLst>
          </p:cNvPr>
          <p:cNvPicPr>
            <a:picLocks noChangeAspect="1"/>
          </p:cNvPicPr>
          <p:nvPr/>
        </p:nvPicPr>
        <p:blipFill>
          <a:blip r:embed="rId4"/>
          <a:stretch>
            <a:fillRect/>
          </a:stretch>
        </p:blipFill>
        <p:spPr>
          <a:xfrm>
            <a:off x="7772897" y="4873776"/>
            <a:ext cx="4295775" cy="866775"/>
          </a:xfrm>
          <a:prstGeom prst="rect">
            <a:avLst/>
          </a:prstGeom>
        </p:spPr>
      </p:pic>
      <p:sp>
        <p:nvSpPr>
          <p:cNvPr id="9" name="文本框 8">
            <a:extLst>
              <a:ext uri="{FF2B5EF4-FFF2-40B4-BE49-F238E27FC236}">
                <a16:creationId xmlns:a16="http://schemas.microsoft.com/office/drawing/2014/main" id="{4142E583-2E05-4F9F-AF65-81348D4820B5}"/>
              </a:ext>
            </a:extLst>
          </p:cNvPr>
          <p:cNvSpPr txBox="1"/>
          <p:nvPr/>
        </p:nvSpPr>
        <p:spPr>
          <a:xfrm>
            <a:off x="10323762" y="6186820"/>
            <a:ext cx="1799118" cy="369332"/>
          </a:xfrm>
          <a:prstGeom prst="rect">
            <a:avLst/>
          </a:prstGeom>
          <a:noFill/>
        </p:spPr>
        <p:txBody>
          <a:bodyPr wrap="square" rtlCol="0">
            <a:spAutoFit/>
          </a:bodyPr>
          <a:lstStyle/>
          <a:p>
            <a:r>
              <a:rPr lang="en-US" altLang="zh-CN" b="1" dirty="0"/>
              <a:t>One-hot vector</a:t>
            </a:r>
            <a:endParaRPr lang="zh-CN" altLang="en-US" b="1" dirty="0"/>
          </a:p>
        </p:txBody>
      </p:sp>
      <p:cxnSp>
        <p:nvCxnSpPr>
          <p:cNvPr id="17" name="直接连接符 16">
            <a:extLst>
              <a:ext uri="{FF2B5EF4-FFF2-40B4-BE49-F238E27FC236}">
                <a16:creationId xmlns:a16="http://schemas.microsoft.com/office/drawing/2014/main" id="{206FE253-87EE-4A3C-B86C-AAC213D9E95C}"/>
              </a:ext>
            </a:extLst>
          </p:cNvPr>
          <p:cNvCxnSpPr>
            <a:cxnSpLocks/>
          </p:cNvCxnSpPr>
          <p:nvPr/>
        </p:nvCxnSpPr>
        <p:spPr>
          <a:xfrm>
            <a:off x="10529379" y="5712482"/>
            <a:ext cx="505706" cy="486361"/>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接连接符 20">
            <a:extLst>
              <a:ext uri="{FF2B5EF4-FFF2-40B4-BE49-F238E27FC236}">
                <a16:creationId xmlns:a16="http://schemas.microsoft.com/office/drawing/2014/main" id="{8F111A00-A6D6-43A0-833C-27F1AD2DE3BC}"/>
              </a:ext>
            </a:extLst>
          </p:cNvPr>
          <p:cNvCxnSpPr>
            <a:cxnSpLocks/>
          </p:cNvCxnSpPr>
          <p:nvPr/>
        </p:nvCxnSpPr>
        <p:spPr>
          <a:xfrm>
            <a:off x="10605579" y="5307163"/>
            <a:ext cx="529203" cy="891680"/>
          </a:xfrm>
          <a:prstGeom prst="line">
            <a:avLst/>
          </a:prstGeom>
        </p:spPr>
        <p:style>
          <a:lnRef idx="3">
            <a:schemeClr val="accent2"/>
          </a:lnRef>
          <a:fillRef idx="0">
            <a:schemeClr val="accent2"/>
          </a:fillRef>
          <a:effectRef idx="2">
            <a:schemeClr val="accent2"/>
          </a:effectRef>
          <a:fontRef idx="minor">
            <a:schemeClr val="tx1"/>
          </a:fontRef>
        </p:style>
      </p:cxnSp>
      <p:sp>
        <p:nvSpPr>
          <p:cNvPr id="32" name="文本框 31">
            <a:extLst>
              <a:ext uri="{FF2B5EF4-FFF2-40B4-BE49-F238E27FC236}">
                <a16:creationId xmlns:a16="http://schemas.microsoft.com/office/drawing/2014/main" id="{712338B9-BCA9-471B-885B-EB2AA1EFCCFC}"/>
              </a:ext>
            </a:extLst>
          </p:cNvPr>
          <p:cNvSpPr txBox="1"/>
          <p:nvPr/>
        </p:nvSpPr>
        <p:spPr>
          <a:xfrm>
            <a:off x="7491920" y="6186820"/>
            <a:ext cx="2827020" cy="646331"/>
          </a:xfrm>
          <a:prstGeom prst="rect">
            <a:avLst/>
          </a:prstGeom>
          <a:noFill/>
        </p:spPr>
        <p:txBody>
          <a:bodyPr wrap="square">
            <a:spAutoFit/>
          </a:bodyPr>
          <a:lstStyle/>
          <a:p>
            <a:r>
              <a:rPr lang="en-GB" altLang="zh-CN" b="1" dirty="0"/>
              <a:t>Representation vector of the associated phrase </a:t>
            </a:r>
            <a:endParaRPr lang="zh-CN" altLang="en-US" b="1" dirty="0"/>
          </a:p>
        </p:txBody>
      </p:sp>
      <p:cxnSp>
        <p:nvCxnSpPr>
          <p:cNvPr id="33" name="直接连接符 32">
            <a:extLst>
              <a:ext uri="{FF2B5EF4-FFF2-40B4-BE49-F238E27FC236}">
                <a16:creationId xmlns:a16="http://schemas.microsoft.com/office/drawing/2014/main" id="{231A960A-7646-46A2-8EEC-E518AE686912}"/>
              </a:ext>
            </a:extLst>
          </p:cNvPr>
          <p:cNvCxnSpPr>
            <a:cxnSpLocks/>
          </p:cNvCxnSpPr>
          <p:nvPr/>
        </p:nvCxnSpPr>
        <p:spPr>
          <a:xfrm flipH="1">
            <a:off x="9146331" y="5670789"/>
            <a:ext cx="189334" cy="586107"/>
          </a:xfrm>
          <a:prstGeom prst="line">
            <a:avLst/>
          </a:prstGeom>
        </p:spPr>
        <p:style>
          <a:lnRef idx="3">
            <a:schemeClr val="accent2"/>
          </a:lnRef>
          <a:fillRef idx="0">
            <a:schemeClr val="accent2"/>
          </a:fillRef>
          <a:effectRef idx="2">
            <a:schemeClr val="accent2"/>
          </a:effectRef>
          <a:fontRef idx="minor">
            <a:schemeClr val="tx1"/>
          </a:fontRef>
        </p:style>
      </p:cxnSp>
      <p:sp>
        <p:nvSpPr>
          <p:cNvPr id="40" name="文本框 39">
            <a:extLst>
              <a:ext uri="{FF2B5EF4-FFF2-40B4-BE49-F238E27FC236}">
                <a16:creationId xmlns:a16="http://schemas.microsoft.com/office/drawing/2014/main" id="{0152B769-0AB6-4C3F-A9BE-6135B36589A2}"/>
              </a:ext>
            </a:extLst>
          </p:cNvPr>
          <p:cNvSpPr txBox="1"/>
          <p:nvPr/>
        </p:nvSpPr>
        <p:spPr>
          <a:xfrm>
            <a:off x="5962374" y="4504444"/>
            <a:ext cx="3024550" cy="369332"/>
          </a:xfrm>
          <a:prstGeom prst="rect">
            <a:avLst/>
          </a:prstGeom>
          <a:noFill/>
        </p:spPr>
        <p:txBody>
          <a:bodyPr wrap="square">
            <a:spAutoFit/>
          </a:bodyPr>
          <a:lstStyle/>
          <a:p>
            <a:r>
              <a:rPr lang="en-GB" altLang="zh-CN" b="1" dirty="0"/>
              <a:t>Session-level vertex vector</a:t>
            </a:r>
            <a:endParaRPr lang="zh-CN" altLang="en-US" dirty="0"/>
          </a:p>
        </p:txBody>
      </p:sp>
      <p:sp>
        <p:nvSpPr>
          <p:cNvPr id="43" name="文本框 42">
            <a:extLst>
              <a:ext uri="{FF2B5EF4-FFF2-40B4-BE49-F238E27FC236}">
                <a16:creationId xmlns:a16="http://schemas.microsoft.com/office/drawing/2014/main" id="{157E43CB-30D2-4BAA-BDEE-62D4D46F2D3E}"/>
              </a:ext>
            </a:extLst>
          </p:cNvPr>
          <p:cNvSpPr txBox="1"/>
          <p:nvPr/>
        </p:nvSpPr>
        <p:spPr>
          <a:xfrm>
            <a:off x="5813242" y="5712135"/>
            <a:ext cx="3233392" cy="369332"/>
          </a:xfrm>
          <a:prstGeom prst="rect">
            <a:avLst/>
          </a:prstGeom>
          <a:noFill/>
        </p:spPr>
        <p:txBody>
          <a:bodyPr wrap="square">
            <a:spAutoFit/>
          </a:bodyPr>
          <a:lstStyle/>
          <a:p>
            <a:r>
              <a:rPr lang="en-GB" altLang="zh-CN" b="1" dirty="0"/>
              <a:t>U</a:t>
            </a:r>
            <a:r>
              <a:rPr lang="en-US" altLang="zh-CN" b="1" dirty="0" err="1"/>
              <a:t>tterance</a:t>
            </a:r>
            <a:r>
              <a:rPr lang="en-GB" altLang="zh-CN" b="1" dirty="0"/>
              <a:t>-level vertex vector</a:t>
            </a:r>
            <a:endParaRPr lang="zh-CN" altLang="en-US" dirty="0"/>
          </a:p>
        </p:txBody>
      </p:sp>
      <p:cxnSp>
        <p:nvCxnSpPr>
          <p:cNvPr id="58" name="直接连接符 57">
            <a:extLst>
              <a:ext uri="{FF2B5EF4-FFF2-40B4-BE49-F238E27FC236}">
                <a16:creationId xmlns:a16="http://schemas.microsoft.com/office/drawing/2014/main" id="{8B2DC4AB-0DF0-4D97-AC9D-739FF8EBF666}"/>
              </a:ext>
            </a:extLst>
          </p:cNvPr>
          <p:cNvCxnSpPr>
            <a:cxnSpLocks/>
          </p:cNvCxnSpPr>
          <p:nvPr/>
        </p:nvCxnSpPr>
        <p:spPr>
          <a:xfrm flipH="1">
            <a:off x="7557076" y="5670789"/>
            <a:ext cx="215821" cy="146963"/>
          </a:xfrm>
          <a:prstGeom prst="line">
            <a:avLst/>
          </a:prstGeom>
        </p:spPr>
        <p:style>
          <a:lnRef idx="3">
            <a:schemeClr val="accent2"/>
          </a:lnRef>
          <a:fillRef idx="0">
            <a:schemeClr val="accent2"/>
          </a:fillRef>
          <a:effectRef idx="2">
            <a:schemeClr val="accent2"/>
          </a:effectRef>
          <a:fontRef idx="minor">
            <a:schemeClr val="tx1"/>
          </a:fontRef>
        </p:style>
      </p:cxnSp>
      <p:cxnSp>
        <p:nvCxnSpPr>
          <p:cNvPr id="61" name="直接连接符 60">
            <a:extLst>
              <a:ext uri="{FF2B5EF4-FFF2-40B4-BE49-F238E27FC236}">
                <a16:creationId xmlns:a16="http://schemas.microsoft.com/office/drawing/2014/main" id="{7FC1AF4E-47BB-44F5-BB5D-9762CB107926}"/>
              </a:ext>
            </a:extLst>
          </p:cNvPr>
          <p:cNvCxnSpPr>
            <a:cxnSpLocks/>
          </p:cNvCxnSpPr>
          <p:nvPr/>
        </p:nvCxnSpPr>
        <p:spPr>
          <a:xfrm>
            <a:off x="7837710" y="4804014"/>
            <a:ext cx="1067720" cy="216775"/>
          </a:xfrm>
          <a:prstGeom prst="line">
            <a:avLst/>
          </a:prstGeom>
        </p:spPr>
        <p:style>
          <a:lnRef idx="3">
            <a:schemeClr val="accent2"/>
          </a:lnRef>
          <a:fillRef idx="0">
            <a:schemeClr val="accent2"/>
          </a:fillRef>
          <a:effectRef idx="2">
            <a:schemeClr val="accent2"/>
          </a:effectRef>
          <a:fontRef idx="minor">
            <a:schemeClr val="tx1"/>
          </a:fontRef>
        </p:style>
      </p:cxnSp>
      <p:sp>
        <p:nvSpPr>
          <p:cNvPr id="66" name="文本框 65">
            <a:extLst>
              <a:ext uri="{FF2B5EF4-FFF2-40B4-BE49-F238E27FC236}">
                <a16:creationId xmlns:a16="http://schemas.microsoft.com/office/drawing/2014/main" id="{5ECC0784-2640-4C82-8C9D-FD864CB0D5E6}"/>
              </a:ext>
            </a:extLst>
          </p:cNvPr>
          <p:cNvSpPr txBox="1"/>
          <p:nvPr/>
        </p:nvSpPr>
        <p:spPr>
          <a:xfrm>
            <a:off x="9261318" y="4465976"/>
            <a:ext cx="2306676" cy="369332"/>
          </a:xfrm>
          <a:prstGeom prst="rect">
            <a:avLst/>
          </a:prstGeom>
          <a:noFill/>
        </p:spPr>
        <p:txBody>
          <a:bodyPr wrap="square" rtlCol="0">
            <a:spAutoFit/>
          </a:bodyPr>
          <a:lstStyle/>
          <a:p>
            <a:r>
              <a:rPr lang="en-US" altLang="zh-CN" b="1" dirty="0"/>
              <a:t>Randomly Initialized</a:t>
            </a:r>
            <a:endParaRPr lang="zh-CN" altLang="en-US" b="1" dirty="0"/>
          </a:p>
        </p:txBody>
      </p:sp>
      <p:cxnSp>
        <p:nvCxnSpPr>
          <p:cNvPr id="67" name="直接连接符 66">
            <a:extLst>
              <a:ext uri="{FF2B5EF4-FFF2-40B4-BE49-F238E27FC236}">
                <a16:creationId xmlns:a16="http://schemas.microsoft.com/office/drawing/2014/main" id="{0EFE163F-B208-47CC-A6AB-F0B6738752BB}"/>
              </a:ext>
            </a:extLst>
          </p:cNvPr>
          <p:cNvCxnSpPr>
            <a:cxnSpLocks/>
          </p:cNvCxnSpPr>
          <p:nvPr/>
        </p:nvCxnSpPr>
        <p:spPr>
          <a:xfrm>
            <a:off x="9868140" y="4752067"/>
            <a:ext cx="103900" cy="226333"/>
          </a:xfrm>
          <a:prstGeom prst="line">
            <a:avLst/>
          </a:prstGeom>
        </p:spPr>
        <p:style>
          <a:lnRef idx="3">
            <a:schemeClr val="accent2"/>
          </a:lnRef>
          <a:fillRef idx="0">
            <a:schemeClr val="accent2"/>
          </a:fillRef>
          <a:effectRef idx="2">
            <a:schemeClr val="accent2"/>
          </a:effectRef>
          <a:fontRef idx="minor">
            <a:schemeClr val="tx1"/>
          </a:fontRef>
        </p:style>
      </p:cxnSp>
      <p:cxnSp>
        <p:nvCxnSpPr>
          <p:cNvPr id="71" name="直接连接符 70">
            <a:extLst>
              <a:ext uri="{FF2B5EF4-FFF2-40B4-BE49-F238E27FC236}">
                <a16:creationId xmlns:a16="http://schemas.microsoft.com/office/drawing/2014/main" id="{A1007DF7-C219-41F2-A44A-2D4868FD7849}"/>
              </a:ext>
            </a:extLst>
          </p:cNvPr>
          <p:cNvCxnSpPr>
            <a:cxnSpLocks/>
          </p:cNvCxnSpPr>
          <p:nvPr/>
        </p:nvCxnSpPr>
        <p:spPr>
          <a:xfrm>
            <a:off x="9829800" y="4760742"/>
            <a:ext cx="142240" cy="634218"/>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4226590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2" grpId="0"/>
      <p:bldP spid="6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15" name="灯片编号占位符 4">
            <a:extLst>
              <a:ext uri="{FF2B5EF4-FFF2-40B4-BE49-F238E27FC236}">
                <a16:creationId xmlns:a16="http://schemas.microsoft.com/office/drawing/2014/main" id="{5FCB248D-9455-4BA1-B742-84535FE45C90}"/>
              </a:ext>
            </a:extLst>
          </p:cNvPr>
          <p:cNvSpPr txBox="1">
            <a:spLocks/>
          </p:cNvSpPr>
          <p:nvPr/>
        </p:nvSpPr>
        <p:spPr>
          <a:xfrm>
            <a:off x="9448800" y="6491357"/>
            <a:ext cx="2743200"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Font typeface="Arial" panose="020B0604020202020204" pitchFamily="34" charset="0"/>
              <a:buNone/>
            </a:pPr>
            <a:fld id="{9A0DB2DC-4C9A-4742-B13C-FB6460FD3503}" type="slidenum">
              <a:rPr lang="zh-CN" altLang="en-US" sz="1200" smtClean="0">
                <a:solidFill>
                  <a:srgbClr val="898989"/>
                </a:solidFill>
                <a:latin typeface="Arial Black" panose="020B0A04020102020204" charset="0"/>
                <a:cs typeface="Arial Black" panose="020B0A04020102020204" charset="0"/>
                <a:sym typeface="Calibri" panose="020F0502020204030204" charset="0"/>
              </a:rPr>
              <a:pPr algn="r">
                <a:spcBef>
                  <a:spcPct val="0"/>
                </a:spcBef>
                <a:buFont typeface="Arial" panose="020B0604020202020204" pitchFamily="34" charset="0"/>
                <a:buNone/>
              </a:pPr>
              <a:t>5</a:t>
            </a:fld>
            <a:endParaRPr lang="zh-CN" altLang="en-US" sz="1200" dirty="0">
              <a:solidFill>
                <a:srgbClr val="898989"/>
              </a:solidFill>
              <a:latin typeface="Arial Black" panose="020B0A04020102020204" charset="0"/>
              <a:cs typeface="Arial Black" panose="020B0A04020102020204" charset="0"/>
              <a:sym typeface="Calibri" panose="020F0502020204030204" charset="0"/>
            </a:endParaRPr>
          </a:p>
        </p:txBody>
      </p:sp>
      <p:sp>
        <p:nvSpPr>
          <p:cNvPr id="7" name="文本框 6">
            <a:extLst>
              <a:ext uri="{FF2B5EF4-FFF2-40B4-BE49-F238E27FC236}">
                <a16:creationId xmlns:a16="http://schemas.microsoft.com/office/drawing/2014/main" id="{96BC3223-45A2-4BFB-9D9E-F9EF9EC3FF92}"/>
              </a:ext>
            </a:extLst>
          </p:cNvPr>
          <p:cNvSpPr txBox="1"/>
          <p:nvPr/>
        </p:nvSpPr>
        <p:spPr>
          <a:xfrm>
            <a:off x="409575" y="994082"/>
            <a:ext cx="6096000" cy="590033"/>
          </a:xfrm>
          <a:prstGeom prst="rect">
            <a:avLst/>
          </a:prstGeom>
          <a:noFill/>
        </p:spPr>
        <p:txBody>
          <a:bodyPr wrap="square">
            <a:spAutoFit/>
          </a:bodyPr>
          <a:lstStyle/>
          <a:p>
            <a:pPr>
              <a:lnSpc>
                <a:spcPct val="150000"/>
              </a:lnSpc>
              <a:spcAft>
                <a:spcPts val="1200"/>
              </a:spcAft>
            </a:pPr>
            <a:r>
              <a:rPr lang="en-US" altLang="zh-CN" sz="2400" dirty="0"/>
              <a:t>1. </a:t>
            </a:r>
            <a:r>
              <a:rPr lang="en-GB" altLang="zh-CN" sz="2400" dirty="0"/>
              <a:t>Graph Initialization</a:t>
            </a:r>
            <a:endParaRPr lang="en-US" altLang="zh-CN" sz="2400" dirty="0"/>
          </a:p>
        </p:txBody>
      </p:sp>
      <p:sp>
        <p:nvSpPr>
          <p:cNvPr id="18" name="文本框 17">
            <a:extLst>
              <a:ext uri="{FF2B5EF4-FFF2-40B4-BE49-F238E27FC236}">
                <a16:creationId xmlns:a16="http://schemas.microsoft.com/office/drawing/2014/main" id="{1D988659-65A4-49EA-B969-A39795B550DE}"/>
              </a:ext>
            </a:extLst>
          </p:cNvPr>
          <p:cNvSpPr txBox="1"/>
          <p:nvPr/>
        </p:nvSpPr>
        <p:spPr>
          <a:xfrm>
            <a:off x="409575" y="1691576"/>
            <a:ext cx="6096000" cy="400110"/>
          </a:xfrm>
          <a:prstGeom prst="rect">
            <a:avLst/>
          </a:prstGeom>
          <a:noFill/>
        </p:spPr>
        <p:txBody>
          <a:bodyPr wrap="square">
            <a:spAutoFit/>
          </a:bodyPr>
          <a:lstStyle/>
          <a:p>
            <a:r>
              <a:rPr lang="en-US" altLang="zh-CN" sz="2000" b="1" dirty="0"/>
              <a:t>1.2</a:t>
            </a:r>
            <a:endParaRPr lang="zh-CN" altLang="en-US" sz="2000" b="1" dirty="0"/>
          </a:p>
        </p:txBody>
      </p:sp>
      <p:pic>
        <p:nvPicPr>
          <p:cNvPr id="65" name="图片 64">
            <a:extLst>
              <a:ext uri="{FF2B5EF4-FFF2-40B4-BE49-F238E27FC236}">
                <a16:creationId xmlns:a16="http://schemas.microsoft.com/office/drawing/2014/main" id="{D36BB5F4-3CB0-411A-8037-9FB63FC29A21}"/>
              </a:ext>
            </a:extLst>
          </p:cNvPr>
          <p:cNvPicPr>
            <a:picLocks noChangeAspect="1"/>
          </p:cNvPicPr>
          <p:nvPr/>
        </p:nvPicPr>
        <p:blipFill>
          <a:blip r:embed="rId2"/>
          <a:stretch>
            <a:fillRect/>
          </a:stretch>
        </p:blipFill>
        <p:spPr>
          <a:xfrm>
            <a:off x="924629" y="1747294"/>
            <a:ext cx="5653192" cy="1681706"/>
          </a:xfrm>
          <a:prstGeom prst="rect">
            <a:avLst/>
          </a:prstGeom>
        </p:spPr>
      </p:pic>
    </p:spTree>
    <p:extLst>
      <p:ext uri="{BB962C8B-B14F-4D97-AF65-F5344CB8AC3E}">
        <p14:creationId xmlns:p14="http://schemas.microsoft.com/office/powerpoint/2010/main" val="2406689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a:extLst>
              <a:ext uri="{FF2B5EF4-FFF2-40B4-BE49-F238E27FC236}">
                <a16:creationId xmlns:a16="http://schemas.microsoft.com/office/drawing/2014/main" id="{9CD662F3-2163-48A5-A7C9-C2DFCAC0E804}"/>
              </a:ext>
            </a:extLst>
          </p:cNvPr>
          <p:cNvPicPr>
            <a:picLocks noChangeAspect="1"/>
          </p:cNvPicPr>
          <p:nvPr/>
        </p:nvPicPr>
        <p:blipFill>
          <a:blip r:embed="rId2"/>
          <a:stretch>
            <a:fillRect/>
          </a:stretch>
        </p:blipFill>
        <p:spPr>
          <a:xfrm>
            <a:off x="265112" y="4026861"/>
            <a:ext cx="4972050" cy="581025"/>
          </a:xfrm>
          <a:prstGeom prst="rect">
            <a:avLst/>
          </a:prstGeom>
        </p:spPr>
      </p:pic>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15" name="灯片编号占位符 4">
            <a:extLst>
              <a:ext uri="{FF2B5EF4-FFF2-40B4-BE49-F238E27FC236}">
                <a16:creationId xmlns:a16="http://schemas.microsoft.com/office/drawing/2014/main" id="{5FCB248D-9455-4BA1-B742-84535FE45C90}"/>
              </a:ext>
            </a:extLst>
          </p:cNvPr>
          <p:cNvSpPr txBox="1">
            <a:spLocks/>
          </p:cNvSpPr>
          <p:nvPr/>
        </p:nvSpPr>
        <p:spPr>
          <a:xfrm>
            <a:off x="9448800" y="6491357"/>
            <a:ext cx="2743200"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Font typeface="Arial" panose="020B0604020202020204" pitchFamily="34" charset="0"/>
              <a:buNone/>
            </a:pPr>
            <a:fld id="{9A0DB2DC-4C9A-4742-B13C-FB6460FD3503}" type="slidenum">
              <a:rPr lang="zh-CN" altLang="en-US" sz="1200" smtClean="0">
                <a:solidFill>
                  <a:srgbClr val="898989"/>
                </a:solidFill>
                <a:latin typeface="Arial Black" panose="020B0A04020102020204" charset="0"/>
                <a:cs typeface="Arial Black" panose="020B0A04020102020204" charset="0"/>
                <a:sym typeface="Calibri" panose="020F0502020204030204" charset="0"/>
              </a:rPr>
              <a:pPr algn="r">
                <a:spcBef>
                  <a:spcPct val="0"/>
                </a:spcBef>
                <a:buFont typeface="Arial" panose="020B0604020202020204" pitchFamily="34" charset="0"/>
                <a:buNone/>
              </a:pPr>
              <a:t>6</a:t>
            </a:fld>
            <a:endParaRPr lang="zh-CN" altLang="en-US" sz="1200" dirty="0">
              <a:solidFill>
                <a:srgbClr val="898989"/>
              </a:solidFill>
              <a:latin typeface="Arial Black" panose="020B0A04020102020204" charset="0"/>
              <a:cs typeface="Arial Black" panose="020B0A04020102020204" charset="0"/>
              <a:sym typeface="Calibri" panose="020F0502020204030204" charset="0"/>
            </a:endParaRPr>
          </a:p>
        </p:txBody>
      </p:sp>
      <p:sp>
        <p:nvSpPr>
          <p:cNvPr id="7" name="文本框 6">
            <a:extLst>
              <a:ext uri="{FF2B5EF4-FFF2-40B4-BE49-F238E27FC236}">
                <a16:creationId xmlns:a16="http://schemas.microsoft.com/office/drawing/2014/main" id="{96BC3223-45A2-4BFB-9D9E-F9EF9EC3FF92}"/>
              </a:ext>
            </a:extLst>
          </p:cNvPr>
          <p:cNvSpPr txBox="1"/>
          <p:nvPr/>
        </p:nvSpPr>
        <p:spPr>
          <a:xfrm>
            <a:off x="409575" y="994082"/>
            <a:ext cx="6096000" cy="590033"/>
          </a:xfrm>
          <a:prstGeom prst="rect">
            <a:avLst/>
          </a:prstGeom>
          <a:noFill/>
        </p:spPr>
        <p:txBody>
          <a:bodyPr wrap="square">
            <a:spAutoFit/>
          </a:bodyPr>
          <a:lstStyle/>
          <a:p>
            <a:pPr>
              <a:lnSpc>
                <a:spcPct val="150000"/>
              </a:lnSpc>
              <a:spcAft>
                <a:spcPts val="1200"/>
              </a:spcAft>
            </a:pPr>
            <a:r>
              <a:rPr lang="en-US" altLang="zh-CN" sz="2400" dirty="0"/>
              <a:t>2. </a:t>
            </a:r>
            <a:r>
              <a:rPr lang="en-GB" altLang="zh-CN" sz="2400" dirty="0"/>
              <a:t>Vertex Recognition</a:t>
            </a:r>
            <a:endParaRPr lang="en-US" altLang="zh-CN" sz="2400" dirty="0"/>
          </a:p>
        </p:txBody>
      </p:sp>
      <p:pic>
        <p:nvPicPr>
          <p:cNvPr id="4" name="图片 3">
            <a:extLst>
              <a:ext uri="{FF2B5EF4-FFF2-40B4-BE49-F238E27FC236}">
                <a16:creationId xmlns:a16="http://schemas.microsoft.com/office/drawing/2014/main" id="{EB9C2EEF-3B0C-475F-9A01-093102BE9234}"/>
              </a:ext>
            </a:extLst>
          </p:cNvPr>
          <p:cNvPicPr>
            <a:picLocks noChangeAspect="1"/>
          </p:cNvPicPr>
          <p:nvPr/>
        </p:nvPicPr>
        <p:blipFill>
          <a:blip r:embed="rId3"/>
          <a:stretch>
            <a:fillRect/>
          </a:stretch>
        </p:blipFill>
        <p:spPr>
          <a:xfrm>
            <a:off x="3995686" y="3230264"/>
            <a:ext cx="304800" cy="295275"/>
          </a:xfrm>
          <a:prstGeom prst="rect">
            <a:avLst/>
          </a:prstGeom>
        </p:spPr>
      </p:pic>
      <p:cxnSp>
        <p:nvCxnSpPr>
          <p:cNvPr id="12" name="直接连接符 11">
            <a:extLst>
              <a:ext uri="{FF2B5EF4-FFF2-40B4-BE49-F238E27FC236}">
                <a16:creationId xmlns:a16="http://schemas.microsoft.com/office/drawing/2014/main" id="{72176616-9BA3-4DBC-A23B-95A4AAABBCB4}"/>
              </a:ext>
            </a:extLst>
          </p:cNvPr>
          <p:cNvCxnSpPr>
            <a:cxnSpLocks/>
          </p:cNvCxnSpPr>
          <p:nvPr/>
        </p:nvCxnSpPr>
        <p:spPr>
          <a:xfrm flipH="1">
            <a:off x="3817048" y="3531657"/>
            <a:ext cx="200902" cy="590032"/>
          </a:xfrm>
          <a:prstGeom prst="line">
            <a:avLst/>
          </a:prstGeom>
        </p:spPr>
        <p:style>
          <a:lnRef idx="3">
            <a:schemeClr val="accent2"/>
          </a:lnRef>
          <a:fillRef idx="0">
            <a:schemeClr val="accent2"/>
          </a:fillRef>
          <a:effectRef idx="2">
            <a:schemeClr val="accent2"/>
          </a:effectRef>
          <a:fontRef idx="minor">
            <a:schemeClr val="tx1"/>
          </a:fontRef>
        </p:style>
      </p:cxnSp>
      <p:sp>
        <p:nvSpPr>
          <p:cNvPr id="16" name="文本框 15">
            <a:extLst>
              <a:ext uri="{FF2B5EF4-FFF2-40B4-BE49-F238E27FC236}">
                <a16:creationId xmlns:a16="http://schemas.microsoft.com/office/drawing/2014/main" id="{0577B3B2-B6ED-46A2-8447-3147253A1280}"/>
              </a:ext>
            </a:extLst>
          </p:cNvPr>
          <p:cNvSpPr txBox="1"/>
          <p:nvPr/>
        </p:nvSpPr>
        <p:spPr>
          <a:xfrm>
            <a:off x="265112" y="5075251"/>
            <a:ext cx="4451595" cy="923330"/>
          </a:xfrm>
          <a:prstGeom prst="rect">
            <a:avLst/>
          </a:prstGeom>
          <a:noFill/>
        </p:spPr>
        <p:txBody>
          <a:bodyPr wrap="square">
            <a:spAutoFit/>
          </a:bodyPr>
          <a:lstStyle/>
          <a:p>
            <a:r>
              <a:rPr lang="en-GB" altLang="zh-CN" b="1" dirty="0"/>
              <a:t>The mapped utterance-level vertex sampling </a:t>
            </a:r>
            <a:r>
              <a:rPr lang="en-US" altLang="zh-CN" b="1" dirty="0"/>
              <a:t>from the posterior distribution with Gumbel-</a:t>
            </a:r>
            <a:r>
              <a:rPr lang="en-US" altLang="zh-CN" b="1" dirty="0" err="1"/>
              <a:t>Softmax</a:t>
            </a:r>
            <a:endParaRPr lang="zh-CN" altLang="en-US" b="1" dirty="0"/>
          </a:p>
        </p:txBody>
      </p:sp>
      <p:cxnSp>
        <p:nvCxnSpPr>
          <p:cNvPr id="17" name="直接连接符 16">
            <a:extLst>
              <a:ext uri="{FF2B5EF4-FFF2-40B4-BE49-F238E27FC236}">
                <a16:creationId xmlns:a16="http://schemas.microsoft.com/office/drawing/2014/main" id="{CC2058FE-F8A6-4B07-A5BA-7935233E3C56}"/>
              </a:ext>
            </a:extLst>
          </p:cNvPr>
          <p:cNvCxnSpPr>
            <a:cxnSpLocks/>
          </p:cNvCxnSpPr>
          <p:nvPr/>
        </p:nvCxnSpPr>
        <p:spPr>
          <a:xfrm flipH="1">
            <a:off x="811033" y="4538385"/>
            <a:ext cx="96203" cy="536866"/>
          </a:xfrm>
          <a:prstGeom prst="line">
            <a:avLst/>
          </a:prstGeom>
        </p:spPr>
        <p:style>
          <a:lnRef idx="3">
            <a:schemeClr val="accent2"/>
          </a:lnRef>
          <a:fillRef idx="0">
            <a:schemeClr val="accent2"/>
          </a:fillRef>
          <a:effectRef idx="2">
            <a:schemeClr val="accent2"/>
          </a:effectRef>
          <a:fontRef idx="minor">
            <a:schemeClr val="tx1"/>
          </a:fontRef>
        </p:style>
      </p:cxnSp>
      <p:pic>
        <p:nvPicPr>
          <p:cNvPr id="20" name="图片 19">
            <a:extLst>
              <a:ext uri="{FF2B5EF4-FFF2-40B4-BE49-F238E27FC236}">
                <a16:creationId xmlns:a16="http://schemas.microsoft.com/office/drawing/2014/main" id="{1827E23C-4897-43FA-94C1-3701C171C194}"/>
              </a:ext>
            </a:extLst>
          </p:cNvPr>
          <p:cNvPicPr>
            <a:picLocks noChangeAspect="1"/>
          </p:cNvPicPr>
          <p:nvPr/>
        </p:nvPicPr>
        <p:blipFill>
          <a:blip r:embed="rId4"/>
          <a:stretch>
            <a:fillRect/>
          </a:stretch>
        </p:blipFill>
        <p:spPr>
          <a:xfrm>
            <a:off x="867140" y="1774287"/>
            <a:ext cx="4314825" cy="381000"/>
          </a:xfrm>
          <a:prstGeom prst="rect">
            <a:avLst/>
          </a:prstGeom>
        </p:spPr>
      </p:pic>
      <p:sp>
        <p:nvSpPr>
          <p:cNvPr id="23" name="文本框 22">
            <a:extLst>
              <a:ext uri="{FF2B5EF4-FFF2-40B4-BE49-F238E27FC236}">
                <a16:creationId xmlns:a16="http://schemas.microsoft.com/office/drawing/2014/main" id="{8F5FCF53-3BB5-4A25-8C38-0763BF7B95A4}"/>
              </a:ext>
            </a:extLst>
          </p:cNvPr>
          <p:cNvSpPr txBox="1"/>
          <p:nvPr/>
        </p:nvSpPr>
        <p:spPr>
          <a:xfrm>
            <a:off x="409576" y="1774287"/>
            <a:ext cx="622056" cy="400110"/>
          </a:xfrm>
          <a:prstGeom prst="rect">
            <a:avLst/>
          </a:prstGeom>
          <a:noFill/>
        </p:spPr>
        <p:txBody>
          <a:bodyPr wrap="square">
            <a:spAutoFit/>
          </a:bodyPr>
          <a:lstStyle/>
          <a:p>
            <a:r>
              <a:rPr lang="en-US" altLang="zh-CN" sz="2000" b="1" dirty="0"/>
              <a:t>2.1 </a:t>
            </a:r>
            <a:endParaRPr lang="zh-CN" altLang="en-US" sz="2000" b="1" dirty="0"/>
          </a:p>
        </p:txBody>
      </p:sp>
      <p:sp>
        <p:nvSpPr>
          <p:cNvPr id="33" name="文本框 32">
            <a:extLst>
              <a:ext uri="{FF2B5EF4-FFF2-40B4-BE49-F238E27FC236}">
                <a16:creationId xmlns:a16="http://schemas.microsoft.com/office/drawing/2014/main" id="{2753DAFB-2104-4E78-94D7-7C25BEB26F3B}"/>
              </a:ext>
            </a:extLst>
          </p:cNvPr>
          <p:cNvSpPr txBox="1"/>
          <p:nvPr/>
        </p:nvSpPr>
        <p:spPr>
          <a:xfrm>
            <a:off x="2835027" y="2913165"/>
            <a:ext cx="2827020" cy="646331"/>
          </a:xfrm>
          <a:prstGeom prst="rect">
            <a:avLst/>
          </a:prstGeom>
          <a:noFill/>
        </p:spPr>
        <p:txBody>
          <a:bodyPr wrap="square">
            <a:spAutoFit/>
          </a:bodyPr>
          <a:lstStyle/>
          <a:p>
            <a:r>
              <a:rPr lang="en-GB" altLang="zh-CN" b="1" dirty="0"/>
              <a:t>Representation vector of utterance</a:t>
            </a:r>
            <a:endParaRPr lang="zh-CN" altLang="en-US" b="1" dirty="0"/>
          </a:p>
        </p:txBody>
      </p:sp>
      <p:pic>
        <p:nvPicPr>
          <p:cNvPr id="8" name="图片 7">
            <a:extLst>
              <a:ext uri="{FF2B5EF4-FFF2-40B4-BE49-F238E27FC236}">
                <a16:creationId xmlns:a16="http://schemas.microsoft.com/office/drawing/2014/main" id="{AEE32ED4-1E86-47C0-A4C3-6FA7273C116C}"/>
              </a:ext>
            </a:extLst>
          </p:cNvPr>
          <p:cNvPicPr>
            <a:picLocks noChangeAspect="1"/>
          </p:cNvPicPr>
          <p:nvPr/>
        </p:nvPicPr>
        <p:blipFill>
          <a:blip r:embed="rId5"/>
          <a:stretch>
            <a:fillRect/>
          </a:stretch>
        </p:blipFill>
        <p:spPr>
          <a:xfrm>
            <a:off x="6290675" y="2155287"/>
            <a:ext cx="5451359" cy="3937593"/>
          </a:xfrm>
          <a:prstGeom prst="rect">
            <a:avLst/>
          </a:prstGeom>
        </p:spPr>
      </p:pic>
    </p:spTree>
    <p:extLst>
      <p:ext uri="{BB962C8B-B14F-4D97-AF65-F5344CB8AC3E}">
        <p14:creationId xmlns:p14="http://schemas.microsoft.com/office/powerpoint/2010/main" val="2077810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15" name="灯片编号占位符 4">
            <a:extLst>
              <a:ext uri="{FF2B5EF4-FFF2-40B4-BE49-F238E27FC236}">
                <a16:creationId xmlns:a16="http://schemas.microsoft.com/office/drawing/2014/main" id="{5FCB248D-9455-4BA1-B742-84535FE45C90}"/>
              </a:ext>
            </a:extLst>
          </p:cNvPr>
          <p:cNvSpPr txBox="1">
            <a:spLocks/>
          </p:cNvSpPr>
          <p:nvPr/>
        </p:nvSpPr>
        <p:spPr>
          <a:xfrm>
            <a:off x="9448800" y="6491357"/>
            <a:ext cx="2743200"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Font typeface="Arial" panose="020B0604020202020204" pitchFamily="34" charset="0"/>
              <a:buNone/>
            </a:pPr>
            <a:fld id="{9A0DB2DC-4C9A-4742-B13C-FB6460FD3503}" type="slidenum">
              <a:rPr lang="zh-CN" altLang="en-US" sz="1200" smtClean="0">
                <a:solidFill>
                  <a:srgbClr val="898989"/>
                </a:solidFill>
                <a:latin typeface="Arial Black" panose="020B0A04020102020204" charset="0"/>
                <a:cs typeface="Arial Black" panose="020B0A04020102020204" charset="0"/>
                <a:sym typeface="Calibri" panose="020F0502020204030204" charset="0"/>
              </a:rPr>
              <a:pPr algn="r">
                <a:spcBef>
                  <a:spcPct val="0"/>
                </a:spcBef>
                <a:buFont typeface="Arial" panose="020B0604020202020204" pitchFamily="34" charset="0"/>
                <a:buNone/>
              </a:pPr>
              <a:t>7</a:t>
            </a:fld>
            <a:endParaRPr lang="zh-CN" altLang="en-US" sz="1200" dirty="0">
              <a:solidFill>
                <a:srgbClr val="898989"/>
              </a:solidFill>
              <a:latin typeface="Arial Black" panose="020B0A04020102020204" charset="0"/>
              <a:cs typeface="Arial Black" panose="020B0A04020102020204" charset="0"/>
              <a:sym typeface="Calibri" panose="020F0502020204030204" charset="0"/>
            </a:endParaRPr>
          </a:p>
        </p:txBody>
      </p:sp>
      <p:sp>
        <p:nvSpPr>
          <p:cNvPr id="7" name="文本框 6">
            <a:extLst>
              <a:ext uri="{FF2B5EF4-FFF2-40B4-BE49-F238E27FC236}">
                <a16:creationId xmlns:a16="http://schemas.microsoft.com/office/drawing/2014/main" id="{96BC3223-45A2-4BFB-9D9E-F9EF9EC3FF92}"/>
              </a:ext>
            </a:extLst>
          </p:cNvPr>
          <p:cNvSpPr txBox="1"/>
          <p:nvPr/>
        </p:nvSpPr>
        <p:spPr>
          <a:xfrm>
            <a:off x="409575" y="994082"/>
            <a:ext cx="6096000" cy="590033"/>
          </a:xfrm>
          <a:prstGeom prst="rect">
            <a:avLst/>
          </a:prstGeom>
          <a:noFill/>
        </p:spPr>
        <p:txBody>
          <a:bodyPr wrap="square">
            <a:spAutoFit/>
          </a:bodyPr>
          <a:lstStyle/>
          <a:p>
            <a:pPr>
              <a:lnSpc>
                <a:spcPct val="150000"/>
              </a:lnSpc>
              <a:spcAft>
                <a:spcPts val="1200"/>
              </a:spcAft>
            </a:pPr>
            <a:r>
              <a:rPr lang="en-US" altLang="zh-CN" sz="2400" dirty="0"/>
              <a:t>2. </a:t>
            </a:r>
            <a:r>
              <a:rPr lang="en-GB" altLang="zh-CN" sz="2400" dirty="0"/>
              <a:t>Vertex Recognition</a:t>
            </a:r>
            <a:endParaRPr lang="en-US" altLang="zh-CN" sz="2400" dirty="0"/>
          </a:p>
        </p:txBody>
      </p:sp>
      <p:pic>
        <p:nvPicPr>
          <p:cNvPr id="19" name="图片 18">
            <a:extLst>
              <a:ext uri="{FF2B5EF4-FFF2-40B4-BE49-F238E27FC236}">
                <a16:creationId xmlns:a16="http://schemas.microsoft.com/office/drawing/2014/main" id="{5B93377A-03C2-456F-81D6-1EEDD92D95E9}"/>
              </a:ext>
            </a:extLst>
          </p:cNvPr>
          <p:cNvPicPr>
            <a:picLocks noChangeAspect="1"/>
          </p:cNvPicPr>
          <p:nvPr/>
        </p:nvPicPr>
        <p:blipFill rotWithShape="1">
          <a:blip r:embed="rId2"/>
          <a:srcRect r="24409"/>
          <a:stretch/>
        </p:blipFill>
        <p:spPr>
          <a:xfrm>
            <a:off x="2224499" y="2671435"/>
            <a:ext cx="3909648" cy="1057275"/>
          </a:xfrm>
          <a:prstGeom prst="rect">
            <a:avLst/>
          </a:prstGeom>
        </p:spPr>
      </p:pic>
      <p:sp>
        <p:nvSpPr>
          <p:cNvPr id="23" name="文本框 22">
            <a:extLst>
              <a:ext uri="{FF2B5EF4-FFF2-40B4-BE49-F238E27FC236}">
                <a16:creationId xmlns:a16="http://schemas.microsoft.com/office/drawing/2014/main" id="{8F5FCF53-3BB5-4A25-8C38-0763BF7B95A4}"/>
              </a:ext>
            </a:extLst>
          </p:cNvPr>
          <p:cNvSpPr txBox="1"/>
          <p:nvPr/>
        </p:nvSpPr>
        <p:spPr>
          <a:xfrm>
            <a:off x="409576" y="1774287"/>
            <a:ext cx="622056" cy="400110"/>
          </a:xfrm>
          <a:prstGeom prst="rect">
            <a:avLst/>
          </a:prstGeom>
          <a:noFill/>
        </p:spPr>
        <p:txBody>
          <a:bodyPr wrap="square">
            <a:spAutoFit/>
          </a:bodyPr>
          <a:lstStyle/>
          <a:p>
            <a:r>
              <a:rPr lang="en-US" altLang="zh-CN" sz="2000" b="1" dirty="0"/>
              <a:t>2.2 </a:t>
            </a:r>
            <a:endParaRPr lang="zh-CN" altLang="en-US" sz="2000" b="1" dirty="0"/>
          </a:p>
        </p:txBody>
      </p:sp>
      <p:sp>
        <p:nvSpPr>
          <p:cNvPr id="25" name="文本框 24">
            <a:extLst>
              <a:ext uri="{FF2B5EF4-FFF2-40B4-BE49-F238E27FC236}">
                <a16:creationId xmlns:a16="http://schemas.microsoft.com/office/drawing/2014/main" id="{4B5F1ED4-FEAD-4496-BC92-955D8487CE77}"/>
              </a:ext>
            </a:extLst>
          </p:cNvPr>
          <p:cNvSpPr txBox="1"/>
          <p:nvPr/>
        </p:nvSpPr>
        <p:spPr>
          <a:xfrm>
            <a:off x="597777" y="3824702"/>
            <a:ext cx="5172075" cy="923330"/>
          </a:xfrm>
          <a:prstGeom prst="rect">
            <a:avLst/>
          </a:prstGeom>
          <a:noFill/>
        </p:spPr>
        <p:txBody>
          <a:bodyPr wrap="square">
            <a:spAutoFit/>
          </a:bodyPr>
          <a:lstStyle/>
          <a:p>
            <a:r>
              <a:rPr lang="en-GB" altLang="zh-CN" b="1" dirty="0"/>
              <a:t>The j-</a:t>
            </a:r>
            <a:r>
              <a:rPr lang="en-GB" altLang="zh-CN" b="1" dirty="0" err="1"/>
              <a:t>th</a:t>
            </a:r>
            <a:r>
              <a:rPr lang="en-GB" altLang="zh-CN" b="1" dirty="0"/>
              <a:t> layer </a:t>
            </a:r>
            <a:r>
              <a:rPr lang="en-US" altLang="zh-CN" b="1" dirty="0"/>
              <a:t>structure-aware representation of</a:t>
            </a:r>
          </a:p>
          <a:p>
            <a:r>
              <a:rPr lang="en-US" altLang="zh-CN" b="1" dirty="0"/>
              <a:t>utterance-level vertex </a:t>
            </a:r>
            <a:br>
              <a:rPr lang="en-US" altLang="zh-CN" dirty="0"/>
            </a:br>
            <a:endParaRPr lang="zh-CN" altLang="en-US" dirty="0"/>
          </a:p>
        </p:txBody>
      </p:sp>
      <p:pic>
        <p:nvPicPr>
          <p:cNvPr id="24" name="图片 23">
            <a:extLst>
              <a:ext uri="{FF2B5EF4-FFF2-40B4-BE49-F238E27FC236}">
                <a16:creationId xmlns:a16="http://schemas.microsoft.com/office/drawing/2014/main" id="{E338CCC0-C1DF-4630-9BFA-3512F42B2FF4}"/>
              </a:ext>
            </a:extLst>
          </p:cNvPr>
          <p:cNvPicPr>
            <a:picLocks noChangeAspect="1"/>
          </p:cNvPicPr>
          <p:nvPr/>
        </p:nvPicPr>
        <p:blipFill>
          <a:blip r:embed="rId3"/>
          <a:stretch>
            <a:fillRect/>
          </a:stretch>
        </p:blipFill>
        <p:spPr>
          <a:xfrm>
            <a:off x="7921184" y="2452259"/>
            <a:ext cx="2333625" cy="419100"/>
          </a:xfrm>
          <a:prstGeom prst="rect">
            <a:avLst/>
          </a:prstGeom>
        </p:spPr>
      </p:pic>
      <p:cxnSp>
        <p:nvCxnSpPr>
          <p:cNvPr id="29" name="直接连接符 28">
            <a:extLst>
              <a:ext uri="{FF2B5EF4-FFF2-40B4-BE49-F238E27FC236}">
                <a16:creationId xmlns:a16="http://schemas.microsoft.com/office/drawing/2014/main" id="{1257EE42-F4C3-4B89-8537-5BF5F4B62700}"/>
              </a:ext>
            </a:extLst>
          </p:cNvPr>
          <p:cNvCxnSpPr>
            <a:cxnSpLocks/>
          </p:cNvCxnSpPr>
          <p:nvPr/>
        </p:nvCxnSpPr>
        <p:spPr>
          <a:xfrm flipH="1">
            <a:off x="3120044" y="3252569"/>
            <a:ext cx="63770" cy="642161"/>
          </a:xfrm>
          <a:prstGeom prst="line">
            <a:avLst/>
          </a:prstGeom>
        </p:spPr>
        <p:style>
          <a:lnRef idx="3">
            <a:schemeClr val="accent2"/>
          </a:lnRef>
          <a:fillRef idx="0">
            <a:schemeClr val="accent2"/>
          </a:fillRef>
          <a:effectRef idx="2">
            <a:schemeClr val="accent2"/>
          </a:effectRef>
          <a:fontRef idx="minor">
            <a:schemeClr val="tx1"/>
          </a:fontRef>
        </p:style>
      </p:cxnSp>
      <p:pic>
        <p:nvPicPr>
          <p:cNvPr id="30" name="图片 29">
            <a:extLst>
              <a:ext uri="{FF2B5EF4-FFF2-40B4-BE49-F238E27FC236}">
                <a16:creationId xmlns:a16="http://schemas.microsoft.com/office/drawing/2014/main" id="{2CD53A27-6E21-49DE-8AC0-777BFF94B6AE}"/>
              </a:ext>
            </a:extLst>
          </p:cNvPr>
          <p:cNvPicPr>
            <a:picLocks noChangeAspect="1"/>
          </p:cNvPicPr>
          <p:nvPr/>
        </p:nvPicPr>
        <p:blipFill>
          <a:blip r:embed="rId4"/>
          <a:stretch>
            <a:fillRect/>
          </a:stretch>
        </p:blipFill>
        <p:spPr>
          <a:xfrm>
            <a:off x="8559358" y="3739610"/>
            <a:ext cx="1057275" cy="352425"/>
          </a:xfrm>
          <a:prstGeom prst="rect">
            <a:avLst/>
          </a:prstGeom>
        </p:spPr>
      </p:pic>
      <p:pic>
        <p:nvPicPr>
          <p:cNvPr id="3" name="图片 2">
            <a:extLst>
              <a:ext uri="{FF2B5EF4-FFF2-40B4-BE49-F238E27FC236}">
                <a16:creationId xmlns:a16="http://schemas.microsoft.com/office/drawing/2014/main" id="{0F04C624-8829-40D7-A6C2-BF5779505EDE}"/>
              </a:ext>
            </a:extLst>
          </p:cNvPr>
          <p:cNvPicPr>
            <a:picLocks noChangeAspect="1"/>
          </p:cNvPicPr>
          <p:nvPr/>
        </p:nvPicPr>
        <p:blipFill>
          <a:blip r:embed="rId5"/>
          <a:stretch>
            <a:fillRect/>
          </a:stretch>
        </p:blipFill>
        <p:spPr>
          <a:xfrm>
            <a:off x="864917" y="1822349"/>
            <a:ext cx="4133850" cy="342900"/>
          </a:xfrm>
          <a:prstGeom prst="rect">
            <a:avLst/>
          </a:prstGeom>
        </p:spPr>
      </p:pic>
      <p:sp>
        <p:nvSpPr>
          <p:cNvPr id="6" name="箭头: 右 5">
            <a:extLst>
              <a:ext uri="{FF2B5EF4-FFF2-40B4-BE49-F238E27FC236}">
                <a16:creationId xmlns:a16="http://schemas.microsoft.com/office/drawing/2014/main" id="{19F37B47-77DD-41E4-AD3B-CE873C93502F}"/>
              </a:ext>
            </a:extLst>
          </p:cNvPr>
          <p:cNvSpPr/>
          <p:nvPr/>
        </p:nvSpPr>
        <p:spPr>
          <a:xfrm rot="5400000">
            <a:off x="8744117" y="3106728"/>
            <a:ext cx="687755" cy="4191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4FE439E4-1F02-447B-A9FD-03B821BE7A16}"/>
              </a:ext>
            </a:extLst>
          </p:cNvPr>
          <p:cNvSpPr txBox="1"/>
          <p:nvPr/>
        </p:nvSpPr>
        <p:spPr>
          <a:xfrm>
            <a:off x="9198048" y="3028201"/>
            <a:ext cx="719015" cy="369332"/>
          </a:xfrm>
          <a:prstGeom prst="rect">
            <a:avLst/>
          </a:prstGeom>
          <a:noFill/>
        </p:spPr>
        <p:txBody>
          <a:bodyPr wrap="square">
            <a:spAutoFit/>
          </a:bodyPr>
          <a:lstStyle/>
          <a:p>
            <a:r>
              <a:rPr lang="en-US" altLang="zh-CN" b="1" dirty="0"/>
              <a:t>RNN</a:t>
            </a:r>
            <a:endParaRPr lang="zh-CN" altLang="en-US" dirty="0"/>
          </a:p>
        </p:txBody>
      </p:sp>
      <p:pic>
        <p:nvPicPr>
          <p:cNvPr id="14" name="图片 13">
            <a:extLst>
              <a:ext uri="{FF2B5EF4-FFF2-40B4-BE49-F238E27FC236}">
                <a16:creationId xmlns:a16="http://schemas.microsoft.com/office/drawing/2014/main" id="{EC4939ED-C9BC-4002-8889-459359BF728B}"/>
              </a:ext>
            </a:extLst>
          </p:cNvPr>
          <p:cNvPicPr>
            <a:picLocks noChangeAspect="1"/>
          </p:cNvPicPr>
          <p:nvPr/>
        </p:nvPicPr>
        <p:blipFill>
          <a:blip r:embed="rId6"/>
          <a:stretch>
            <a:fillRect/>
          </a:stretch>
        </p:blipFill>
        <p:spPr>
          <a:xfrm>
            <a:off x="6730556" y="5035943"/>
            <a:ext cx="4714875" cy="400050"/>
          </a:xfrm>
          <a:prstGeom prst="rect">
            <a:avLst/>
          </a:prstGeom>
        </p:spPr>
      </p:pic>
      <p:sp>
        <p:nvSpPr>
          <p:cNvPr id="32" name="文本框 31">
            <a:extLst>
              <a:ext uri="{FF2B5EF4-FFF2-40B4-BE49-F238E27FC236}">
                <a16:creationId xmlns:a16="http://schemas.microsoft.com/office/drawing/2014/main" id="{9A0177BD-F5E7-4CA0-9AAF-B9F4E9472031}"/>
              </a:ext>
            </a:extLst>
          </p:cNvPr>
          <p:cNvSpPr txBox="1"/>
          <p:nvPr/>
        </p:nvSpPr>
        <p:spPr>
          <a:xfrm>
            <a:off x="7029692" y="4043636"/>
            <a:ext cx="4336711" cy="369332"/>
          </a:xfrm>
          <a:prstGeom prst="rect">
            <a:avLst/>
          </a:prstGeom>
          <a:noFill/>
        </p:spPr>
        <p:txBody>
          <a:bodyPr wrap="square">
            <a:spAutoFit/>
          </a:bodyPr>
          <a:lstStyle/>
          <a:p>
            <a:r>
              <a:rPr lang="en-GB" altLang="zh-CN" b="1" dirty="0"/>
              <a:t>Structure-aware session representation </a:t>
            </a:r>
            <a:endParaRPr lang="zh-CN" altLang="en-US" b="1" dirty="0"/>
          </a:p>
        </p:txBody>
      </p:sp>
      <p:sp>
        <p:nvSpPr>
          <p:cNvPr id="33" name="文本框 32">
            <a:extLst>
              <a:ext uri="{FF2B5EF4-FFF2-40B4-BE49-F238E27FC236}">
                <a16:creationId xmlns:a16="http://schemas.microsoft.com/office/drawing/2014/main" id="{BBC10D59-822E-495A-AE24-358A9336A228}"/>
              </a:ext>
            </a:extLst>
          </p:cNvPr>
          <p:cNvSpPr txBox="1"/>
          <p:nvPr/>
        </p:nvSpPr>
        <p:spPr>
          <a:xfrm>
            <a:off x="6344095" y="5615725"/>
            <a:ext cx="5487795" cy="923330"/>
          </a:xfrm>
          <a:prstGeom prst="rect">
            <a:avLst/>
          </a:prstGeom>
          <a:noFill/>
        </p:spPr>
        <p:txBody>
          <a:bodyPr wrap="square">
            <a:spAutoFit/>
          </a:bodyPr>
          <a:lstStyle/>
          <a:p>
            <a:r>
              <a:rPr lang="en-GB" altLang="zh-CN" b="1" dirty="0"/>
              <a:t>The mapped session-level vertex</a:t>
            </a:r>
          </a:p>
          <a:p>
            <a:r>
              <a:rPr lang="en-GB" altLang="zh-CN" b="1" dirty="0"/>
              <a:t>sampling </a:t>
            </a:r>
            <a:r>
              <a:rPr lang="en-US" altLang="zh-CN" b="1" dirty="0"/>
              <a:t>from the posterior distribution with Gumbel-</a:t>
            </a:r>
            <a:r>
              <a:rPr lang="en-US" altLang="zh-CN" b="1" dirty="0" err="1"/>
              <a:t>Softmax</a:t>
            </a:r>
            <a:endParaRPr lang="zh-CN" altLang="en-US" b="1" dirty="0"/>
          </a:p>
        </p:txBody>
      </p:sp>
      <p:cxnSp>
        <p:nvCxnSpPr>
          <p:cNvPr id="34" name="直接连接符 33">
            <a:extLst>
              <a:ext uri="{FF2B5EF4-FFF2-40B4-BE49-F238E27FC236}">
                <a16:creationId xmlns:a16="http://schemas.microsoft.com/office/drawing/2014/main" id="{5A3BBF82-B1EB-4B39-BA4B-A39E1C93EBBD}"/>
              </a:ext>
            </a:extLst>
          </p:cNvPr>
          <p:cNvCxnSpPr>
            <a:cxnSpLocks/>
          </p:cNvCxnSpPr>
          <p:nvPr/>
        </p:nvCxnSpPr>
        <p:spPr>
          <a:xfrm>
            <a:off x="7109460" y="5364480"/>
            <a:ext cx="53340" cy="30480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87400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6" grpId="0"/>
      <p:bldP spid="32" grpId="0"/>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15" name="灯片编号占位符 4">
            <a:extLst>
              <a:ext uri="{FF2B5EF4-FFF2-40B4-BE49-F238E27FC236}">
                <a16:creationId xmlns:a16="http://schemas.microsoft.com/office/drawing/2014/main" id="{5FCB248D-9455-4BA1-B742-84535FE45C90}"/>
              </a:ext>
            </a:extLst>
          </p:cNvPr>
          <p:cNvSpPr txBox="1">
            <a:spLocks/>
          </p:cNvSpPr>
          <p:nvPr/>
        </p:nvSpPr>
        <p:spPr>
          <a:xfrm>
            <a:off x="9448800" y="6491357"/>
            <a:ext cx="2743200"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Font typeface="Arial" panose="020B0604020202020204" pitchFamily="34" charset="0"/>
              <a:buNone/>
            </a:pPr>
            <a:fld id="{9A0DB2DC-4C9A-4742-B13C-FB6460FD3503}" type="slidenum">
              <a:rPr lang="zh-CN" altLang="en-US" sz="1200" smtClean="0">
                <a:solidFill>
                  <a:srgbClr val="898989"/>
                </a:solidFill>
                <a:latin typeface="Arial Black" panose="020B0A04020102020204" charset="0"/>
                <a:cs typeface="Arial Black" panose="020B0A04020102020204" charset="0"/>
                <a:sym typeface="Calibri" panose="020F0502020204030204" charset="0"/>
              </a:rPr>
              <a:pPr algn="r">
                <a:spcBef>
                  <a:spcPct val="0"/>
                </a:spcBef>
                <a:buFont typeface="Arial" panose="020B0604020202020204" pitchFamily="34" charset="0"/>
                <a:buNone/>
              </a:pPr>
              <a:t>8</a:t>
            </a:fld>
            <a:endParaRPr lang="zh-CN" altLang="en-US" sz="1200" dirty="0">
              <a:solidFill>
                <a:srgbClr val="898989"/>
              </a:solidFill>
              <a:latin typeface="Arial Black" panose="020B0A04020102020204" charset="0"/>
              <a:cs typeface="Arial Black" panose="020B0A04020102020204" charset="0"/>
              <a:sym typeface="Calibri" panose="020F0502020204030204" charset="0"/>
            </a:endParaRPr>
          </a:p>
        </p:txBody>
      </p:sp>
      <p:sp>
        <p:nvSpPr>
          <p:cNvPr id="7" name="文本框 6">
            <a:extLst>
              <a:ext uri="{FF2B5EF4-FFF2-40B4-BE49-F238E27FC236}">
                <a16:creationId xmlns:a16="http://schemas.microsoft.com/office/drawing/2014/main" id="{96BC3223-45A2-4BFB-9D9E-F9EF9EC3FF92}"/>
              </a:ext>
            </a:extLst>
          </p:cNvPr>
          <p:cNvSpPr txBox="1"/>
          <p:nvPr/>
        </p:nvSpPr>
        <p:spPr>
          <a:xfrm>
            <a:off x="576079" y="1037271"/>
            <a:ext cx="6096000" cy="1144031"/>
          </a:xfrm>
          <a:prstGeom prst="rect">
            <a:avLst/>
          </a:prstGeom>
          <a:noFill/>
        </p:spPr>
        <p:txBody>
          <a:bodyPr wrap="square">
            <a:spAutoFit/>
          </a:bodyPr>
          <a:lstStyle/>
          <a:p>
            <a:pPr>
              <a:lnSpc>
                <a:spcPct val="150000"/>
              </a:lnSpc>
              <a:spcAft>
                <a:spcPts val="1200"/>
              </a:spcAft>
            </a:pPr>
            <a:r>
              <a:rPr lang="en-US" altLang="zh-CN" sz="2400" dirty="0"/>
              <a:t>3. </a:t>
            </a:r>
            <a:r>
              <a:rPr lang="en-GB" altLang="zh-CN" sz="2400" dirty="0"/>
              <a:t>Utterance Reconstruction </a:t>
            </a:r>
            <a:br>
              <a:rPr lang="en-GB" altLang="zh-CN" sz="2400" dirty="0"/>
            </a:br>
            <a:endParaRPr lang="en-US" altLang="zh-CN" sz="2400" dirty="0"/>
          </a:p>
        </p:txBody>
      </p:sp>
      <p:pic>
        <p:nvPicPr>
          <p:cNvPr id="2" name="图片 1">
            <a:extLst>
              <a:ext uri="{FF2B5EF4-FFF2-40B4-BE49-F238E27FC236}">
                <a16:creationId xmlns:a16="http://schemas.microsoft.com/office/drawing/2014/main" id="{002F3879-CCFF-4F04-BF81-3124771B5A21}"/>
              </a:ext>
            </a:extLst>
          </p:cNvPr>
          <p:cNvPicPr>
            <a:picLocks noChangeAspect="1"/>
          </p:cNvPicPr>
          <p:nvPr/>
        </p:nvPicPr>
        <p:blipFill>
          <a:blip r:embed="rId2"/>
          <a:stretch>
            <a:fillRect/>
          </a:stretch>
        </p:blipFill>
        <p:spPr>
          <a:xfrm>
            <a:off x="659899" y="1802130"/>
            <a:ext cx="5753100" cy="3467100"/>
          </a:xfrm>
          <a:prstGeom prst="rect">
            <a:avLst/>
          </a:prstGeom>
        </p:spPr>
      </p:pic>
      <p:pic>
        <p:nvPicPr>
          <p:cNvPr id="6" name="图片 5">
            <a:extLst>
              <a:ext uri="{FF2B5EF4-FFF2-40B4-BE49-F238E27FC236}">
                <a16:creationId xmlns:a16="http://schemas.microsoft.com/office/drawing/2014/main" id="{A47D9B63-7000-4452-8A82-ABC258C6836F}"/>
              </a:ext>
            </a:extLst>
          </p:cNvPr>
          <p:cNvPicPr>
            <a:picLocks noChangeAspect="1"/>
          </p:cNvPicPr>
          <p:nvPr/>
        </p:nvPicPr>
        <p:blipFill>
          <a:blip r:embed="rId3"/>
          <a:stretch>
            <a:fillRect/>
          </a:stretch>
        </p:blipFill>
        <p:spPr>
          <a:xfrm>
            <a:off x="823729" y="5405507"/>
            <a:ext cx="5600700" cy="1085850"/>
          </a:xfrm>
          <a:prstGeom prst="rect">
            <a:avLst/>
          </a:prstGeom>
        </p:spPr>
      </p:pic>
      <p:sp>
        <p:nvSpPr>
          <p:cNvPr id="20" name="文本框 19">
            <a:extLst>
              <a:ext uri="{FF2B5EF4-FFF2-40B4-BE49-F238E27FC236}">
                <a16:creationId xmlns:a16="http://schemas.microsoft.com/office/drawing/2014/main" id="{114146F5-AA03-40B6-90DD-1F3B1EC300FD}"/>
              </a:ext>
            </a:extLst>
          </p:cNvPr>
          <p:cNvSpPr txBox="1"/>
          <p:nvPr/>
        </p:nvSpPr>
        <p:spPr>
          <a:xfrm>
            <a:off x="6757402" y="3228945"/>
            <a:ext cx="2257058" cy="400110"/>
          </a:xfrm>
          <a:prstGeom prst="rect">
            <a:avLst/>
          </a:prstGeom>
          <a:noFill/>
        </p:spPr>
        <p:txBody>
          <a:bodyPr wrap="square">
            <a:spAutoFit/>
          </a:bodyPr>
          <a:lstStyle/>
          <a:p>
            <a:r>
              <a:rPr lang="en-GB" altLang="zh-CN" sz="2000" b="1" dirty="0"/>
              <a:t>log-likelihood</a:t>
            </a:r>
            <a:endParaRPr lang="zh-CN" altLang="en-US" dirty="0"/>
          </a:p>
        </p:txBody>
      </p:sp>
      <p:pic>
        <p:nvPicPr>
          <p:cNvPr id="21" name="图片 20">
            <a:extLst>
              <a:ext uri="{FF2B5EF4-FFF2-40B4-BE49-F238E27FC236}">
                <a16:creationId xmlns:a16="http://schemas.microsoft.com/office/drawing/2014/main" id="{50C6CB29-7DC7-4F9E-A19B-B0F2FB3768A6}"/>
              </a:ext>
            </a:extLst>
          </p:cNvPr>
          <p:cNvPicPr>
            <a:picLocks noChangeAspect="1"/>
          </p:cNvPicPr>
          <p:nvPr/>
        </p:nvPicPr>
        <p:blipFill rotWithShape="1">
          <a:blip r:embed="rId3"/>
          <a:srcRect b="49656"/>
          <a:stretch/>
        </p:blipFill>
        <p:spPr>
          <a:xfrm>
            <a:off x="6672078" y="2181302"/>
            <a:ext cx="5519921" cy="546658"/>
          </a:xfrm>
          <a:prstGeom prst="rect">
            <a:avLst/>
          </a:prstGeom>
        </p:spPr>
      </p:pic>
      <p:cxnSp>
        <p:nvCxnSpPr>
          <p:cNvPr id="22" name="直接连接符 21">
            <a:extLst>
              <a:ext uri="{FF2B5EF4-FFF2-40B4-BE49-F238E27FC236}">
                <a16:creationId xmlns:a16="http://schemas.microsoft.com/office/drawing/2014/main" id="{8E78FC99-97F9-4E1C-91D3-6C44DAD0FB9A}"/>
              </a:ext>
            </a:extLst>
          </p:cNvPr>
          <p:cNvCxnSpPr>
            <a:cxnSpLocks/>
            <a:endCxn id="20" idx="0"/>
          </p:cNvCxnSpPr>
          <p:nvPr/>
        </p:nvCxnSpPr>
        <p:spPr>
          <a:xfrm flipH="1">
            <a:off x="7885931" y="2621280"/>
            <a:ext cx="511309" cy="607665"/>
          </a:xfrm>
          <a:prstGeom prst="line">
            <a:avLst/>
          </a:prstGeom>
        </p:spPr>
        <p:style>
          <a:lnRef idx="3">
            <a:schemeClr val="accent2"/>
          </a:lnRef>
          <a:fillRef idx="0">
            <a:schemeClr val="accent2"/>
          </a:fillRef>
          <a:effectRef idx="2">
            <a:schemeClr val="accent2"/>
          </a:effectRef>
          <a:fontRef idx="minor">
            <a:schemeClr val="tx1"/>
          </a:fontRef>
        </p:style>
      </p:cxnSp>
      <p:pic>
        <p:nvPicPr>
          <p:cNvPr id="14" name="图片 13">
            <a:extLst>
              <a:ext uri="{FF2B5EF4-FFF2-40B4-BE49-F238E27FC236}">
                <a16:creationId xmlns:a16="http://schemas.microsoft.com/office/drawing/2014/main" id="{B80BF5B1-8D07-4FC6-8E02-B8BE026151B2}"/>
              </a:ext>
            </a:extLst>
          </p:cNvPr>
          <p:cNvPicPr>
            <a:picLocks noChangeAspect="1"/>
          </p:cNvPicPr>
          <p:nvPr/>
        </p:nvPicPr>
        <p:blipFill>
          <a:blip r:embed="rId4"/>
          <a:stretch>
            <a:fillRect/>
          </a:stretch>
        </p:blipFill>
        <p:spPr>
          <a:xfrm>
            <a:off x="7641907" y="3822392"/>
            <a:ext cx="4458653" cy="787266"/>
          </a:xfrm>
          <a:prstGeom prst="rect">
            <a:avLst/>
          </a:prstGeom>
        </p:spPr>
      </p:pic>
      <p:cxnSp>
        <p:nvCxnSpPr>
          <p:cNvPr id="24" name="直接连接符 23">
            <a:extLst>
              <a:ext uri="{FF2B5EF4-FFF2-40B4-BE49-F238E27FC236}">
                <a16:creationId xmlns:a16="http://schemas.microsoft.com/office/drawing/2014/main" id="{92DADD0E-F824-4A51-83F9-AE118BC30BA8}"/>
              </a:ext>
            </a:extLst>
          </p:cNvPr>
          <p:cNvCxnSpPr>
            <a:cxnSpLocks/>
          </p:cNvCxnSpPr>
          <p:nvPr/>
        </p:nvCxnSpPr>
        <p:spPr>
          <a:xfrm flipH="1">
            <a:off x="9870172" y="2674620"/>
            <a:ext cx="617220" cy="1341120"/>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331483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7" name="文本框 6">
            <a:extLst>
              <a:ext uri="{FF2B5EF4-FFF2-40B4-BE49-F238E27FC236}">
                <a16:creationId xmlns:a16="http://schemas.microsoft.com/office/drawing/2014/main" id="{96BC3223-45A2-4BFB-9D9E-F9EF9EC3FF92}"/>
              </a:ext>
            </a:extLst>
          </p:cNvPr>
          <p:cNvSpPr txBox="1"/>
          <p:nvPr/>
        </p:nvSpPr>
        <p:spPr>
          <a:xfrm>
            <a:off x="576079" y="1037271"/>
            <a:ext cx="4232141" cy="1144031"/>
          </a:xfrm>
          <a:prstGeom prst="rect">
            <a:avLst/>
          </a:prstGeom>
          <a:noFill/>
        </p:spPr>
        <p:txBody>
          <a:bodyPr wrap="square">
            <a:spAutoFit/>
          </a:bodyPr>
          <a:lstStyle/>
          <a:p>
            <a:pPr>
              <a:lnSpc>
                <a:spcPct val="150000"/>
              </a:lnSpc>
              <a:spcAft>
                <a:spcPts val="1200"/>
              </a:spcAft>
            </a:pPr>
            <a:r>
              <a:rPr lang="en-US" altLang="zh-CN" sz="2400" dirty="0"/>
              <a:t>4. </a:t>
            </a:r>
            <a:r>
              <a:rPr lang="en-GB" altLang="zh-CN" sz="2400" dirty="0"/>
              <a:t>Graph Construction</a:t>
            </a:r>
            <a:br>
              <a:rPr lang="en-GB" altLang="zh-CN" sz="2400" dirty="0"/>
            </a:br>
            <a:endParaRPr lang="en-US" altLang="zh-CN" sz="2400" dirty="0"/>
          </a:p>
        </p:txBody>
      </p:sp>
      <p:pic>
        <p:nvPicPr>
          <p:cNvPr id="13" name="图片 12">
            <a:extLst>
              <a:ext uri="{FF2B5EF4-FFF2-40B4-BE49-F238E27FC236}">
                <a16:creationId xmlns:a16="http://schemas.microsoft.com/office/drawing/2014/main" id="{51C3F644-5B01-484A-89E3-72F84ABAD811}"/>
              </a:ext>
            </a:extLst>
          </p:cNvPr>
          <p:cNvPicPr>
            <a:picLocks noChangeAspect="1"/>
          </p:cNvPicPr>
          <p:nvPr/>
        </p:nvPicPr>
        <p:blipFill rotWithShape="1">
          <a:blip r:embed="rId2"/>
          <a:srcRect b="17778"/>
          <a:stretch/>
        </p:blipFill>
        <p:spPr>
          <a:xfrm>
            <a:off x="576079" y="1609286"/>
            <a:ext cx="10440084" cy="2880839"/>
          </a:xfrm>
          <a:prstGeom prst="rect">
            <a:avLst/>
          </a:prstGeom>
        </p:spPr>
      </p:pic>
      <p:sp>
        <p:nvSpPr>
          <p:cNvPr id="8" name="文本框 7">
            <a:extLst>
              <a:ext uri="{FF2B5EF4-FFF2-40B4-BE49-F238E27FC236}">
                <a16:creationId xmlns:a16="http://schemas.microsoft.com/office/drawing/2014/main" id="{70C4ED8B-0ABE-4504-A44B-03B1E3F79557}"/>
              </a:ext>
            </a:extLst>
          </p:cNvPr>
          <p:cNvSpPr txBox="1"/>
          <p:nvPr/>
        </p:nvSpPr>
        <p:spPr>
          <a:xfrm>
            <a:off x="576079" y="4662030"/>
            <a:ext cx="8552290" cy="1429622"/>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altLang="zh-CN" sz="2000" b="0" i="0" dirty="0">
                <a:solidFill>
                  <a:srgbClr val="000000"/>
                </a:solidFill>
                <a:effectLst/>
                <a:latin typeface="NimbusRomNo9L-Regu"/>
              </a:rPr>
              <a:t>Map all dialog sessions in corpus to vertices</a:t>
            </a:r>
          </a:p>
          <a:p>
            <a:pPr marL="342900" indent="-342900">
              <a:lnSpc>
                <a:spcPct val="150000"/>
              </a:lnSpc>
              <a:buFont typeface="Wingdings" panose="05000000000000000000" pitchFamily="2" charset="2"/>
              <a:buChar char="Ø"/>
            </a:pPr>
            <a:r>
              <a:rPr lang="en-US" altLang="zh-CN" sz="2000" b="0" i="0" dirty="0">
                <a:solidFill>
                  <a:srgbClr val="000000"/>
                </a:solidFill>
                <a:effectLst/>
                <a:latin typeface="NimbusRomNo9L-Regu"/>
              </a:rPr>
              <a:t>Collect co-occurrence statistics of these mapped vertices</a:t>
            </a:r>
          </a:p>
          <a:p>
            <a:pPr marL="342900" indent="-342900">
              <a:lnSpc>
                <a:spcPct val="150000"/>
              </a:lnSpc>
              <a:buFont typeface="Wingdings" panose="05000000000000000000" pitchFamily="2" charset="2"/>
              <a:buChar char="Ø"/>
            </a:pPr>
            <a:r>
              <a:rPr lang="en-US" altLang="zh-CN" sz="2000" b="0" i="0" dirty="0">
                <a:solidFill>
                  <a:srgbClr val="000000"/>
                </a:solidFill>
                <a:effectLst/>
                <a:latin typeface="NimbusRomNo9L-Regu"/>
              </a:rPr>
              <a:t>Build edges between vertices based on these co-occurrence statistics</a:t>
            </a:r>
          </a:p>
        </p:txBody>
      </p:sp>
    </p:spTree>
    <p:extLst>
      <p:ext uri="{BB962C8B-B14F-4D97-AF65-F5344CB8AC3E}">
        <p14:creationId xmlns:p14="http://schemas.microsoft.com/office/powerpoint/2010/main" val="4291377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7" name="文本框 6">
            <a:extLst>
              <a:ext uri="{FF2B5EF4-FFF2-40B4-BE49-F238E27FC236}">
                <a16:creationId xmlns:a16="http://schemas.microsoft.com/office/drawing/2014/main" id="{96BC3223-45A2-4BFB-9D9E-F9EF9EC3FF92}"/>
              </a:ext>
            </a:extLst>
          </p:cNvPr>
          <p:cNvSpPr txBox="1"/>
          <p:nvPr/>
        </p:nvSpPr>
        <p:spPr>
          <a:xfrm>
            <a:off x="576079" y="1037271"/>
            <a:ext cx="6879798" cy="1144031"/>
          </a:xfrm>
          <a:prstGeom prst="rect">
            <a:avLst/>
          </a:prstGeom>
          <a:noFill/>
        </p:spPr>
        <p:txBody>
          <a:bodyPr wrap="square">
            <a:spAutoFit/>
          </a:bodyPr>
          <a:lstStyle/>
          <a:p>
            <a:pPr>
              <a:lnSpc>
                <a:spcPct val="150000"/>
              </a:lnSpc>
              <a:spcAft>
                <a:spcPts val="1200"/>
              </a:spcAft>
            </a:pPr>
            <a:r>
              <a:rPr lang="en-US" altLang="zh-CN" sz="2400" dirty="0"/>
              <a:t>5. </a:t>
            </a:r>
            <a:r>
              <a:rPr lang="en-GB" altLang="zh-CN" sz="2400" dirty="0"/>
              <a:t>Graph Grounded Dialog Generation</a:t>
            </a:r>
            <a:br>
              <a:rPr lang="en-GB" altLang="zh-CN" sz="2400" dirty="0"/>
            </a:br>
            <a:endParaRPr lang="en-US" altLang="zh-CN" sz="2400" dirty="0"/>
          </a:p>
        </p:txBody>
      </p:sp>
      <p:sp>
        <p:nvSpPr>
          <p:cNvPr id="11" name="文本框 10">
            <a:extLst>
              <a:ext uri="{FF2B5EF4-FFF2-40B4-BE49-F238E27FC236}">
                <a16:creationId xmlns:a16="http://schemas.microsoft.com/office/drawing/2014/main" id="{A445C22A-5FAB-445D-8E67-68039282C08D}"/>
              </a:ext>
            </a:extLst>
          </p:cNvPr>
          <p:cNvSpPr txBox="1"/>
          <p:nvPr/>
        </p:nvSpPr>
        <p:spPr>
          <a:xfrm>
            <a:off x="652279" y="3944996"/>
            <a:ext cx="8842241" cy="3185487"/>
          </a:xfrm>
          <a:prstGeom prst="rect">
            <a:avLst/>
          </a:prstGeom>
          <a:noFill/>
        </p:spPr>
        <p:txBody>
          <a:bodyPr wrap="square">
            <a:spAutoFit/>
          </a:bodyPr>
          <a:lstStyle/>
          <a:p>
            <a:pPr>
              <a:spcAft>
                <a:spcPts val="600"/>
              </a:spcAft>
            </a:pPr>
            <a:r>
              <a:rPr lang="en-US" altLang="zh-CN" sz="2000" b="1" dirty="0">
                <a:solidFill>
                  <a:srgbClr val="000000"/>
                </a:solidFill>
                <a:latin typeface="NimbusRomNo9L-Regu"/>
              </a:rPr>
              <a:t>Three Modules:</a:t>
            </a:r>
          </a:p>
          <a:p>
            <a:pPr marL="285750" indent="-285750">
              <a:spcAft>
                <a:spcPts val="1200"/>
              </a:spcAft>
              <a:buFont typeface="Wingdings" panose="05000000000000000000" pitchFamily="2" charset="2"/>
              <a:buChar char="Ø"/>
            </a:pPr>
            <a:r>
              <a:rPr lang="en-US" altLang="zh-CN" sz="2200" dirty="0">
                <a:solidFill>
                  <a:srgbClr val="000000"/>
                </a:solidFill>
                <a:latin typeface="NimbusRomNo9L-Regu"/>
              </a:rPr>
              <a:t>A dialog context understanding module that maps given dialog context (the previous two utterances) to an utterance-level vertex in the graph </a:t>
            </a:r>
          </a:p>
          <a:p>
            <a:pPr marL="285750" indent="-285750">
              <a:spcAft>
                <a:spcPts val="1200"/>
              </a:spcAft>
              <a:buFont typeface="Wingdings" panose="05000000000000000000" pitchFamily="2" charset="2"/>
              <a:buChar char="Ø"/>
            </a:pPr>
            <a:r>
              <a:rPr lang="en-US" altLang="zh-CN" sz="2200" dirty="0">
                <a:solidFill>
                  <a:srgbClr val="000000"/>
                </a:solidFill>
                <a:latin typeface="NimbusRomNo9L-Regu"/>
              </a:rPr>
              <a:t>A hierarchical policy for two-level vertex selection</a:t>
            </a:r>
          </a:p>
          <a:p>
            <a:pPr marL="285750" indent="-285750">
              <a:spcAft>
                <a:spcPts val="1200"/>
              </a:spcAft>
              <a:buFont typeface="Wingdings" panose="05000000000000000000" pitchFamily="2" charset="2"/>
              <a:buChar char="Ø"/>
            </a:pPr>
            <a:r>
              <a:rPr lang="en-US" altLang="zh-CN" sz="2200" dirty="0">
                <a:solidFill>
                  <a:srgbClr val="000000"/>
                </a:solidFill>
                <a:latin typeface="NimbusRomNo9L-Regu"/>
              </a:rPr>
              <a:t>A response generator that generate an appropriate response based on the selected utterance-level vertex </a:t>
            </a:r>
            <a:br>
              <a:rPr lang="en-US" altLang="zh-CN" sz="2000" dirty="0"/>
            </a:br>
            <a:endParaRPr lang="en-US" altLang="zh-CN" dirty="0"/>
          </a:p>
          <a:p>
            <a:endParaRPr lang="zh-CN" altLang="en-US" dirty="0"/>
          </a:p>
        </p:txBody>
      </p:sp>
      <p:pic>
        <p:nvPicPr>
          <p:cNvPr id="15" name="图片 14">
            <a:extLst>
              <a:ext uri="{FF2B5EF4-FFF2-40B4-BE49-F238E27FC236}">
                <a16:creationId xmlns:a16="http://schemas.microsoft.com/office/drawing/2014/main" id="{066A60E0-70EF-4C37-9DA5-A53B418620C3}"/>
              </a:ext>
            </a:extLst>
          </p:cNvPr>
          <p:cNvPicPr>
            <a:picLocks noChangeAspect="1"/>
          </p:cNvPicPr>
          <p:nvPr/>
        </p:nvPicPr>
        <p:blipFill rotWithShape="1">
          <a:blip r:embed="rId2"/>
          <a:srcRect b="18472"/>
          <a:stretch/>
        </p:blipFill>
        <p:spPr>
          <a:xfrm>
            <a:off x="6293040" y="390602"/>
            <a:ext cx="5547005" cy="3764280"/>
          </a:xfrm>
          <a:prstGeom prst="rect">
            <a:avLst/>
          </a:prstGeom>
        </p:spPr>
      </p:pic>
    </p:spTree>
    <p:extLst>
      <p:ext uri="{BB962C8B-B14F-4D97-AF65-F5344CB8AC3E}">
        <p14:creationId xmlns:p14="http://schemas.microsoft.com/office/powerpoint/2010/main" val="3528671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7" name="文本框 6">
            <a:extLst>
              <a:ext uri="{FF2B5EF4-FFF2-40B4-BE49-F238E27FC236}">
                <a16:creationId xmlns:a16="http://schemas.microsoft.com/office/drawing/2014/main" id="{96BC3223-45A2-4BFB-9D9E-F9EF9EC3FF92}"/>
              </a:ext>
            </a:extLst>
          </p:cNvPr>
          <p:cNvSpPr txBox="1"/>
          <p:nvPr/>
        </p:nvSpPr>
        <p:spPr>
          <a:xfrm>
            <a:off x="576079" y="1037271"/>
            <a:ext cx="6879798" cy="1144031"/>
          </a:xfrm>
          <a:prstGeom prst="rect">
            <a:avLst/>
          </a:prstGeom>
          <a:noFill/>
        </p:spPr>
        <p:txBody>
          <a:bodyPr wrap="square">
            <a:spAutoFit/>
          </a:bodyPr>
          <a:lstStyle/>
          <a:p>
            <a:pPr>
              <a:lnSpc>
                <a:spcPct val="150000"/>
              </a:lnSpc>
              <a:spcAft>
                <a:spcPts val="1200"/>
              </a:spcAft>
            </a:pPr>
            <a:r>
              <a:rPr lang="en-US" altLang="zh-CN" sz="2400" dirty="0"/>
              <a:t>5. </a:t>
            </a:r>
            <a:r>
              <a:rPr lang="en-GB" altLang="zh-CN" sz="2400" dirty="0"/>
              <a:t>Graph Grounded Dialog Generation</a:t>
            </a:r>
            <a:br>
              <a:rPr lang="en-GB" altLang="zh-CN" sz="2400" dirty="0"/>
            </a:br>
            <a:endParaRPr lang="en-US" altLang="zh-CN" sz="2400" dirty="0"/>
          </a:p>
        </p:txBody>
      </p:sp>
      <p:sp>
        <p:nvSpPr>
          <p:cNvPr id="11" name="文本框 10">
            <a:extLst>
              <a:ext uri="{FF2B5EF4-FFF2-40B4-BE49-F238E27FC236}">
                <a16:creationId xmlns:a16="http://schemas.microsoft.com/office/drawing/2014/main" id="{A445C22A-5FAB-445D-8E67-68039282C08D}"/>
              </a:ext>
            </a:extLst>
          </p:cNvPr>
          <p:cNvSpPr txBox="1"/>
          <p:nvPr/>
        </p:nvSpPr>
        <p:spPr>
          <a:xfrm>
            <a:off x="576079" y="1781192"/>
            <a:ext cx="8355776" cy="430887"/>
          </a:xfrm>
          <a:prstGeom prst="rect">
            <a:avLst/>
          </a:prstGeom>
          <a:noFill/>
        </p:spPr>
        <p:txBody>
          <a:bodyPr wrap="square">
            <a:spAutoFit/>
          </a:bodyPr>
          <a:lstStyle/>
          <a:p>
            <a:pPr marL="285750" indent="-285750">
              <a:buFont typeface="Wingdings" panose="05000000000000000000" pitchFamily="2" charset="2"/>
              <a:buChar char="Ø"/>
            </a:pPr>
            <a:r>
              <a:rPr lang="en-US" altLang="zh-CN" sz="2200" dirty="0">
                <a:solidFill>
                  <a:srgbClr val="000000"/>
                </a:solidFill>
                <a:latin typeface="NimbusRomNo9L-Regu"/>
              </a:rPr>
              <a:t>A hierarchical policy for two-level vertex selection</a:t>
            </a:r>
            <a:endParaRPr lang="en-US" altLang="zh-CN" sz="2200" dirty="0"/>
          </a:p>
        </p:txBody>
      </p:sp>
      <p:pic>
        <p:nvPicPr>
          <p:cNvPr id="2" name="图片 1">
            <a:extLst>
              <a:ext uri="{FF2B5EF4-FFF2-40B4-BE49-F238E27FC236}">
                <a16:creationId xmlns:a16="http://schemas.microsoft.com/office/drawing/2014/main" id="{949EDDFB-F4EC-474C-B3FE-49467E6AD693}"/>
              </a:ext>
            </a:extLst>
          </p:cNvPr>
          <p:cNvPicPr>
            <a:picLocks noChangeAspect="1"/>
          </p:cNvPicPr>
          <p:nvPr/>
        </p:nvPicPr>
        <p:blipFill>
          <a:blip r:embed="rId2"/>
          <a:stretch>
            <a:fillRect/>
          </a:stretch>
        </p:blipFill>
        <p:spPr>
          <a:xfrm>
            <a:off x="6899633" y="2304616"/>
            <a:ext cx="5198582" cy="2864525"/>
          </a:xfrm>
          <a:prstGeom prst="rect">
            <a:avLst/>
          </a:prstGeom>
        </p:spPr>
      </p:pic>
      <p:pic>
        <p:nvPicPr>
          <p:cNvPr id="3" name="图片 2">
            <a:extLst>
              <a:ext uri="{FF2B5EF4-FFF2-40B4-BE49-F238E27FC236}">
                <a16:creationId xmlns:a16="http://schemas.microsoft.com/office/drawing/2014/main" id="{8BA78930-E08B-4820-8F2D-0CB1FCFD084C}"/>
              </a:ext>
            </a:extLst>
          </p:cNvPr>
          <p:cNvPicPr>
            <a:picLocks noChangeAspect="1"/>
          </p:cNvPicPr>
          <p:nvPr/>
        </p:nvPicPr>
        <p:blipFill>
          <a:blip r:embed="rId3"/>
          <a:stretch>
            <a:fillRect/>
          </a:stretch>
        </p:blipFill>
        <p:spPr>
          <a:xfrm>
            <a:off x="771280" y="3935832"/>
            <a:ext cx="4914900" cy="981075"/>
          </a:xfrm>
          <a:prstGeom prst="rect">
            <a:avLst/>
          </a:prstGeom>
        </p:spPr>
      </p:pic>
      <p:sp>
        <p:nvSpPr>
          <p:cNvPr id="12" name="文本框 11">
            <a:extLst>
              <a:ext uri="{FF2B5EF4-FFF2-40B4-BE49-F238E27FC236}">
                <a16:creationId xmlns:a16="http://schemas.microsoft.com/office/drawing/2014/main" id="{AF9ACABC-6E2D-4E7B-9A6B-7C999971884E}"/>
              </a:ext>
            </a:extLst>
          </p:cNvPr>
          <p:cNvSpPr txBox="1"/>
          <p:nvPr/>
        </p:nvSpPr>
        <p:spPr>
          <a:xfrm>
            <a:off x="576079" y="2304616"/>
            <a:ext cx="6663348" cy="1323439"/>
          </a:xfrm>
          <a:prstGeom prst="rect">
            <a:avLst/>
          </a:prstGeom>
          <a:noFill/>
        </p:spPr>
        <p:txBody>
          <a:bodyPr wrap="square">
            <a:spAutoFit/>
          </a:bodyPr>
          <a:lstStyle/>
          <a:p>
            <a:r>
              <a:rPr lang="en-GB" altLang="zh-CN" sz="2000" b="1" dirty="0">
                <a:solidFill>
                  <a:srgbClr val="000000"/>
                </a:solidFill>
                <a:latin typeface="NimbusRomNo9L-Regu"/>
              </a:rPr>
              <a:t>Session-level sub-policy </a:t>
            </a:r>
            <a:br>
              <a:rPr lang="en-GB" altLang="zh-CN" sz="2000" dirty="0">
                <a:solidFill>
                  <a:srgbClr val="000000"/>
                </a:solidFill>
                <a:latin typeface="NimbusRomNo9L-Regu"/>
              </a:rPr>
            </a:br>
            <a:r>
              <a:rPr lang="en-US" altLang="zh-CN" sz="2000" dirty="0">
                <a:solidFill>
                  <a:srgbClr val="000000"/>
                </a:solidFill>
                <a:latin typeface="NimbusRomNo9L-Regu"/>
              </a:rPr>
              <a:t>Select a session-level vertex from all parent session-level vertices of current mapped utterance-level vertex </a:t>
            </a:r>
            <a:br>
              <a:rPr lang="en-US" altLang="zh-CN" sz="2000" dirty="0">
                <a:solidFill>
                  <a:srgbClr val="000000"/>
                </a:solidFill>
                <a:latin typeface="NimbusRomNo9L-Regu"/>
              </a:rPr>
            </a:br>
            <a:endParaRPr lang="zh-CN" altLang="en-US" sz="2000" dirty="0">
              <a:solidFill>
                <a:srgbClr val="000000"/>
              </a:solidFill>
              <a:latin typeface="NimbusRomNo9L-Regu"/>
            </a:endParaRPr>
          </a:p>
        </p:txBody>
      </p:sp>
    </p:spTree>
    <p:extLst>
      <p:ext uri="{BB962C8B-B14F-4D97-AF65-F5344CB8AC3E}">
        <p14:creationId xmlns:p14="http://schemas.microsoft.com/office/powerpoint/2010/main" val="1642883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7" name="文本框 6">
            <a:extLst>
              <a:ext uri="{FF2B5EF4-FFF2-40B4-BE49-F238E27FC236}">
                <a16:creationId xmlns:a16="http://schemas.microsoft.com/office/drawing/2014/main" id="{96BC3223-45A2-4BFB-9D9E-F9EF9EC3FF92}"/>
              </a:ext>
            </a:extLst>
          </p:cNvPr>
          <p:cNvSpPr txBox="1"/>
          <p:nvPr/>
        </p:nvSpPr>
        <p:spPr>
          <a:xfrm>
            <a:off x="576079" y="1037271"/>
            <a:ext cx="6879798" cy="1144031"/>
          </a:xfrm>
          <a:prstGeom prst="rect">
            <a:avLst/>
          </a:prstGeom>
          <a:noFill/>
        </p:spPr>
        <p:txBody>
          <a:bodyPr wrap="square">
            <a:spAutoFit/>
          </a:bodyPr>
          <a:lstStyle/>
          <a:p>
            <a:pPr>
              <a:lnSpc>
                <a:spcPct val="150000"/>
              </a:lnSpc>
              <a:spcAft>
                <a:spcPts val="1200"/>
              </a:spcAft>
            </a:pPr>
            <a:r>
              <a:rPr lang="en-US" altLang="zh-CN" sz="2400" dirty="0"/>
              <a:t>5. </a:t>
            </a:r>
            <a:r>
              <a:rPr lang="en-GB" altLang="zh-CN" sz="2400" dirty="0"/>
              <a:t>Graph Grounded Dialog Generation</a:t>
            </a:r>
            <a:br>
              <a:rPr lang="en-GB" altLang="zh-CN" sz="2400" dirty="0"/>
            </a:br>
            <a:endParaRPr lang="en-US" altLang="zh-CN" sz="2400" dirty="0"/>
          </a:p>
        </p:txBody>
      </p:sp>
      <p:sp>
        <p:nvSpPr>
          <p:cNvPr id="12" name="文本框 11">
            <a:extLst>
              <a:ext uri="{FF2B5EF4-FFF2-40B4-BE49-F238E27FC236}">
                <a16:creationId xmlns:a16="http://schemas.microsoft.com/office/drawing/2014/main" id="{AF9ACABC-6E2D-4E7B-9A6B-7C999971884E}"/>
              </a:ext>
            </a:extLst>
          </p:cNvPr>
          <p:cNvSpPr txBox="1"/>
          <p:nvPr/>
        </p:nvSpPr>
        <p:spPr>
          <a:xfrm>
            <a:off x="576079" y="2348929"/>
            <a:ext cx="6879798" cy="1015663"/>
          </a:xfrm>
          <a:prstGeom prst="rect">
            <a:avLst/>
          </a:prstGeom>
          <a:noFill/>
        </p:spPr>
        <p:txBody>
          <a:bodyPr wrap="square">
            <a:spAutoFit/>
          </a:bodyPr>
          <a:lstStyle/>
          <a:p>
            <a:r>
              <a:rPr lang="en-GB" altLang="zh-CN" sz="2000" b="1" dirty="0">
                <a:solidFill>
                  <a:srgbClr val="000000"/>
                </a:solidFill>
                <a:latin typeface="NimbusRomNo9L-Regu"/>
              </a:rPr>
              <a:t>Utterance-level sub-policy </a:t>
            </a:r>
            <a:br>
              <a:rPr lang="en-GB" altLang="zh-CN" sz="2000" dirty="0">
                <a:solidFill>
                  <a:srgbClr val="000000"/>
                </a:solidFill>
                <a:latin typeface="NimbusRomNo9L-Regu"/>
              </a:rPr>
            </a:br>
            <a:r>
              <a:rPr lang="en-US" altLang="zh-CN" sz="2000" dirty="0">
                <a:solidFill>
                  <a:srgbClr val="000000"/>
                </a:solidFill>
                <a:latin typeface="NimbusRomNo9L-Regu"/>
              </a:rPr>
              <a:t>Select(sample) an </a:t>
            </a:r>
            <a:r>
              <a:rPr lang="en-GB" altLang="zh-CN" sz="2000" dirty="0">
                <a:solidFill>
                  <a:srgbClr val="000000"/>
                </a:solidFill>
                <a:latin typeface="NimbusRomNo9L-Regu"/>
              </a:rPr>
              <a:t>utterance-level </a:t>
            </a:r>
            <a:r>
              <a:rPr lang="en-US" altLang="zh-CN" sz="2000" dirty="0">
                <a:solidFill>
                  <a:srgbClr val="000000"/>
                </a:solidFill>
                <a:latin typeface="NimbusRomNo9L-Regu"/>
              </a:rPr>
              <a:t>vertex from all utterance-level vertices that are connected to the vertex of current dialog topic</a:t>
            </a:r>
            <a:endParaRPr lang="zh-CN" altLang="en-US" sz="2000" dirty="0">
              <a:solidFill>
                <a:srgbClr val="000000"/>
              </a:solidFill>
              <a:latin typeface="NimbusRomNo9L-Regu"/>
            </a:endParaRPr>
          </a:p>
        </p:txBody>
      </p:sp>
      <p:pic>
        <p:nvPicPr>
          <p:cNvPr id="8" name="图片 7">
            <a:extLst>
              <a:ext uri="{FF2B5EF4-FFF2-40B4-BE49-F238E27FC236}">
                <a16:creationId xmlns:a16="http://schemas.microsoft.com/office/drawing/2014/main" id="{89A3C4BC-60A6-48BC-A61E-ABF62AFC9500}"/>
              </a:ext>
            </a:extLst>
          </p:cNvPr>
          <p:cNvPicPr>
            <a:picLocks noChangeAspect="1"/>
          </p:cNvPicPr>
          <p:nvPr/>
        </p:nvPicPr>
        <p:blipFill>
          <a:blip r:embed="rId2"/>
          <a:stretch>
            <a:fillRect/>
          </a:stretch>
        </p:blipFill>
        <p:spPr>
          <a:xfrm>
            <a:off x="919956" y="3837019"/>
            <a:ext cx="4829175" cy="1019175"/>
          </a:xfrm>
          <a:prstGeom prst="rect">
            <a:avLst/>
          </a:prstGeom>
        </p:spPr>
      </p:pic>
      <p:sp>
        <p:nvSpPr>
          <p:cNvPr id="14" name="文本框 13">
            <a:extLst>
              <a:ext uri="{FF2B5EF4-FFF2-40B4-BE49-F238E27FC236}">
                <a16:creationId xmlns:a16="http://schemas.microsoft.com/office/drawing/2014/main" id="{8BB0D21D-7448-46F8-BF30-7A186BC1ECB6}"/>
              </a:ext>
            </a:extLst>
          </p:cNvPr>
          <p:cNvSpPr txBox="1"/>
          <p:nvPr/>
        </p:nvSpPr>
        <p:spPr>
          <a:xfrm>
            <a:off x="576079" y="1781192"/>
            <a:ext cx="8355776" cy="430887"/>
          </a:xfrm>
          <a:prstGeom prst="rect">
            <a:avLst/>
          </a:prstGeom>
          <a:noFill/>
        </p:spPr>
        <p:txBody>
          <a:bodyPr wrap="square">
            <a:spAutoFit/>
          </a:bodyPr>
          <a:lstStyle/>
          <a:p>
            <a:pPr marL="285750" indent="-285750">
              <a:buFont typeface="Wingdings" panose="05000000000000000000" pitchFamily="2" charset="2"/>
              <a:buChar char="Ø"/>
            </a:pPr>
            <a:r>
              <a:rPr lang="en-US" altLang="zh-CN" sz="2200" dirty="0">
                <a:solidFill>
                  <a:srgbClr val="000000"/>
                </a:solidFill>
                <a:latin typeface="NimbusRomNo9L-Regu"/>
              </a:rPr>
              <a:t>A hierarchical policy for two-level vertex selection</a:t>
            </a:r>
            <a:endParaRPr lang="en-US" altLang="zh-CN" sz="2200" dirty="0"/>
          </a:p>
        </p:txBody>
      </p:sp>
    </p:spTree>
    <p:extLst>
      <p:ext uri="{BB962C8B-B14F-4D97-AF65-F5344CB8AC3E}">
        <p14:creationId xmlns:p14="http://schemas.microsoft.com/office/powerpoint/2010/main" val="4126528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7" name="文本框 6">
            <a:extLst>
              <a:ext uri="{FF2B5EF4-FFF2-40B4-BE49-F238E27FC236}">
                <a16:creationId xmlns:a16="http://schemas.microsoft.com/office/drawing/2014/main" id="{96BC3223-45A2-4BFB-9D9E-F9EF9EC3FF92}"/>
              </a:ext>
            </a:extLst>
          </p:cNvPr>
          <p:cNvSpPr txBox="1"/>
          <p:nvPr/>
        </p:nvSpPr>
        <p:spPr>
          <a:xfrm>
            <a:off x="576079" y="1037271"/>
            <a:ext cx="6879798" cy="1144031"/>
          </a:xfrm>
          <a:prstGeom prst="rect">
            <a:avLst/>
          </a:prstGeom>
          <a:noFill/>
        </p:spPr>
        <p:txBody>
          <a:bodyPr wrap="square">
            <a:spAutoFit/>
          </a:bodyPr>
          <a:lstStyle/>
          <a:p>
            <a:pPr>
              <a:lnSpc>
                <a:spcPct val="150000"/>
              </a:lnSpc>
              <a:spcAft>
                <a:spcPts val="1200"/>
              </a:spcAft>
            </a:pPr>
            <a:r>
              <a:rPr lang="en-US" altLang="zh-CN" sz="2400" dirty="0"/>
              <a:t>5. </a:t>
            </a:r>
            <a:r>
              <a:rPr lang="en-GB" altLang="zh-CN" sz="2400" dirty="0"/>
              <a:t>Graph Grounded Dialog Generation</a:t>
            </a:r>
            <a:br>
              <a:rPr lang="en-GB" altLang="zh-CN" sz="2400" dirty="0"/>
            </a:br>
            <a:endParaRPr lang="en-US" altLang="zh-CN" sz="2400" dirty="0"/>
          </a:p>
        </p:txBody>
      </p:sp>
      <p:sp>
        <p:nvSpPr>
          <p:cNvPr id="11" name="文本框 10">
            <a:extLst>
              <a:ext uri="{FF2B5EF4-FFF2-40B4-BE49-F238E27FC236}">
                <a16:creationId xmlns:a16="http://schemas.microsoft.com/office/drawing/2014/main" id="{A445C22A-5FAB-445D-8E67-68039282C08D}"/>
              </a:ext>
            </a:extLst>
          </p:cNvPr>
          <p:cNvSpPr txBox="1"/>
          <p:nvPr/>
        </p:nvSpPr>
        <p:spPr>
          <a:xfrm>
            <a:off x="576079" y="1688859"/>
            <a:ext cx="8355776" cy="430887"/>
          </a:xfrm>
          <a:prstGeom prst="rect">
            <a:avLst/>
          </a:prstGeom>
          <a:noFill/>
        </p:spPr>
        <p:txBody>
          <a:bodyPr wrap="square">
            <a:spAutoFit/>
          </a:bodyPr>
          <a:lstStyle/>
          <a:p>
            <a:pPr marL="285750" indent="-285750">
              <a:buFont typeface="Wingdings" panose="05000000000000000000" pitchFamily="2" charset="2"/>
              <a:buChar char="Ø"/>
            </a:pPr>
            <a:r>
              <a:rPr lang="en-US" altLang="zh-CN" sz="2200" dirty="0">
                <a:solidFill>
                  <a:srgbClr val="000000"/>
                </a:solidFill>
                <a:latin typeface="NimbusRomNo9L-Regu"/>
              </a:rPr>
              <a:t>A hierarchical policy for two-level vertex selection</a:t>
            </a:r>
            <a:endParaRPr lang="en-US" altLang="zh-CN" sz="2200" dirty="0"/>
          </a:p>
        </p:txBody>
      </p:sp>
      <p:sp>
        <p:nvSpPr>
          <p:cNvPr id="12" name="文本框 11">
            <a:extLst>
              <a:ext uri="{FF2B5EF4-FFF2-40B4-BE49-F238E27FC236}">
                <a16:creationId xmlns:a16="http://schemas.microsoft.com/office/drawing/2014/main" id="{AF9ACABC-6E2D-4E7B-9A6B-7C999971884E}"/>
              </a:ext>
            </a:extLst>
          </p:cNvPr>
          <p:cNvSpPr txBox="1"/>
          <p:nvPr/>
        </p:nvSpPr>
        <p:spPr>
          <a:xfrm>
            <a:off x="576079" y="2191999"/>
            <a:ext cx="6879798" cy="1323439"/>
          </a:xfrm>
          <a:prstGeom prst="rect">
            <a:avLst/>
          </a:prstGeom>
          <a:noFill/>
        </p:spPr>
        <p:txBody>
          <a:bodyPr wrap="square">
            <a:spAutoFit/>
          </a:bodyPr>
          <a:lstStyle/>
          <a:p>
            <a:r>
              <a:rPr lang="en-GB" altLang="zh-CN" sz="2000" b="1" dirty="0">
                <a:solidFill>
                  <a:srgbClr val="000000"/>
                </a:solidFill>
                <a:latin typeface="NimbusRomNo9L-Regu"/>
              </a:rPr>
              <a:t>RL Rewards</a:t>
            </a:r>
            <a:br>
              <a:rPr lang="en-GB" altLang="zh-CN" sz="2000" dirty="0">
                <a:solidFill>
                  <a:srgbClr val="000000"/>
                </a:solidFill>
                <a:latin typeface="NimbusRomNo9L-Regu"/>
              </a:rPr>
            </a:br>
            <a:r>
              <a:rPr lang="en-US" altLang="zh-CN" sz="2000" dirty="0">
                <a:solidFill>
                  <a:srgbClr val="000000"/>
                </a:solidFill>
                <a:latin typeface="NimbusRomNo9L-Regu"/>
              </a:rPr>
              <a:t>The reward for the utterance-level sub-policy is a</a:t>
            </a:r>
          </a:p>
          <a:p>
            <a:r>
              <a:rPr lang="en-US" altLang="zh-CN" sz="2000" dirty="0">
                <a:solidFill>
                  <a:srgbClr val="000000"/>
                </a:solidFill>
                <a:latin typeface="NimbusRomNo9L-Regu"/>
              </a:rPr>
              <a:t>weighted sum of following factors:</a:t>
            </a:r>
            <a:endParaRPr lang="zh-CN" altLang="en-US" sz="2000" dirty="0">
              <a:solidFill>
                <a:srgbClr val="000000"/>
              </a:solidFill>
              <a:latin typeface="NimbusRomNo9L-Regu"/>
            </a:endParaRPr>
          </a:p>
          <a:p>
            <a:endParaRPr lang="zh-CN" altLang="en-US" sz="2000" dirty="0">
              <a:solidFill>
                <a:srgbClr val="000000"/>
              </a:solidFill>
              <a:latin typeface="NimbusRomNo9L-Regu"/>
            </a:endParaRPr>
          </a:p>
        </p:txBody>
      </p:sp>
      <p:pic>
        <p:nvPicPr>
          <p:cNvPr id="4" name="图片 3">
            <a:extLst>
              <a:ext uri="{FF2B5EF4-FFF2-40B4-BE49-F238E27FC236}">
                <a16:creationId xmlns:a16="http://schemas.microsoft.com/office/drawing/2014/main" id="{DF284E5B-A521-4FE6-8C20-3C2247F2A19D}"/>
              </a:ext>
            </a:extLst>
          </p:cNvPr>
          <p:cNvPicPr>
            <a:picLocks noChangeAspect="1"/>
          </p:cNvPicPr>
          <p:nvPr/>
        </p:nvPicPr>
        <p:blipFill>
          <a:blip r:embed="rId2"/>
          <a:stretch>
            <a:fillRect/>
          </a:stretch>
        </p:blipFill>
        <p:spPr>
          <a:xfrm>
            <a:off x="6314189" y="2203398"/>
            <a:ext cx="5235331" cy="4371331"/>
          </a:xfrm>
          <a:prstGeom prst="rect">
            <a:avLst/>
          </a:prstGeom>
        </p:spPr>
      </p:pic>
    </p:spTree>
    <p:extLst>
      <p:ext uri="{BB962C8B-B14F-4D97-AF65-F5344CB8AC3E}">
        <p14:creationId xmlns:p14="http://schemas.microsoft.com/office/powerpoint/2010/main" val="1896037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005403"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方法</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7" name="文本框 6">
            <a:extLst>
              <a:ext uri="{FF2B5EF4-FFF2-40B4-BE49-F238E27FC236}">
                <a16:creationId xmlns:a16="http://schemas.microsoft.com/office/drawing/2014/main" id="{96BC3223-45A2-4BFB-9D9E-F9EF9EC3FF92}"/>
              </a:ext>
            </a:extLst>
          </p:cNvPr>
          <p:cNvSpPr txBox="1"/>
          <p:nvPr/>
        </p:nvSpPr>
        <p:spPr>
          <a:xfrm>
            <a:off x="576079" y="1037271"/>
            <a:ext cx="6879798" cy="1144031"/>
          </a:xfrm>
          <a:prstGeom prst="rect">
            <a:avLst/>
          </a:prstGeom>
          <a:noFill/>
        </p:spPr>
        <p:txBody>
          <a:bodyPr wrap="square">
            <a:spAutoFit/>
          </a:bodyPr>
          <a:lstStyle/>
          <a:p>
            <a:pPr>
              <a:lnSpc>
                <a:spcPct val="150000"/>
              </a:lnSpc>
              <a:spcAft>
                <a:spcPts val="1200"/>
              </a:spcAft>
            </a:pPr>
            <a:r>
              <a:rPr lang="en-US" altLang="zh-CN" sz="2400" dirty="0"/>
              <a:t>5. </a:t>
            </a:r>
            <a:r>
              <a:rPr lang="en-GB" altLang="zh-CN" sz="2400" dirty="0"/>
              <a:t>Graph Grounded Dialog Generation</a:t>
            </a:r>
            <a:br>
              <a:rPr lang="en-GB" altLang="zh-CN" sz="2400" dirty="0"/>
            </a:br>
            <a:endParaRPr lang="en-US" altLang="zh-CN" sz="2400" dirty="0"/>
          </a:p>
        </p:txBody>
      </p:sp>
      <p:sp>
        <p:nvSpPr>
          <p:cNvPr id="11" name="文本框 10">
            <a:extLst>
              <a:ext uri="{FF2B5EF4-FFF2-40B4-BE49-F238E27FC236}">
                <a16:creationId xmlns:a16="http://schemas.microsoft.com/office/drawing/2014/main" id="{A445C22A-5FAB-445D-8E67-68039282C08D}"/>
              </a:ext>
            </a:extLst>
          </p:cNvPr>
          <p:cNvSpPr txBox="1"/>
          <p:nvPr/>
        </p:nvSpPr>
        <p:spPr>
          <a:xfrm>
            <a:off x="576079" y="1688859"/>
            <a:ext cx="8355776" cy="400110"/>
          </a:xfrm>
          <a:prstGeom prst="rect">
            <a:avLst/>
          </a:prstGeom>
          <a:noFill/>
        </p:spPr>
        <p:txBody>
          <a:bodyPr wrap="square">
            <a:spAutoFit/>
          </a:bodyPr>
          <a:lstStyle/>
          <a:p>
            <a:pPr marL="285750" indent="-285750">
              <a:buFont typeface="Wingdings" panose="05000000000000000000" pitchFamily="2" charset="2"/>
              <a:buChar char="Ø"/>
            </a:pPr>
            <a:r>
              <a:rPr lang="en-US" altLang="zh-CN" sz="2000" dirty="0">
                <a:solidFill>
                  <a:srgbClr val="000000"/>
                </a:solidFill>
                <a:latin typeface="NimbusRomNo9L-Regu"/>
              </a:rPr>
              <a:t>Response generator </a:t>
            </a:r>
            <a:endParaRPr lang="en-US" altLang="zh-CN" dirty="0"/>
          </a:p>
        </p:txBody>
      </p:sp>
      <p:pic>
        <p:nvPicPr>
          <p:cNvPr id="2" name="图片 1">
            <a:extLst>
              <a:ext uri="{FF2B5EF4-FFF2-40B4-BE49-F238E27FC236}">
                <a16:creationId xmlns:a16="http://schemas.microsoft.com/office/drawing/2014/main" id="{A02A2F22-0B89-46CB-B4D7-B31C6D66E613}"/>
              </a:ext>
            </a:extLst>
          </p:cNvPr>
          <p:cNvPicPr>
            <a:picLocks noChangeAspect="1"/>
          </p:cNvPicPr>
          <p:nvPr/>
        </p:nvPicPr>
        <p:blipFill>
          <a:blip r:embed="rId2"/>
          <a:stretch>
            <a:fillRect/>
          </a:stretch>
        </p:blipFill>
        <p:spPr>
          <a:xfrm>
            <a:off x="742950" y="2181302"/>
            <a:ext cx="5618773" cy="2185078"/>
          </a:xfrm>
          <a:prstGeom prst="rect">
            <a:avLst/>
          </a:prstGeom>
        </p:spPr>
      </p:pic>
    </p:spTree>
    <p:extLst>
      <p:ext uri="{BB962C8B-B14F-4D97-AF65-F5344CB8AC3E}">
        <p14:creationId xmlns:p14="http://schemas.microsoft.com/office/powerpoint/2010/main" val="2208662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826141"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实验结果</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15" name="灯片编号占位符 4">
            <a:extLst>
              <a:ext uri="{FF2B5EF4-FFF2-40B4-BE49-F238E27FC236}">
                <a16:creationId xmlns:a16="http://schemas.microsoft.com/office/drawing/2014/main" id="{5FCB248D-9455-4BA1-B742-84535FE45C90}"/>
              </a:ext>
            </a:extLst>
          </p:cNvPr>
          <p:cNvSpPr txBox="1">
            <a:spLocks/>
          </p:cNvSpPr>
          <p:nvPr/>
        </p:nvSpPr>
        <p:spPr>
          <a:xfrm>
            <a:off x="9448800" y="6491357"/>
            <a:ext cx="2743200"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Font typeface="Arial" panose="020B0604020202020204" pitchFamily="34" charset="0"/>
              <a:buNone/>
            </a:pPr>
            <a:fld id="{9A0DB2DC-4C9A-4742-B13C-FB6460FD3503}" type="slidenum">
              <a:rPr lang="zh-CN" altLang="en-US" sz="1200" smtClean="0">
                <a:solidFill>
                  <a:srgbClr val="898989"/>
                </a:solidFill>
                <a:latin typeface="Arial Black" panose="020B0A04020102020204" charset="0"/>
                <a:cs typeface="Arial Black" panose="020B0A04020102020204" charset="0"/>
                <a:sym typeface="Calibri" panose="020F0502020204030204" charset="0"/>
              </a:rPr>
              <a:pPr algn="r">
                <a:spcBef>
                  <a:spcPct val="0"/>
                </a:spcBef>
                <a:buFont typeface="Arial" panose="020B0604020202020204" pitchFamily="34" charset="0"/>
                <a:buNone/>
              </a:pPr>
              <a:t>15</a:t>
            </a:fld>
            <a:endParaRPr lang="zh-CN" altLang="en-US" sz="1200" dirty="0">
              <a:solidFill>
                <a:srgbClr val="898989"/>
              </a:solidFill>
              <a:latin typeface="Arial Black" panose="020B0A04020102020204" charset="0"/>
              <a:cs typeface="Arial Black" panose="020B0A04020102020204" charset="0"/>
              <a:sym typeface="Calibri" panose="020F0502020204030204" charset="0"/>
            </a:endParaRPr>
          </a:p>
        </p:txBody>
      </p:sp>
      <p:sp>
        <p:nvSpPr>
          <p:cNvPr id="7" name="文本框 6">
            <a:extLst>
              <a:ext uri="{FF2B5EF4-FFF2-40B4-BE49-F238E27FC236}">
                <a16:creationId xmlns:a16="http://schemas.microsoft.com/office/drawing/2014/main" id="{8C44F790-D4A1-4A9D-8781-29593FD54382}"/>
              </a:ext>
            </a:extLst>
          </p:cNvPr>
          <p:cNvSpPr txBox="1"/>
          <p:nvPr/>
        </p:nvSpPr>
        <p:spPr>
          <a:xfrm>
            <a:off x="409574" y="808880"/>
            <a:ext cx="7186979" cy="461665"/>
          </a:xfrm>
          <a:prstGeom prst="rect">
            <a:avLst/>
          </a:prstGeom>
          <a:noFill/>
        </p:spPr>
        <p:txBody>
          <a:bodyPr wrap="square">
            <a:spAutoFit/>
          </a:bodyPr>
          <a:lstStyle/>
          <a:p>
            <a:r>
              <a:rPr lang="en-US" altLang="zh-CN" sz="2400" dirty="0"/>
              <a:t>Experiments for Dialog Structure Graph Discovery</a:t>
            </a:r>
            <a:endParaRPr lang="zh-CN" altLang="en-US" sz="2400" dirty="0"/>
          </a:p>
        </p:txBody>
      </p:sp>
      <p:pic>
        <p:nvPicPr>
          <p:cNvPr id="2" name="图片 1">
            <a:extLst>
              <a:ext uri="{FF2B5EF4-FFF2-40B4-BE49-F238E27FC236}">
                <a16:creationId xmlns:a16="http://schemas.microsoft.com/office/drawing/2014/main" id="{3241C78A-F934-4E3E-B409-5BE483801DBD}"/>
              </a:ext>
            </a:extLst>
          </p:cNvPr>
          <p:cNvPicPr>
            <a:picLocks noChangeAspect="1"/>
          </p:cNvPicPr>
          <p:nvPr/>
        </p:nvPicPr>
        <p:blipFill>
          <a:blip r:embed="rId2"/>
          <a:stretch>
            <a:fillRect/>
          </a:stretch>
        </p:blipFill>
        <p:spPr>
          <a:xfrm>
            <a:off x="1142849" y="1578666"/>
            <a:ext cx="9906302" cy="4798687"/>
          </a:xfrm>
          <a:prstGeom prst="rect">
            <a:avLst/>
          </a:prstGeom>
        </p:spPr>
      </p:pic>
    </p:spTree>
    <p:extLst>
      <p:ext uri="{BB962C8B-B14F-4D97-AF65-F5344CB8AC3E}">
        <p14:creationId xmlns:p14="http://schemas.microsoft.com/office/powerpoint/2010/main" val="3779105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826141"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实验结果</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15" name="灯片编号占位符 4">
            <a:extLst>
              <a:ext uri="{FF2B5EF4-FFF2-40B4-BE49-F238E27FC236}">
                <a16:creationId xmlns:a16="http://schemas.microsoft.com/office/drawing/2014/main" id="{5FCB248D-9455-4BA1-B742-84535FE45C90}"/>
              </a:ext>
            </a:extLst>
          </p:cNvPr>
          <p:cNvSpPr txBox="1">
            <a:spLocks/>
          </p:cNvSpPr>
          <p:nvPr/>
        </p:nvSpPr>
        <p:spPr>
          <a:xfrm>
            <a:off x="9448800" y="6491357"/>
            <a:ext cx="2743200"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Font typeface="Arial" panose="020B0604020202020204" pitchFamily="34" charset="0"/>
              <a:buNone/>
            </a:pPr>
            <a:fld id="{9A0DB2DC-4C9A-4742-B13C-FB6460FD3503}" type="slidenum">
              <a:rPr lang="zh-CN" altLang="en-US" sz="1200" smtClean="0">
                <a:solidFill>
                  <a:srgbClr val="898989"/>
                </a:solidFill>
                <a:latin typeface="Arial Black" panose="020B0A04020102020204" charset="0"/>
                <a:cs typeface="Arial Black" panose="020B0A04020102020204" charset="0"/>
                <a:sym typeface="Calibri" panose="020F0502020204030204" charset="0"/>
              </a:rPr>
              <a:pPr algn="r">
                <a:spcBef>
                  <a:spcPct val="0"/>
                </a:spcBef>
                <a:buFont typeface="Arial" panose="020B0604020202020204" pitchFamily="34" charset="0"/>
                <a:buNone/>
              </a:pPr>
              <a:t>16</a:t>
            </a:fld>
            <a:endParaRPr lang="zh-CN" altLang="en-US" sz="1200" dirty="0">
              <a:solidFill>
                <a:srgbClr val="898989"/>
              </a:solidFill>
              <a:latin typeface="Arial Black" panose="020B0A04020102020204" charset="0"/>
              <a:cs typeface="Arial Black" panose="020B0A04020102020204" charset="0"/>
              <a:sym typeface="Calibri" panose="020F0502020204030204" charset="0"/>
            </a:endParaRPr>
          </a:p>
        </p:txBody>
      </p:sp>
      <p:sp>
        <p:nvSpPr>
          <p:cNvPr id="7" name="文本框 6">
            <a:extLst>
              <a:ext uri="{FF2B5EF4-FFF2-40B4-BE49-F238E27FC236}">
                <a16:creationId xmlns:a16="http://schemas.microsoft.com/office/drawing/2014/main" id="{8C44F790-D4A1-4A9D-8781-29593FD54382}"/>
              </a:ext>
            </a:extLst>
          </p:cNvPr>
          <p:cNvSpPr txBox="1"/>
          <p:nvPr/>
        </p:nvSpPr>
        <p:spPr>
          <a:xfrm>
            <a:off x="409574" y="808880"/>
            <a:ext cx="9828580" cy="461665"/>
          </a:xfrm>
          <a:prstGeom prst="rect">
            <a:avLst/>
          </a:prstGeom>
          <a:noFill/>
        </p:spPr>
        <p:txBody>
          <a:bodyPr wrap="square">
            <a:spAutoFit/>
          </a:bodyPr>
          <a:lstStyle/>
          <a:p>
            <a:r>
              <a:rPr lang="en-US" altLang="zh-CN" sz="2400" dirty="0"/>
              <a:t>Experiments for Graph Grounded Dialog Generation</a:t>
            </a:r>
            <a:endParaRPr lang="zh-CN" altLang="en-US" sz="2400" dirty="0"/>
          </a:p>
        </p:txBody>
      </p:sp>
      <p:pic>
        <p:nvPicPr>
          <p:cNvPr id="3" name="图片 2">
            <a:extLst>
              <a:ext uri="{FF2B5EF4-FFF2-40B4-BE49-F238E27FC236}">
                <a16:creationId xmlns:a16="http://schemas.microsoft.com/office/drawing/2014/main" id="{C5409BAB-CF81-441D-BF23-10D4EA9BE9DE}"/>
              </a:ext>
            </a:extLst>
          </p:cNvPr>
          <p:cNvPicPr>
            <a:picLocks noChangeAspect="1"/>
          </p:cNvPicPr>
          <p:nvPr/>
        </p:nvPicPr>
        <p:blipFill>
          <a:blip r:embed="rId2"/>
          <a:stretch>
            <a:fillRect/>
          </a:stretch>
        </p:blipFill>
        <p:spPr>
          <a:xfrm>
            <a:off x="836246" y="1734402"/>
            <a:ext cx="10519508" cy="4439764"/>
          </a:xfrm>
          <a:prstGeom prst="rect">
            <a:avLst/>
          </a:prstGeom>
        </p:spPr>
      </p:pic>
    </p:spTree>
    <p:extLst>
      <p:ext uri="{BB962C8B-B14F-4D97-AF65-F5344CB8AC3E}">
        <p14:creationId xmlns:p14="http://schemas.microsoft.com/office/powerpoint/2010/main" val="1575115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850F23D1-2757-4497-976B-88014D030436}"/>
              </a:ext>
            </a:extLst>
          </p:cNvPr>
          <p:cNvSpPr/>
          <p:nvPr/>
        </p:nvSpPr>
        <p:spPr>
          <a:xfrm rot="10800000">
            <a:off x="120650" y="94615"/>
            <a:ext cx="288925" cy="709295"/>
          </a:xfrm>
          <a:prstGeom prst="rect">
            <a:avLst/>
          </a:prstGeom>
          <a:solidFill>
            <a:srgbClr val="005825"/>
          </a:solidFill>
          <a:ln w="12700">
            <a:noFill/>
          </a:ln>
        </p:spPr>
        <p:txBody>
          <a:bodyPr anchor="ct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algn="ctr" defTabSz="914400" eaLnBrk="1" hangingPunct="1">
              <a:lnSpc>
                <a:spcPct val="100000"/>
              </a:lnSpc>
              <a:spcBef>
                <a:spcPct val="0"/>
              </a:spcBef>
              <a:buNone/>
            </a:pPr>
            <a:endParaRPr lang="zh-CN" altLang="zh-CN" sz="1800" dirty="0">
              <a:solidFill>
                <a:srgbClr val="FFFFFF"/>
              </a:solidFill>
              <a:latin typeface="仿宋" panose="02010609060101010101" pitchFamily="49" charset="-122"/>
              <a:ea typeface="仿宋" panose="02010609060101010101" pitchFamily="49" charset="-122"/>
            </a:endParaRPr>
          </a:p>
        </p:txBody>
      </p:sp>
      <p:sp>
        <p:nvSpPr>
          <p:cNvPr id="10" name="矩形 1">
            <a:extLst>
              <a:ext uri="{FF2B5EF4-FFF2-40B4-BE49-F238E27FC236}">
                <a16:creationId xmlns:a16="http://schemas.microsoft.com/office/drawing/2014/main" id="{A059F2D0-83B6-40D9-8387-4F447FD4FA59}"/>
              </a:ext>
            </a:extLst>
          </p:cNvPr>
          <p:cNvSpPr/>
          <p:nvPr/>
        </p:nvSpPr>
        <p:spPr>
          <a:xfrm>
            <a:off x="509270" y="157480"/>
            <a:ext cx="1826141" cy="584775"/>
          </a:xfrm>
          <a:prstGeom prst="rect">
            <a:avLst/>
          </a:prstGeom>
          <a:noFill/>
          <a:ln w="9525">
            <a:noFill/>
          </a:ln>
        </p:spPr>
        <p:txBody>
          <a:bodyPr wrap="none">
            <a:spAutoFit/>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a:solidFill>
                  <a:schemeClr val="tx1"/>
                </a:solidFill>
                <a:latin typeface="+mn-lt"/>
                <a:ea typeface="+mn-ea"/>
                <a:cs typeface="+mn-cs"/>
                <a:sym typeface="Calibri" panose="020F050202020403020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a:solidFill>
                  <a:schemeClr val="tx1"/>
                </a:solidFill>
                <a:latin typeface="+mn-lt"/>
                <a:ea typeface="+mn-ea"/>
                <a:sym typeface="Calibri" panose="020F050202020403020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a:solidFill>
                  <a:schemeClr val="tx1"/>
                </a:solidFill>
                <a:latin typeface="+mn-lt"/>
                <a:ea typeface="+mn-ea"/>
                <a:sym typeface="Calibri" panose="020F050202020403020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mn-lt"/>
                <a:ea typeface="+mn-ea"/>
                <a:sym typeface="Calibri" panose="020F0502020204030204" charset="0"/>
              </a:defRPr>
            </a:lvl5pPr>
          </a:lstStyle>
          <a:p>
            <a:pPr marL="0" lvl="0" indent="0" defTabSz="914400" eaLnBrk="1" hangingPunct="1">
              <a:lnSpc>
                <a:spcPct val="100000"/>
              </a:lnSpc>
              <a:spcBef>
                <a:spcPct val="0"/>
              </a:spcBef>
              <a:buNone/>
            </a:pPr>
            <a:r>
              <a:rPr lang="zh-CN" altLang="en-US"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rPr>
              <a:t>实验结果</a:t>
            </a:r>
            <a:endParaRPr lang="en-US" altLang="zh-CN" sz="3200" dirty="0">
              <a:solidFill>
                <a:schemeClr val="tx1"/>
              </a:solidFill>
              <a:latin typeface="华文楷体" panose="02010600040101010101" pitchFamily="2" charset="-122"/>
              <a:ea typeface="华文楷体" panose="02010600040101010101" pitchFamily="2" charset="-122"/>
              <a:sym typeface="宋体" panose="02010600030101010101" pitchFamily="2" charset="-122"/>
            </a:endParaRPr>
          </a:p>
        </p:txBody>
      </p:sp>
      <p:sp>
        <p:nvSpPr>
          <p:cNvPr id="15" name="灯片编号占位符 4">
            <a:extLst>
              <a:ext uri="{FF2B5EF4-FFF2-40B4-BE49-F238E27FC236}">
                <a16:creationId xmlns:a16="http://schemas.microsoft.com/office/drawing/2014/main" id="{5FCB248D-9455-4BA1-B742-84535FE45C90}"/>
              </a:ext>
            </a:extLst>
          </p:cNvPr>
          <p:cNvSpPr txBox="1">
            <a:spLocks/>
          </p:cNvSpPr>
          <p:nvPr/>
        </p:nvSpPr>
        <p:spPr>
          <a:xfrm>
            <a:off x="9448800" y="6491357"/>
            <a:ext cx="2743200" cy="365125"/>
          </a:xfrm>
          <a:prstGeom prst="rect">
            <a:avLst/>
          </a:prstGeo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spcBef>
                <a:spcPct val="0"/>
              </a:spcBef>
              <a:buFont typeface="Arial" panose="020B0604020202020204" pitchFamily="34" charset="0"/>
              <a:buNone/>
            </a:pPr>
            <a:fld id="{9A0DB2DC-4C9A-4742-B13C-FB6460FD3503}" type="slidenum">
              <a:rPr lang="zh-CN" altLang="en-US" sz="1200" smtClean="0">
                <a:solidFill>
                  <a:srgbClr val="898989"/>
                </a:solidFill>
                <a:latin typeface="Arial Black" panose="020B0A04020102020204" charset="0"/>
                <a:cs typeface="Arial Black" panose="020B0A04020102020204" charset="0"/>
                <a:sym typeface="Calibri" panose="020F0502020204030204" charset="0"/>
              </a:rPr>
              <a:pPr algn="r">
                <a:spcBef>
                  <a:spcPct val="0"/>
                </a:spcBef>
                <a:buFont typeface="Arial" panose="020B0604020202020204" pitchFamily="34" charset="0"/>
                <a:buNone/>
              </a:pPr>
              <a:t>17</a:t>
            </a:fld>
            <a:endParaRPr lang="zh-CN" altLang="en-US" sz="1200" dirty="0">
              <a:solidFill>
                <a:srgbClr val="898989"/>
              </a:solidFill>
              <a:latin typeface="Arial Black" panose="020B0A04020102020204" charset="0"/>
              <a:cs typeface="Arial Black" panose="020B0A04020102020204" charset="0"/>
              <a:sym typeface="Calibri" panose="020F0502020204030204" charset="0"/>
            </a:endParaRPr>
          </a:p>
        </p:txBody>
      </p:sp>
      <p:sp>
        <p:nvSpPr>
          <p:cNvPr id="7" name="文本框 6">
            <a:extLst>
              <a:ext uri="{FF2B5EF4-FFF2-40B4-BE49-F238E27FC236}">
                <a16:creationId xmlns:a16="http://schemas.microsoft.com/office/drawing/2014/main" id="{8C44F790-D4A1-4A9D-8781-29593FD54382}"/>
              </a:ext>
            </a:extLst>
          </p:cNvPr>
          <p:cNvSpPr txBox="1"/>
          <p:nvPr/>
        </p:nvSpPr>
        <p:spPr>
          <a:xfrm>
            <a:off x="409574" y="808880"/>
            <a:ext cx="2341441" cy="461665"/>
          </a:xfrm>
          <a:prstGeom prst="rect">
            <a:avLst/>
          </a:prstGeom>
          <a:noFill/>
        </p:spPr>
        <p:txBody>
          <a:bodyPr wrap="square">
            <a:spAutoFit/>
          </a:bodyPr>
          <a:lstStyle/>
          <a:p>
            <a:r>
              <a:rPr lang="en-US" altLang="zh-CN" sz="2400" dirty="0"/>
              <a:t>Case Study</a:t>
            </a:r>
            <a:endParaRPr lang="zh-CN" altLang="en-US" sz="2400" dirty="0"/>
          </a:p>
        </p:txBody>
      </p:sp>
      <p:pic>
        <p:nvPicPr>
          <p:cNvPr id="4" name="图片 3">
            <a:extLst>
              <a:ext uri="{FF2B5EF4-FFF2-40B4-BE49-F238E27FC236}">
                <a16:creationId xmlns:a16="http://schemas.microsoft.com/office/drawing/2014/main" id="{122E047A-6670-4EB2-84CA-EC5F0063C5B2}"/>
              </a:ext>
            </a:extLst>
          </p:cNvPr>
          <p:cNvPicPr>
            <a:picLocks noChangeAspect="1"/>
          </p:cNvPicPr>
          <p:nvPr/>
        </p:nvPicPr>
        <p:blipFill>
          <a:blip r:embed="rId2"/>
          <a:stretch>
            <a:fillRect/>
          </a:stretch>
        </p:blipFill>
        <p:spPr>
          <a:xfrm>
            <a:off x="3728273" y="382230"/>
            <a:ext cx="4735453" cy="6474252"/>
          </a:xfrm>
          <a:prstGeom prst="rect">
            <a:avLst/>
          </a:prstGeom>
        </p:spPr>
      </p:pic>
    </p:spTree>
    <p:extLst>
      <p:ext uri="{BB962C8B-B14F-4D97-AF65-F5344CB8AC3E}">
        <p14:creationId xmlns:p14="http://schemas.microsoft.com/office/powerpoint/2010/main" val="157523822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2385</TotalTime>
  <Words>448</Words>
  <Application>Microsoft Office PowerPoint</Application>
  <PresentationFormat>宽屏</PresentationFormat>
  <Paragraphs>79</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NimbusRomNo9L-Regu</vt:lpstr>
      <vt:lpstr>等线</vt:lpstr>
      <vt:lpstr>等线 Light</vt:lpstr>
      <vt:lpstr>仿宋</vt:lpstr>
      <vt:lpstr>华文楷体</vt:lpstr>
      <vt:lpstr>宋体</vt:lpstr>
      <vt:lpstr>Arial</vt:lpstr>
      <vt:lpstr>Arial Black</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羽鑫</dc:creator>
  <cp:lastModifiedBy>羽鑫</cp:lastModifiedBy>
  <cp:revision>305</cp:revision>
  <dcterms:created xsi:type="dcterms:W3CDTF">2021-06-01T08:24:38Z</dcterms:created>
  <dcterms:modified xsi:type="dcterms:W3CDTF">2021-09-04T08:09:18Z</dcterms:modified>
</cp:coreProperties>
</file>