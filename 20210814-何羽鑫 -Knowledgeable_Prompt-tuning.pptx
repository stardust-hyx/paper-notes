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37" r:id="rId3"/>
    <p:sldId id="435" r:id="rId4"/>
    <p:sldId id="438" r:id="rId5"/>
    <p:sldId id="444" r:id="rId6"/>
    <p:sldId id="445" r:id="rId7"/>
    <p:sldId id="446" r:id="rId8"/>
    <p:sldId id="427" r:id="rId9"/>
    <p:sldId id="447" r:id="rId10"/>
    <p:sldId id="443" r:id="rId11"/>
    <p:sldId id="44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52" autoAdjust="0"/>
  </p:normalViewPr>
  <p:slideViewPr>
    <p:cSldViewPr snapToGrid="0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8CA0-D2C8-4CBD-A352-0534456D3CCF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1761-BC92-431A-8FD2-4DA588ACC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C584-D879-4BC2-9EFB-E67AB630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86E5B-F704-40E3-A1E8-DB0FDAF1A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D8501-DF67-411D-A477-A03C9AA8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BC256-B1E8-48AA-A767-3B0EC6B6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B524-73C4-43DC-97AA-331D140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E1AC-DF1E-4E37-9627-F4FAC300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9A72-0BB0-42F0-9D1A-B36043A9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5065A-5A30-442A-BE59-05645B6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EB79F-2DB5-4BDA-95BF-B9BD34C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2E81B-8457-4221-9759-003101D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78497-5FF2-4063-8CBD-A61D6F0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37C8-54AA-4227-AB6F-06E97AD8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6A281-0EC1-4F37-89CC-F4B2714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9D7C-9051-44EB-9AF3-C65F0E6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B6A1-B207-412B-B216-6861D3E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2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EBEA6-E0DB-40B1-B194-C1D06A6E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AE76F-E91D-49D5-84EB-01E1615C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DCBC0-F8D0-4784-8509-F0235CE15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72F83-3E5B-40FD-8A47-AC65D8A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56E5-E1D9-494E-BEFF-78DB900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E66E8-369F-44EF-BE25-6BFDAE15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2FEE2-DD5B-420D-B2C3-A0E4E53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542F0-0A55-46B9-B6F9-130729DF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2748-135C-4FBF-A2CC-0934D0FC0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FD7DC-E5AE-4753-A3AE-BF4AE6B78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473791-30B3-4762-A60C-4E79E046B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2A6019-14CE-4D0C-B38A-3E9EC23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D0F88-B27D-4687-9E5B-4056923B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CD0C52-D3AE-4851-8FB0-87A50E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1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D405-FDF0-441C-9732-A01B8E04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A742C-97C0-41AB-A285-F6365B35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2EF57-BB7F-41E3-9280-0F4AD639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0C3E0F-FA2F-4ACD-A6E1-9E390A2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4F57C-61B4-4E47-9BBC-BF1E0CF7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48328-AE47-4FB0-A81E-4D941B2B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B6EA0-FC67-4C61-8F45-205ACFA6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38B5-0CDD-49B1-9550-C3FEF4F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272C4-2797-4D1D-973A-AB50961B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8C78-4E00-4EA2-BC51-B9A01E83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78A6B1-E6F0-4EE9-BE3C-7A57AD93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31090-5A14-48A8-9AA2-7566DB0F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3FCDA-BE2A-4689-BC84-D4D7A6F3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ED19F-DF58-4BE2-8646-27299FE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F0D68-EDBC-4F73-934F-8BAB8FBF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08708-EEDB-4CEC-B2B1-00F6BA8F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BC80E-37F7-45FC-88AF-B1DA76FC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B1A78-B5C6-4F6A-991D-4E0F67E7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F5965-434E-48EA-B7EF-71E52608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4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91F20-A1D8-409B-B75A-C4CA0D0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ABA1A4-C053-4579-9EEF-12122CDC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DE58-8695-4E12-B3CD-64EC39C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4BF8-C72C-4DD8-82FB-858F361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E7B8-7751-4C02-BF43-D23A86D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B55B0-5C6E-4BB8-B735-117820097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CF004-AFFF-4675-A9B9-036E1A8C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D61EE-CF4E-4444-AB6E-848D2F4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9A6C7-AC47-4C8C-97F9-52D089E1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A252A-AD06-4841-8F9C-ED0AEC4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093810-2041-413F-AE68-3EE82BBA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3390-82C6-4693-8525-EEBC07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72C3-C2F2-4D63-8D8B-CD007468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41FBD-4048-4118-990B-5FF8ACE4F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CFA93-E1B2-4A56-9AB5-8C186A2AF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E63B2A-2972-4A28-9A46-D2D12E58286D}"/>
              </a:ext>
            </a:extLst>
          </p:cNvPr>
          <p:cNvGrpSpPr/>
          <p:nvPr/>
        </p:nvGrpSpPr>
        <p:grpSpPr>
          <a:xfrm>
            <a:off x="195385" y="436978"/>
            <a:ext cx="11785600" cy="2042160"/>
            <a:chOff x="1072" y="2747"/>
            <a:chExt cx="17444" cy="321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FA3CF4-B7E5-4A9D-869A-B515AF07C280}"/>
                </a:ext>
              </a:extLst>
            </p:cNvPr>
            <p:cNvGrpSpPr/>
            <p:nvPr/>
          </p:nvGrpSpPr>
          <p:grpSpPr>
            <a:xfrm>
              <a:off x="1072" y="2747"/>
              <a:ext cx="1316" cy="3216"/>
              <a:chOff x="2384" y="2668"/>
              <a:chExt cx="1316" cy="3216"/>
            </a:xfrm>
          </p:grpSpPr>
          <p:sp>
            <p:nvSpPr>
              <p:cNvPr id="14" name="矩形 87">
                <a:extLst>
                  <a:ext uri="{FF2B5EF4-FFF2-40B4-BE49-F238E27FC236}">
                    <a16:creationId xmlns:a16="http://schemas.microsoft.com/office/drawing/2014/main" id="{5D6218DE-BA00-4A8C-AEC0-903D1DD27A7E}"/>
                  </a:ext>
                </a:extLst>
              </p:cNvPr>
              <p:cNvSpPr/>
              <p:nvPr/>
            </p:nvSpPr>
            <p:spPr>
              <a:xfrm>
                <a:off x="2400" y="3160"/>
                <a:ext cx="528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矩形 102">
                <a:extLst>
                  <a:ext uri="{FF2B5EF4-FFF2-40B4-BE49-F238E27FC236}">
                    <a16:creationId xmlns:a16="http://schemas.microsoft.com/office/drawing/2014/main" id="{998B798D-7FD5-4C81-B9F5-6F8D29A81E97}"/>
                  </a:ext>
                </a:extLst>
              </p:cNvPr>
              <p:cNvSpPr/>
              <p:nvPr/>
            </p:nvSpPr>
            <p:spPr>
              <a:xfrm>
                <a:off x="2400" y="2668"/>
                <a:ext cx="1300" cy="2722"/>
              </a:xfrm>
              <a:prstGeom prst="rect">
                <a:avLst/>
              </a:prstGeom>
              <a:solidFill>
                <a:srgbClr val="00582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89">
                <a:extLst>
                  <a:ext uri="{FF2B5EF4-FFF2-40B4-BE49-F238E27FC236}">
                    <a16:creationId xmlns:a16="http://schemas.microsoft.com/office/drawing/2014/main" id="{DA9BB46C-78EA-4BDF-9E17-77BFC60F1DE0}"/>
                  </a:ext>
                </a:extLst>
              </p:cNvPr>
              <p:cNvSpPr/>
              <p:nvPr/>
            </p:nvSpPr>
            <p:spPr>
              <a:xfrm rot="-5400000" flipH="1">
                <a:off x="2400" y="5358"/>
                <a:ext cx="510" cy="542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2EA8F9-B98D-4AE2-9BAB-A4966B7C4258}"/>
                </a:ext>
              </a:extLst>
            </p:cNvPr>
            <p:cNvGrpSpPr/>
            <p:nvPr/>
          </p:nvGrpSpPr>
          <p:grpSpPr>
            <a:xfrm>
              <a:off x="17988" y="3203"/>
              <a:ext cx="528" cy="2723"/>
              <a:chOff x="16273" y="3160"/>
              <a:chExt cx="528" cy="2723"/>
            </a:xfrm>
          </p:grpSpPr>
          <p:sp>
            <p:nvSpPr>
              <p:cNvPr id="12" name="矩形 88">
                <a:extLst>
                  <a:ext uri="{FF2B5EF4-FFF2-40B4-BE49-F238E27FC236}">
                    <a16:creationId xmlns:a16="http://schemas.microsoft.com/office/drawing/2014/main" id="{5FCE61B3-8A3D-4886-A006-CED88F46D276}"/>
                  </a:ext>
                </a:extLst>
              </p:cNvPr>
              <p:cNvSpPr/>
              <p:nvPr/>
            </p:nvSpPr>
            <p:spPr>
              <a:xfrm>
                <a:off x="16273" y="3160"/>
                <a:ext cx="527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直角三角形 91">
                <a:extLst>
                  <a:ext uri="{FF2B5EF4-FFF2-40B4-BE49-F238E27FC236}">
                    <a16:creationId xmlns:a16="http://schemas.microsoft.com/office/drawing/2014/main" id="{2A2C1F84-2E2F-4937-A0F5-A64A3C17E925}"/>
                  </a:ext>
                </a:extLst>
              </p:cNvPr>
              <p:cNvSpPr/>
              <p:nvPr/>
            </p:nvSpPr>
            <p:spPr>
              <a:xfrm rot="-5400000" flipH="1" flipV="1">
                <a:off x="16283" y="5365"/>
                <a:ext cx="507" cy="528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17" name="直接连接符 83">
            <a:extLst>
              <a:ext uri="{FF2B5EF4-FFF2-40B4-BE49-F238E27FC236}">
                <a16:creationId xmlns:a16="http://schemas.microsoft.com/office/drawing/2014/main" id="{9AB3BDF5-8C5C-4727-B9C9-CB6EF28CE63A}"/>
              </a:ext>
            </a:extLst>
          </p:cNvPr>
          <p:cNvSpPr/>
          <p:nvPr/>
        </p:nvSpPr>
        <p:spPr>
          <a:xfrm>
            <a:off x="1919923" y="6229668"/>
            <a:ext cx="8353425" cy="1587"/>
          </a:xfrm>
          <a:prstGeom prst="line">
            <a:avLst/>
          </a:prstGeom>
          <a:ln w="6350" cap="flat" cmpd="sng">
            <a:solidFill>
              <a:srgbClr val="BFBFBF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A4E641B7-D37E-4CBA-B48A-A2ADFC0F9993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5FF7FF-BDEF-4DD3-BA97-391D35024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75" y="1301213"/>
            <a:ext cx="10293936" cy="295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2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570522" y="1206151"/>
            <a:ext cx="6994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任务：基于</a:t>
            </a:r>
            <a:r>
              <a:rPr lang="en-US" altLang="zh-CN" sz="2400" dirty="0"/>
              <a:t>Prompt</a:t>
            </a:r>
            <a:r>
              <a:rPr lang="zh-CN" altLang="en-US" sz="2400" dirty="0"/>
              <a:t>的低资源场景下的文本分类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C5F51-B98D-4AB4-A65A-E7CE3D2C6352}"/>
              </a:ext>
            </a:extLst>
          </p:cNvPr>
          <p:cNvSpPr txBox="1"/>
          <p:nvPr/>
        </p:nvSpPr>
        <p:spPr>
          <a:xfrm>
            <a:off x="570523" y="2397789"/>
            <a:ext cx="104726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动机：</a:t>
            </a:r>
            <a:endParaRPr lang="en-US" altLang="zh-CN" sz="2400" dirty="0"/>
          </a:p>
          <a:p>
            <a:r>
              <a:rPr lang="zh-CN" altLang="en-US" sz="2400" dirty="0"/>
              <a:t>       基于</a:t>
            </a:r>
            <a:r>
              <a:rPr lang="en-US" altLang="zh-CN" sz="2400" dirty="0"/>
              <a:t>Prompt</a:t>
            </a:r>
            <a:r>
              <a:rPr lang="zh-CN" altLang="en-US" sz="2400" dirty="0"/>
              <a:t>的文本分类中关键的一步是构建词表到类别标签的映射。这个映射常常是由人工设计或通过梯度下降搜索得到的，覆盖范围往往不全，进而导致高偏差和高方差。本文提出利用外部知识库的信息来构建高质量的语言表达器（</a:t>
            </a:r>
            <a:r>
              <a:rPr lang="en-GB" altLang="zh-CN" sz="2400" dirty="0"/>
              <a:t>Verbalizer</a:t>
            </a:r>
            <a:r>
              <a:rPr lang="zh-CN" altLang="en-US" sz="2400" dirty="0"/>
              <a:t>，即词表到类别标签的映射），从而提升低资源场景下的文本分类性能。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995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7DDB55-9140-4024-A9E8-7A49439BC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91" y="742255"/>
            <a:ext cx="10346618" cy="600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BC3223-45A2-4BFB-9D9E-F9EF9EC3FF92}"/>
              </a:ext>
            </a:extLst>
          </p:cNvPr>
          <p:cNvSpPr txBox="1"/>
          <p:nvPr/>
        </p:nvSpPr>
        <p:spPr>
          <a:xfrm>
            <a:off x="576079" y="1037271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1. </a:t>
            </a:r>
            <a:r>
              <a:rPr lang="zh-CN" altLang="en-US" sz="2400" dirty="0"/>
              <a:t>基于</a:t>
            </a:r>
            <a:r>
              <a:rPr lang="en-US" altLang="zh-CN" sz="2400" dirty="0"/>
              <a:t>Prompt</a:t>
            </a:r>
            <a:r>
              <a:rPr lang="zh-CN" altLang="en-US" sz="2400" dirty="0"/>
              <a:t>的文本分类的一般流程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630F4C-6927-4AFC-A900-D773DF6B6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71" y="2413648"/>
            <a:ext cx="4467225" cy="4191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D988659-65A4-49EA-B969-A39795B550DE}"/>
              </a:ext>
            </a:extLst>
          </p:cNvPr>
          <p:cNvSpPr txBox="1"/>
          <p:nvPr/>
        </p:nvSpPr>
        <p:spPr>
          <a:xfrm>
            <a:off x="576079" y="19223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1.1 </a:t>
            </a:r>
            <a:r>
              <a:rPr lang="zh-CN" altLang="en-US" sz="2000" b="1" dirty="0"/>
              <a:t>套用</a:t>
            </a:r>
            <a:r>
              <a:rPr lang="en-US" altLang="zh-CN" sz="2000" b="1" dirty="0"/>
              <a:t>Prompt</a:t>
            </a:r>
            <a:r>
              <a:rPr lang="zh-CN" altLang="en-US" sz="2000" b="1" dirty="0"/>
              <a:t>模板对输入句子进行变形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F959AC-9D24-47C2-A8B9-3D765D36B35B}"/>
              </a:ext>
            </a:extLst>
          </p:cNvPr>
          <p:cNvSpPr txBox="1"/>
          <p:nvPr/>
        </p:nvSpPr>
        <p:spPr>
          <a:xfrm>
            <a:off x="576079" y="332424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1.2 </a:t>
            </a:r>
            <a:r>
              <a:rPr lang="zh-CN" altLang="en-US" sz="2000" b="1" dirty="0"/>
              <a:t>预训练语言模型输出</a:t>
            </a:r>
            <a:r>
              <a:rPr lang="en-US" altLang="zh-CN" sz="2000" b="1" dirty="0"/>
              <a:t>[MASK]</a:t>
            </a:r>
            <a:r>
              <a:rPr lang="zh-CN" altLang="en-US" sz="2000" b="1" dirty="0"/>
              <a:t>对应的预测词概率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74D9FFE-4644-400F-922C-037673168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229" y="3834558"/>
            <a:ext cx="2609850" cy="40957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DE80BDD-89D0-4876-8E5B-B6650B54648A}"/>
              </a:ext>
            </a:extLst>
          </p:cNvPr>
          <p:cNvSpPr txBox="1"/>
          <p:nvPr/>
        </p:nvSpPr>
        <p:spPr>
          <a:xfrm>
            <a:off x="576079" y="473562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1.3 </a:t>
            </a:r>
            <a:r>
              <a:rPr lang="zh-CN" altLang="en-US" sz="2000" b="1" dirty="0"/>
              <a:t>语言表达器把预测词概率转换成类别标签概率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87AF45-8893-4522-9FA6-8E8876CEF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71" y="5255408"/>
            <a:ext cx="48291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90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BC3223-45A2-4BFB-9D9E-F9EF9EC3FF92}"/>
              </a:ext>
            </a:extLst>
          </p:cNvPr>
          <p:cNvSpPr txBox="1"/>
          <p:nvPr/>
        </p:nvSpPr>
        <p:spPr>
          <a:xfrm>
            <a:off x="576079" y="1037271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zh-CN" altLang="en-US" sz="2400" dirty="0"/>
              <a:t>语言表达器中标签词集合      的构建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988659-65A4-49EA-B969-A39795B550DE}"/>
              </a:ext>
            </a:extLst>
          </p:cNvPr>
          <p:cNvSpPr txBox="1"/>
          <p:nvPr/>
        </p:nvSpPr>
        <p:spPr>
          <a:xfrm>
            <a:off x="576079" y="19223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2.1 </a:t>
            </a:r>
            <a:r>
              <a:rPr lang="zh-CN" altLang="en-US" sz="2000" b="1" dirty="0"/>
              <a:t>对于文本主题分类任务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F959AC-9D24-47C2-A8B9-3D765D36B35B}"/>
              </a:ext>
            </a:extLst>
          </p:cNvPr>
          <p:cNvSpPr txBox="1"/>
          <p:nvPr/>
        </p:nvSpPr>
        <p:spPr>
          <a:xfrm>
            <a:off x="576079" y="413546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2.2 </a:t>
            </a:r>
            <a:r>
              <a:rPr lang="zh-CN" altLang="en-US" sz="2000" b="1" dirty="0"/>
              <a:t>对于文本情感分类任务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760BFA-925B-4963-855B-BACC8343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16" y="1142777"/>
            <a:ext cx="447675" cy="504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8C2CEB9-D678-4006-807D-D7D5E606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71" y="2442103"/>
            <a:ext cx="2209800" cy="3333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CBB21B7-4F72-451B-98E4-AE375D5B4F50}"/>
              </a:ext>
            </a:extLst>
          </p:cNvPr>
          <p:cNvSpPr txBox="1"/>
          <p:nvPr/>
        </p:nvSpPr>
        <p:spPr>
          <a:xfrm>
            <a:off x="867508" y="2951046"/>
            <a:ext cx="9222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其中</a:t>
            </a:r>
            <a:r>
              <a:rPr lang="en-US" altLang="zh-CN" sz="2000" dirty="0"/>
              <a:t>v</a:t>
            </a:r>
            <a:r>
              <a:rPr lang="zh-CN" altLang="en-US" sz="2000" dirty="0"/>
              <a:t>为标签名称，          为外部知识库中与标签名称的相关分数大于阈值的词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77E207-DEEE-4E2A-9D31-8F3B20887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341" y="2981405"/>
            <a:ext cx="714895" cy="32358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BE50CDA-DD03-4085-804B-BFBF6917993E}"/>
              </a:ext>
            </a:extLst>
          </p:cNvPr>
          <p:cNvSpPr txBox="1"/>
          <p:nvPr/>
        </p:nvSpPr>
        <p:spPr>
          <a:xfrm>
            <a:off x="867508" y="4674898"/>
            <a:ext cx="92221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从以往研究人员总结的情感词典（</a:t>
            </a:r>
            <a:r>
              <a:rPr lang="en-US" altLang="zh-CN" sz="2000" dirty="0"/>
              <a:t>sentiment dictionary</a:t>
            </a:r>
            <a:r>
              <a:rPr lang="zh-CN" altLang="en-US" sz="2000" dirty="0"/>
              <a:t>）中得到</a:t>
            </a:r>
            <a:r>
              <a:rPr lang="en-US" altLang="zh-CN" sz="2000" dirty="0"/>
              <a:t>positive/negative</a:t>
            </a:r>
            <a:r>
              <a:rPr lang="zh-CN" altLang="en-US" sz="2000" dirty="0"/>
              <a:t>的标签词</a:t>
            </a:r>
          </a:p>
        </p:txBody>
      </p:sp>
    </p:spTree>
    <p:extLst>
      <p:ext uri="{BB962C8B-B14F-4D97-AF65-F5344CB8AC3E}">
        <p14:creationId xmlns:p14="http://schemas.microsoft.com/office/powerpoint/2010/main" val="333148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BC3223-45A2-4BFB-9D9E-F9EF9EC3FF92}"/>
              </a:ext>
            </a:extLst>
          </p:cNvPr>
          <p:cNvSpPr txBox="1"/>
          <p:nvPr/>
        </p:nvSpPr>
        <p:spPr>
          <a:xfrm>
            <a:off x="576079" y="1037271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zh-CN" altLang="en-US" sz="2400" dirty="0"/>
              <a:t>语言表达器的优化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988659-65A4-49EA-B969-A39795B550DE}"/>
              </a:ext>
            </a:extLst>
          </p:cNvPr>
          <p:cNvSpPr txBox="1"/>
          <p:nvPr/>
        </p:nvSpPr>
        <p:spPr>
          <a:xfrm>
            <a:off x="576079" y="19223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3.1 </a:t>
            </a:r>
            <a:r>
              <a:rPr lang="zh-CN" altLang="en-US" sz="2000" b="1" dirty="0"/>
              <a:t>零样本场景下的优化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F959AC-9D24-47C2-A8B9-3D765D36B35B}"/>
              </a:ext>
            </a:extLst>
          </p:cNvPr>
          <p:cNvSpPr txBox="1"/>
          <p:nvPr/>
        </p:nvSpPr>
        <p:spPr>
          <a:xfrm>
            <a:off x="576079" y="413546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3.2 </a:t>
            </a:r>
            <a:r>
              <a:rPr lang="zh-CN" altLang="en-US" sz="2000" b="1" dirty="0"/>
              <a:t>少样本场景下的优化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33E1D2-7DD8-4C7F-A57A-BD35E4249001}"/>
              </a:ext>
            </a:extLst>
          </p:cNvPr>
          <p:cNvSpPr txBox="1"/>
          <p:nvPr/>
        </p:nvSpPr>
        <p:spPr>
          <a:xfrm>
            <a:off x="1011970" y="2476606"/>
            <a:ext cx="94762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对于</a:t>
            </a:r>
            <a:r>
              <a:rPr lang="en-US" altLang="zh-CN" sz="2000" dirty="0"/>
              <a:t>OOV</a:t>
            </a:r>
            <a:r>
              <a:rPr lang="zh-CN" altLang="en-US" sz="2000" dirty="0"/>
              <a:t>的标签词，使用其各个</a:t>
            </a:r>
            <a:r>
              <a:rPr lang="en-US" altLang="zh-CN" sz="2000" dirty="0"/>
              <a:t>token</a:t>
            </a:r>
            <a:r>
              <a:rPr lang="zh-CN" altLang="en-US" sz="2000" dirty="0"/>
              <a:t>的预测概率的平均作为其最终预测概率。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去除先验预测概率                                             小于阈值的罕见标签词。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对标签词的预测概率进行修正：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3368F3-32C4-4DED-95E5-855B946BE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743" y="2794135"/>
            <a:ext cx="3011365" cy="5826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9AFE01-7AE3-41BB-9E94-7EFB431B8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69" y="3309930"/>
            <a:ext cx="4015886" cy="56623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E359937-7F0A-4A35-89D0-0423B25F2212}"/>
              </a:ext>
            </a:extLst>
          </p:cNvPr>
          <p:cNvSpPr txBox="1"/>
          <p:nvPr/>
        </p:nvSpPr>
        <p:spPr>
          <a:xfrm>
            <a:off x="1011970" y="4633369"/>
            <a:ext cx="94762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去除包含多个</a:t>
            </a:r>
            <a:r>
              <a:rPr lang="en-US" altLang="zh-CN" sz="2000" dirty="0"/>
              <a:t>token</a:t>
            </a:r>
            <a:r>
              <a:rPr lang="zh-CN" altLang="en-US" sz="2000" dirty="0"/>
              <a:t>的标签词，因为它们对训练目标有干扰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为了减轻高噪声标签词的影响，对每个标签词的权重进行学习：</a:t>
            </a:r>
            <a:endParaRPr lang="en-US" altLang="zh-CN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270BA1-DB0F-44A1-9F19-A9494D050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73" y="5374599"/>
            <a:ext cx="2819400" cy="79057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E0C22A6-064F-447F-8A7E-4A5D1F05FB04}"/>
              </a:ext>
            </a:extLst>
          </p:cNvPr>
          <p:cNvSpPr txBox="1"/>
          <p:nvPr/>
        </p:nvSpPr>
        <p:spPr>
          <a:xfrm>
            <a:off x="1359877" y="61724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其中       是可学习的参数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12B650C-6E46-4808-A2C5-5EF34D12B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523" y="6226143"/>
            <a:ext cx="4572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8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BC3223-45A2-4BFB-9D9E-F9EF9EC3FF92}"/>
              </a:ext>
            </a:extLst>
          </p:cNvPr>
          <p:cNvSpPr txBox="1"/>
          <p:nvPr/>
        </p:nvSpPr>
        <p:spPr>
          <a:xfrm>
            <a:off x="576079" y="1037271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4. </a:t>
            </a:r>
            <a:r>
              <a:rPr lang="zh-CN" altLang="en-US" sz="2400" dirty="0"/>
              <a:t>类别标签的预测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988659-65A4-49EA-B969-A39795B550DE}"/>
              </a:ext>
            </a:extLst>
          </p:cNvPr>
          <p:cNvSpPr txBox="1"/>
          <p:nvPr/>
        </p:nvSpPr>
        <p:spPr>
          <a:xfrm>
            <a:off x="576079" y="19223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4.1 </a:t>
            </a:r>
            <a:r>
              <a:rPr lang="zh-CN" altLang="en-US" sz="2000" b="1" dirty="0"/>
              <a:t>对于零样本场景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F959AC-9D24-47C2-A8B9-3D765D36B35B}"/>
              </a:ext>
            </a:extLst>
          </p:cNvPr>
          <p:cNvSpPr txBox="1"/>
          <p:nvPr/>
        </p:nvSpPr>
        <p:spPr>
          <a:xfrm>
            <a:off x="576079" y="342535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4.2 </a:t>
            </a:r>
            <a:r>
              <a:rPr lang="zh-CN" altLang="en-US" sz="2000" b="1" dirty="0"/>
              <a:t>对于少样本场景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849E066-00C5-44C1-81DE-EF0CF64C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2396911"/>
            <a:ext cx="5076825" cy="7334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C2A2D21-7807-4812-A345-128082E99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54" y="3825463"/>
            <a:ext cx="4419600" cy="9239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0974103-A887-4C5B-9C47-01613FD42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4918907"/>
            <a:ext cx="48387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3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7F3B2C-590A-47F9-9715-1A96FA30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7" y="1953104"/>
            <a:ext cx="11776686" cy="31932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44F790-D4A1-4A9D-8781-29593FD54382}"/>
              </a:ext>
            </a:extLst>
          </p:cNvPr>
          <p:cNvSpPr txBox="1"/>
          <p:nvPr/>
        </p:nvSpPr>
        <p:spPr>
          <a:xfrm>
            <a:off x="509270" y="114762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零样本文本分类</a:t>
            </a:r>
          </a:p>
        </p:txBody>
      </p:sp>
    </p:spTree>
    <p:extLst>
      <p:ext uri="{BB962C8B-B14F-4D97-AF65-F5344CB8AC3E}">
        <p14:creationId xmlns:p14="http://schemas.microsoft.com/office/powerpoint/2010/main" val="377910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44F790-D4A1-4A9D-8781-29593FD54382}"/>
              </a:ext>
            </a:extLst>
          </p:cNvPr>
          <p:cNvSpPr txBox="1"/>
          <p:nvPr/>
        </p:nvSpPr>
        <p:spPr>
          <a:xfrm>
            <a:off x="509270" y="116953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少样本文本分类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BF4E77-C0BC-4289-9F68-AC65A893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60" y="1797232"/>
            <a:ext cx="10908079" cy="458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86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769814" y="1034396"/>
            <a:ext cx="7764585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少样本场景中所提出的</a:t>
            </a:r>
            <a:r>
              <a:rPr lang="en-US" altLang="zh-CN" sz="2000" dirty="0"/>
              <a:t>Contextualized Calibration</a:t>
            </a:r>
            <a:r>
              <a:rPr lang="zh-CN" altLang="en-US" sz="2000" dirty="0"/>
              <a:t>的贡献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9D2A6D-FF64-4873-87F7-A63FDCC4E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1833664"/>
            <a:ext cx="66865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6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769814" y="1034396"/>
            <a:ext cx="7764585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高频预测标签词的多样性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60E270-0D9F-4453-A4FE-DC315CFE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841" y="1287959"/>
            <a:ext cx="6296514" cy="499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7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374</Words>
  <Application>Microsoft Office PowerPoint</Application>
  <PresentationFormat>宽屏</PresentationFormat>
  <Paragraphs>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仿宋</vt:lpstr>
      <vt:lpstr>华文楷体</vt:lpstr>
      <vt:lpstr>宋体</vt:lpstr>
      <vt:lpstr>Arial</vt:lpstr>
      <vt:lpstr>Arial Black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羽鑫</dc:creator>
  <cp:lastModifiedBy>羽鑫</cp:lastModifiedBy>
  <cp:revision>226</cp:revision>
  <dcterms:created xsi:type="dcterms:W3CDTF">2021-06-01T08:24:38Z</dcterms:created>
  <dcterms:modified xsi:type="dcterms:W3CDTF">2021-08-14T08:39:10Z</dcterms:modified>
</cp:coreProperties>
</file>