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25" r:id="rId3"/>
    <p:sldId id="435" r:id="rId4"/>
    <p:sldId id="419" r:id="rId5"/>
    <p:sldId id="427" r:id="rId6"/>
    <p:sldId id="436" r:id="rId7"/>
    <p:sldId id="428" r:id="rId8"/>
    <p:sldId id="429" r:id="rId9"/>
    <p:sldId id="434" r:id="rId10"/>
    <p:sldId id="421" r:id="rId11"/>
    <p:sldId id="432" r:id="rId12"/>
    <p:sldId id="43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852" autoAdjust="0"/>
  </p:normalViewPr>
  <p:slideViewPr>
    <p:cSldViewPr snapToGrid="0">
      <p:cViewPr varScale="1">
        <p:scale>
          <a:sx n="98" d="100"/>
          <a:sy n="98" d="100"/>
        </p:scale>
        <p:origin x="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38CA0-D2C8-4CBD-A352-0534456D3CCF}" type="datetimeFigureOut">
              <a:rPr lang="zh-CN" altLang="en-US" smtClean="0"/>
              <a:t>2021/8/7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C1761-BC92-431A-8FD2-4DA588ACCE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86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EC584-D879-4BC2-9EFB-E67AB630A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286E5B-F704-40E3-A1E8-DB0FDAF1A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1D8501-DF67-411D-A477-A03C9AA84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5BC256-B1E8-48AA-A767-3B0EC6B68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2FB524-73C4-43DC-97AA-331D140C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32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2E1AC-DF1E-4E37-9627-F4FAC300A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419A72-0BB0-42F0-9D1A-B36043A95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65065A-5A30-442A-BE59-05645B638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DEB79F-2DB5-4BDA-95BF-B9BD34CF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92E81B-8457-4221-9759-003101D7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08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78497-5FF2-4063-8CBD-A61D6F09C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8E37C8-54AA-4227-AB6F-06E97AD84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96A281-0EC1-4F37-89CC-F4B2714F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DC9D7C-9051-44EB-9AF3-C65F0E6DC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32B6A1-B207-412B-B216-6861D3E4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251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EBEA6-E0DB-40B1-B194-C1D06A6E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6AE76F-E91D-49D5-84EB-01E1615C9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2DCBC0-F8D0-4784-8509-F0235CE15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572F83-3E5B-40FD-8A47-AC65D8AC0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7C56E5-E1D9-494E-BEFF-78DB9008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2E66E8-369F-44EF-BE25-6BFDAE15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82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2FEE2-DD5B-420D-B2C3-A0E4E5397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7542F0-0A55-46B9-B6F9-130729DF7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B62748-135C-4FBF-A2CC-0934D0FC0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1FD7DC-E5AE-4753-A3AE-BF4AE6B78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473791-30B3-4762-A60C-4E79E046B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D2A6019-14CE-4D0C-B38A-3E9EC2301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9D0F88-B27D-4687-9E5B-4056923B8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CD0C52-D3AE-4851-8FB0-87A50E9C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91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8D405-FDF0-441C-9732-A01B8E048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BA742C-97C0-41AB-A285-F6365B35F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32EF57-BB7F-41E3-9280-0F4AD639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0C3E0F-FA2F-4ACD-A6E1-9E390A23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47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94F57C-61B4-4E47-9BBC-BF1E0CF7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148328-AE47-4FB0-A81E-4D941B2BB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DB6EA0-FC67-4C61-8F45-205ACFA6C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09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538B5-0CDD-49B1-9550-C3FEF4F24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9272C4-2797-4D1D-973A-AB50961B7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608C78-4E00-4EA2-BC51-B9A01E835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78A6B1-E6F0-4EE9-BE3C-7A57AD93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931090-5A14-48A8-9AA2-7566DB0F2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63FCDA-BE2A-4689-BC84-D4D7A6F3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88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ED19F-DF58-4BE2-8646-27299FEB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0F0D68-EDBC-4F73-934F-8BAB8FBF4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208708-EEDB-4CEC-B2B1-00F6BA8FC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8BC80E-37F7-45FC-88AF-B1DA76FC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4B1A78-B5C6-4F6A-991D-4E0F67E72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4F5965-434E-48EA-B7EF-71E52608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841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91F20-A1D8-409B-B75A-C4CA0D0D8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ABA1A4-C053-4579-9EEF-12122CDCB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BDE58-8695-4E12-B3CD-64EC39C83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394BF8-C72C-4DD8-82FB-858F3617C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33E7B8-7751-4C02-BF43-D23A86D25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935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8B55B0-5C6E-4BB8-B735-1178200977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7CF004-AFFF-4675-A9B9-036E1A8C2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5D61EE-CF4E-4444-AB6E-848D2F4F5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09A6C7-AC47-4C8C-97F9-52D089E1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FA252A-AD06-4841-8F9C-ED0AEC49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517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093810-2041-413F-AE68-3EE82BBA0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803390-82C6-4693-8525-EEBC0737A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2B72C3-C2F2-4D63-8D8B-CD007468A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35C42-AD79-47EE-A839-0FD92B9C5B13}" type="datetimeFigureOut">
              <a:rPr lang="zh-CN" altLang="en-US" smtClean="0"/>
              <a:t>2021/8/7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341FBD-4048-4118-990B-5FF8ACE4F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CFA93-E1B2-4A56-9AB5-8C186A2AF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94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45E63B2A-2972-4A28-9A46-D2D12E58286D}"/>
              </a:ext>
            </a:extLst>
          </p:cNvPr>
          <p:cNvGrpSpPr/>
          <p:nvPr/>
        </p:nvGrpSpPr>
        <p:grpSpPr>
          <a:xfrm>
            <a:off x="195385" y="436978"/>
            <a:ext cx="11785600" cy="2042160"/>
            <a:chOff x="1072" y="2747"/>
            <a:chExt cx="17444" cy="321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EFA3CF4-B7E5-4A9D-869A-B515AF07C280}"/>
                </a:ext>
              </a:extLst>
            </p:cNvPr>
            <p:cNvGrpSpPr/>
            <p:nvPr/>
          </p:nvGrpSpPr>
          <p:grpSpPr>
            <a:xfrm>
              <a:off x="1072" y="2747"/>
              <a:ext cx="1316" cy="3216"/>
              <a:chOff x="2384" y="2668"/>
              <a:chExt cx="1316" cy="3216"/>
            </a:xfrm>
          </p:grpSpPr>
          <p:sp>
            <p:nvSpPr>
              <p:cNvPr id="14" name="矩形 87">
                <a:extLst>
                  <a:ext uri="{FF2B5EF4-FFF2-40B4-BE49-F238E27FC236}">
                    <a16:creationId xmlns:a16="http://schemas.microsoft.com/office/drawing/2014/main" id="{5D6218DE-BA00-4A8C-AEC0-903D1DD27A7E}"/>
                  </a:ext>
                </a:extLst>
              </p:cNvPr>
              <p:cNvSpPr/>
              <p:nvPr/>
            </p:nvSpPr>
            <p:spPr>
              <a:xfrm>
                <a:off x="2400" y="3160"/>
                <a:ext cx="528" cy="2723"/>
              </a:xfrm>
              <a:prstGeom prst="rect">
                <a:avLst/>
              </a:prstGeom>
              <a:solidFill>
                <a:srgbClr val="A5A5A5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5" name="矩形 102">
                <a:extLst>
                  <a:ext uri="{FF2B5EF4-FFF2-40B4-BE49-F238E27FC236}">
                    <a16:creationId xmlns:a16="http://schemas.microsoft.com/office/drawing/2014/main" id="{998B798D-7FD5-4C81-B9F5-6F8D29A81E97}"/>
                  </a:ext>
                </a:extLst>
              </p:cNvPr>
              <p:cNvSpPr/>
              <p:nvPr/>
            </p:nvSpPr>
            <p:spPr>
              <a:xfrm>
                <a:off x="2400" y="2668"/>
                <a:ext cx="1300" cy="2722"/>
              </a:xfrm>
              <a:prstGeom prst="rect">
                <a:avLst/>
              </a:prstGeom>
              <a:solidFill>
                <a:srgbClr val="005825"/>
              </a:solidFill>
              <a:ln w="1270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6" name="直角三角形 89">
                <a:extLst>
                  <a:ext uri="{FF2B5EF4-FFF2-40B4-BE49-F238E27FC236}">
                    <a16:creationId xmlns:a16="http://schemas.microsoft.com/office/drawing/2014/main" id="{DA9BB46C-78EA-4BDF-9E17-77BFC60F1DE0}"/>
                  </a:ext>
                </a:extLst>
              </p:cNvPr>
              <p:cNvSpPr/>
              <p:nvPr/>
            </p:nvSpPr>
            <p:spPr>
              <a:xfrm rot="-5400000" flipH="1">
                <a:off x="2400" y="5358"/>
                <a:ext cx="510" cy="542"/>
              </a:xfrm>
              <a:prstGeom prst="rtTriangle">
                <a:avLst/>
              </a:prstGeom>
              <a:solidFill>
                <a:schemeClr val="tx1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F2EA8F9-B98D-4AE2-9BAB-A4966B7C4258}"/>
                </a:ext>
              </a:extLst>
            </p:cNvPr>
            <p:cNvGrpSpPr/>
            <p:nvPr/>
          </p:nvGrpSpPr>
          <p:grpSpPr>
            <a:xfrm>
              <a:off x="17988" y="3203"/>
              <a:ext cx="528" cy="2723"/>
              <a:chOff x="16273" y="3160"/>
              <a:chExt cx="528" cy="2723"/>
            </a:xfrm>
          </p:grpSpPr>
          <p:sp>
            <p:nvSpPr>
              <p:cNvPr id="12" name="矩形 88">
                <a:extLst>
                  <a:ext uri="{FF2B5EF4-FFF2-40B4-BE49-F238E27FC236}">
                    <a16:creationId xmlns:a16="http://schemas.microsoft.com/office/drawing/2014/main" id="{5FCE61B3-8A3D-4886-A006-CED88F46D276}"/>
                  </a:ext>
                </a:extLst>
              </p:cNvPr>
              <p:cNvSpPr/>
              <p:nvPr/>
            </p:nvSpPr>
            <p:spPr>
              <a:xfrm>
                <a:off x="16273" y="3160"/>
                <a:ext cx="527" cy="2723"/>
              </a:xfrm>
              <a:prstGeom prst="rect">
                <a:avLst/>
              </a:prstGeom>
              <a:solidFill>
                <a:srgbClr val="A5A5A5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3" name="直角三角形 91">
                <a:extLst>
                  <a:ext uri="{FF2B5EF4-FFF2-40B4-BE49-F238E27FC236}">
                    <a16:creationId xmlns:a16="http://schemas.microsoft.com/office/drawing/2014/main" id="{2A2C1F84-2E2F-4937-A0F5-A64A3C17E925}"/>
                  </a:ext>
                </a:extLst>
              </p:cNvPr>
              <p:cNvSpPr/>
              <p:nvPr/>
            </p:nvSpPr>
            <p:spPr>
              <a:xfrm rot="-5400000" flipH="1" flipV="1">
                <a:off x="16283" y="5365"/>
                <a:ext cx="507" cy="528"/>
              </a:xfrm>
              <a:prstGeom prst="rtTriangle">
                <a:avLst/>
              </a:prstGeom>
              <a:solidFill>
                <a:schemeClr val="tx1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</p:grpSp>
      <p:sp>
        <p:nvSpPr>
          <p:cNvPr id="17" name="直接连接符 83">
            <a:extLst>
              <a:ext uri="{FF2B5EF4-FFF2-40B4-BE49-F238E27FC236}">
                <a16:creationId xmlns:a16="http://schemas.microsoft.com/office/drawing/2014/main" id="{9AB3BDF5-8C5C-4727-B9C9-CB6EF28CE63A}"/>
              </a:ext>
            </a:extLst>
          </p:cNvPr>
          <p:cNvSpPr/>
          <p:nvPr/>
        </p:nvSpPr>
        <p:spPr>
          <a:xfrm>
            <a:off x="1919923" y="6229668"/>
            <a:ext cx="8353425" cy="1587"/>
          </a:xfrm>
          <a:prstGeom prst="line">
            <a:avLst/>
          </a:prstGeom>
          <a:ln w="6350" cap="flat" cmpd="sng">
            <a:solidFill>
              <a:srgbClr val="BFBFBF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18" name="灯片编号占位符 4">
            <a:extLst>
              <a:ext uri="{FF2B5EF4-FFF2-40B4-BE49-F238E27FC236}">
                <a16:creationId xmlns:a16="http://schemas.microsoft.com/office/drawing/2014/main" id="{A4E641B7-D37E-4CBA-B48A-A2ADFC0F9993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1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69098BC-435A-4030-81A5-4D0F9BC22E6F}"/>
              </a:ext>
            </a:extLst>
          </p:cNvPr>
          <p:cNvSpPr txBox="1"/>
          <p:nvPr/>
        </p:nvSpPr>
        <p:spPr>
          <a:xfrm>
            <a:off x="2465033" y="5705455"/>
            <a:ext cx="7261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latin typeface="等线" panose="02010600030101010101" pitchFamily="2" charset="-122"/>
                <a:cs typeface="Times New Roman" panose="02020603050405020304" pitchFamily="18" charset="0"/>
              </a:rPr>
              <a:t>ACL 2021</a:t>
            </a:r>
            <a:endParaRPr lang="zh-CN" altLang="en-US" sz="24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80CF088-CFFC-4141-BD6F-75BD4A7EF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246" y="1537141"/>
            <a:ext cx="9894649" cy="312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423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介绍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2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1FB156-AD4E-4EAA-BA5F-391FC0CFD172}"/>
              </a:ext>
            </a:extLst>
          </p:cNvPr>
          <p:cNvSpPr txBox="1"/>
          <p:nvPr/>
        </p:nvSpPr>
        <p:spPr>
          <a:xfrm>
            <a:off x="6096000" y="156565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 dirty="0"/>
              <a:t>任务：文档级事件抽取</a:t>
            </a:r>
            <a:endParaRPr lang="en-US" altLang="zh-CN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4C5F51-B98D-4AB4-A65A-E7CE3D2C6352}"/>
              </a:ext>
            </a:extLst>
          </p:cNvPr>
          <p:cNvSpPr txBox="1"/>
          <p:nvPr/>
        </p:nvSpPr>
        <p:spPr>
          <a:xfrm>
            <a:off x="6096000" y="2963952"/>
            <a:ext cx="59038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动机：采用基于</a:t>
            </a:r>
            <a:r>
              <a:rPr lang="zh-CN" altLang="en-US" sz="2400" b="1" dirty="0"/>
              <a:t>非自回归</a:t>
            </a:r>
            <a:r>
              <a:rPr lang="zh-CN" altLang="en-US" sz="2400" dirty="0"/>
              <a:t>形式的</a:t>
            </a:r>
            <a:r>
              <a:rPr lang="en-GB" altLang="zh-CN" sz="2400" dirty="0"/>
              <a:t>encoder-decoder</a:t>
            </a:r>
            <a:r>
              <a:rPr lang="zh-CN" altLang="en-US" sz="2400" dirty="0"/>
              <a:t>架构实现对文档中提及事件的端到端</a:t>
            </a:r>
            <a:r>
              <a:rPr lang="zh-CN" altLang="en-US" sz="2400" b="1" dirty="0"/>
              <a:t>并行抽取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7DB90AE-C3AB-4672-BF59-47D272E93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86" y="646430"/>
            <a:ext cx="4540934" cy="621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02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3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8771F7F-3A9C-4B1C-8C3A-19C4AC252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70" y="1051862"/>
            <a:ext cx="11094720" cy="543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03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4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7B16A5-218A-452B-B2FF-8F00BFB63DB3}"/>
              </a:ext>
            </a:extLst>
          </p:cNvPr>
          <p:cNvSpPr txBox="1"/>
          <p:nvPr/>
        </p:nvSpPr>
        <p:spPr>
          <a:xfrm>
            <a:off x="509269" y="1082919"/>
            <a:ext cx="6133807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1. </a:t>
            </a:r>
            <a:r>
              <a:rPr lang="en-GB" altLang="zh-CN" sz="2400" dirty="0"/>
              <a:t>Candidate Argument Recognition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D579E7-CC44-413C-B487-834383836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967" y="2602715"/>
            <a:ext cx="3133725" cy="4762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C3BDBF9-4F19-4D06-A4F9-25600050D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855" y="2144730"/>
            <a:ext cx="5695950" cy="3714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090D401-7910-4DB6-98AB-70FB4A37F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194" y="3165476"/>
            <a:ext cx="5695950" cy="108585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740A8DE-3B65-40EF-81FA-22120057CD8D}"/>
              </a:ext>
            </a:extLst>
          </p:cNvPr>
          <p:cNvSpPr txBox="1"/>
          <p:nvPr/>
        </p:nvSpPr>
        <p:spPr>
          <a:xfrm>
            <a:off x="2450855" y="4700542"/>
            <a:ext cx="74668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然后使用序列标注方法识别每个句子中的</a:t>
            </a:r>
            <a:r>
              <a:rPr lang="en-GB" altLang="zh-CN" sz="2000" dirty="0"/>
              <a:t>Candidate Argument</a:t>
            </a:r>
            <a:r>
              <a:rPr lang="zh-CN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21295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5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7B16A5-218A-452B-B2FF-8F00BFB63DB3}"/>
              </a:ext>
            </a:extLst>
          </p:cNvPr>
          <p:cNvSpPr txBox="1"/>
          <p:nvPr/>
        </p:nvSpPr>
        <p:spPr>
          <a:xfrm>
            <a:off x="509270" y="1082919"/>
            <a:ext cx="457327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2. </a:t>
            </a:r>
            <a:r>
              <a:rPr lang="en-GB" altLang="zh-CN" sz="2400" dirty="0"/>
              <a:t>Document-level Encoder</a:t>
            </a:r>
            <a:endParaRPr lang="en-US" altLang="zh-CN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9FB007C-29DE-42C8-8F8E-DAB872E1B47B}"/>
              </a:ext>
            </a:extLst>
          </p:cNvPr>
          <p:cNvSpPr txBox="1"/>
          <p:nvPr/>
        </p:nvSpPr>
        <p:spPr>
          <a:xfrm>
            <a:off x="1063268" y="2147054"/>
            <a:ext cx="99247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/>
              <a:t>Candidate Argument</a:t>
            </a:r>
            <a:r>
              <a:rPr lang="zh-CN" altLang="en-US" sz="2000" b="1" dirty="0"/>
              <a:t>的</a:t>
            </a:r>
            <a:r>
              <a:rPr lang="en-US" altLang="zh-CN" sz="2000" b="1" dirty="0"/>
              <a:t>embedding</a:t>
            </a:r>
            <a:r>
              <a:rPr lang="zh-CN" altLang="en-US" sz="2000" b="1" dirty="0"/>
              <a:t>：</a:t>
            </a:r>
            <a:endParaRPr lang="en-US" altLang="zh-CN" sz="2000" b="1" dirty="0"/>
          </a:p>
          <a:p>
            <a:r>
              <a:rPr lang="en-US" altLang="zh-CN" sz="2000" dirty="0"/>
              <a:t>        </a:t>
            </a:r>
            <a:r>
              <a:rPr lang="zh-CN" altLang="en-US" sz="2000" dirty="0"/>
              <a:t>对于句子</a:t>
            </a:r>
            <a:r>
              <a:rPr lang="en-US" altLang="zh-CN" sz="2000" dirty="0"/>
              <a:t>Si</a:t>
            </a:r>
            <a:r>
              <a:rPr lang="zh-CN" altLang="en-US" sz="2000" dirty="0"/>
              <a:t>中横跨第</a:t>
            </a:r>
            <a:r>
              <a:rPr lang="en-US" altLang="zh-CN" sz="2000" dirty="0"/>
              <a:t>j</a:t>
            </a:r>
            <a:r>
              <a:rPr lang="zh-CN" altLang="en-US" sz="2000" dirty="0"/>
              <a:t>个至第</a:t>
            </a:r>
            <a:r>
              <a:rPr lang="en-US" altLang="zh-CN" sz="2000" dirty="0"/>
              <a:t>k</a:t>
            </a:r>
            <a:r>
              <a:rPr lang="zh-CN" altLang="en-US" sz="2000" dirty="0"/>
              <a:t>个</a:t>
            </a:r>
            <a:r>
              <a:rPr lang="en-US" altLang="zh-CN" sz="2000" dirty="0"/>
              <a:t>token</a:t>
            </a:r>
            <a:r>
              <a:rPr lang="zh-CN" altLang="en-US" sz="2000" dirty="0"/>
              <a:t>的</a:t>
            </a:r>
            <a:r>
              <a:rPr lang="en-GB" altLang="zh-CN" sz="2000" dirty="0"/>
              <a:t>argument</a:t>
            </a:r>
            <a:r>
              <a:rPr lang="zh-CN" altLang="en-US" sz="2000" dirty="0"/>
              <a:t>，其</a:t>
            </a:r>
            <a:r>
              <a:rPr lang="en-GB" altLang="zh-CN" sz="2000" dirty="0"/>
              <a:t>embedding                </a:t>
            </a:r>
            <a:r>
              <a:rPr lang="zh-CN" altLang="en-US" sz="2000" dirty="0"/>
              <a:t>为</a:t>
            </a:r>
            <a:endParaRPr lang="en-US" altLang="zh-CN" sz="2000" dirty="0"/>
          </a:p>
          <a:p>
            <a:r>
              <a:rPr lang="en-US" altLang="zh-CN" sz="2000" b="1" dirty="0"/>
              <a:t>           </a:t>
            </a:r>
            <a:r>
              <a:rPr lang="en-US" altLang="zh-CN" sz="2000" dirty="0"/>
              <a:t>Max-Pooling(                        )</a:t>
            </a:r>
            <a:r>
              <a:rPr lang="zh-CN" altLang="en-US" sz="2000" dirty="0"/>
              <a:t>，其中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FBA655-046D-42ED-9F0E-B18482417296}"/>
              </a:ext>
            </a:extLst>
          </p:cNvPr>
          <p:cNvSpPr txBox="1"/>
          <p:nvPr/>
        </p:nvSpPr>
        <p:spPr>
          <a:xfrm>
            <a:off x="1063268" y="3495229"/>
            <a:ext cx="71551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句子的</a:t>
            </a:r>
            <a:r>
              <a:rPr lang="en-US" altLang="zh-CN" sz="2000" b="1" dirty="0"/>
              <a:t>embedding</a:t>
            </a:r>
            <a:r>
              <a:rPr lang="zh-CN" altLang="en-US" sz="2000" b="1" dirty="0"/>
              <a:t>：</a:t>
            </a:r>
            <a:endParaRPr lang="en-US" altLang="zh-CN" sz="2000" b="1" dirty="0"/>
          </a:p>
          <a:p>
            <a:r>
              <a:rPr lang="zh-CN" altLang="en-US" sz="2000" b="1" dirty="0"/>
              <a:t>       </a:t>
            </a:r>
            <a:r>
              <a:rPr lang="zh-CN" altLang="en-US" sz="2000" dirty="0"/>
              <a:t>对于句子</a:t>
            </a:r>
            <a:r>
              <a:rPr lang="en-US" altLang="zh-CN" sz="2000" dirty="0"/>
              <a:t>Si</a:t>
            </a:r>
            <a:r>
              <a:rPr lang="zh-CN" altLang="en-US" sz="2000" dirty="0"/>
              <a:t>，其</a:t>
            </a:r>
            <a:r>
              <a:rPr lang="en-GB" altLang="zh-CN" sz="2000" dirty="0"/>
              <a:t>embedding                 </a:t>
            </a:r>
            <a:r>
              <a:rPr lang="zh-CN" altLang="en-US" sz="2000" dirty="0"/>
              <a:t>为</a:t>
            </a:r>
            <a:r>
              <a:rPr lang="en-US" altLang="zh-CN" sz="2000" dirty="0"/>
              <a:t>Max-Pooling(       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2C15208-FD5C-4FE1-A4C1-3EC9FE9C86F4}"/>
              </a:ext>
            </a:extLst>
          </p:cNvPr>
          <p:cNvSpPr txBox="1"/>
          <p:nvPr/>
        </p:nvSpPr>
        <p:spPr>
          <a:xfrm>
            <a:off x="1063268" y="4692554"/>
            <a:ext cx="7155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/>
              <a:t>Candidate Argument </a:t>
            </a:r>
            <a:r>
              <a:rPr lang="zh-CN" altLang="en-US" sz="2000" b="1" dirty="0"/>
              <a:t>和句子的编码表示：</a:t>
            </a:r>
            <a:endParaRPr lang="en-US" altLang="zh-CN" sz="20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E5DDF06-6E04-4AEC-86C0-8F9D7262C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902" y="2803872"/>
            <a:ext cx="2409825" cy="3429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1C1EE8-4169-45AA-9EB8-A849395C0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308" y="2794347"/>
            <a:ext cx="1657350" cy="3619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97C2A3E-67FC-488A-AAE5-9FE1C3764F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1" r="4851" b="-8574"/>
          <a:stretch/>
        </p:blipFill>
        <p:spPr>
          <a:xfrm>
            <a:off x="8891511" y="2473910"/>
            <a:ext cx="996919" cy="36194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1764C34-FD19-4B42-8E98-7B493AF8BB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198" y="3841165"/>
            <a:ext cx="1019175" cy="3619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5014FAF-219C-45C7-89E9-B6BDC21194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2377" y="3868622"/>
            <a:ext cx="385763" cy="30703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8B7E710-706D-4989-A26D-95849E3629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4410" y="5097425"/>
            <a:ext cx="52387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105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6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7B16A5-218A-452B-B2FF-8F00BFB63DB3}"/>
              </a:ext>
            </a:extLst>
          </p:cNvPr>
          <p:cNvSpPr txBox="1"/>
          <p:nvPr/>
        </p:nvSpPr>
        <p:spPr>
          <a:xfrm>
            <a:off x="509270" y="1082919"/>
            <a:ext cx="457327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2. </a:t>
            </a:r>
            <a:r>
              <a:rPr lang="en-GB" altLang="zh-CN" sz="2400" dirty="0"/>
              <a:t>Multi-Granularity Decoder</a:t>
            </a:r>
            <a:endParaRPr lang="en-US" altLang="zh-CN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9FB007C-29DE-42C8-8F8E-DAB872E1B47B}"/>
              </a:ext>
            </a:extLst>
          </p:cNvPr>
          <p:cNvSpPr txBox="1"/>
          <p:nvPr/>
        </p:nvSpPr>
        <p:spPr>
          <a:xfrm>
            <a:off x="1011971" y="1796373"/>
            <a:ext cx="992477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/>
              <a:t>Event Decoder</a:t>
            </a:r>
            <a:r>
              <a:rPr lang="zh-CN" altLang="en-US" sz="2000" b="1" dirty="0"/>
              <a:t>：</a:t>
            </a:r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dirty="0"/>
              <a:t>其中                            ，                            ，</a:t>
            </a:r>
            <a:r>
              <a:rPr lang="en-US" altLang="zh-CN" sz="2000" dirty="0"/>
              <a:t>m</a:t>
            </a:r>
            <a:r>
              <a:rPr lang="zh-CN" altLang="en-US" sz="2000" dirty="0"/>
              <a:t>是超参数，在实验中被设置为远大于文档平均事件数的值。</a:t>
            </a:r>
            <a:endParaRPr lang="en-US" altLang="zh-CN" sz="2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1A1E19C-4834-4FFB-9A3B-644BF64BC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808" y="2213234"/>
            <a:ext cx="4477080" cy="40623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3A31BCF-348C-4076-8353-DE29339F5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810" y="2748640"/>
            <a:ext cx="1901995" cy="32967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477C974-ABCB-49DE-BFA0-19A4F1AF9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734" y="2706654"/>
            <a:ext cx="2004101" cy="329679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C6EE85E2-1489-4065-9CB5-CF416995C774}"/>
              </a:ext>
            </a:extLst>
          </p:cNvPr>
          <p:cNvSpPr txBox="1"/>
          <p:nvPr/>
        </p:nvSpPr>
        <p:spPr>
          <a:xfrm>
            <a:off x="1011971" y="3637544"/>
            <a:ext cx="1022655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/>
              <a:t>R</a:t>
            </a:r>
            <a:r>
              <a:rPr lang="en-US" altLang="zh-CN" sz="2000" b="1" dirty="0"/>
              <a:t>ole</a:t>
            </a:r>
            <a:r>
              <a:rPr lang="en-GB" altLang="zh-CN" sz="2000" b="1" dirty="0"/>
              <a:t> Decoder</a:t>
            </a:r>
            <a:r>
              <a:rPr lang="zh-CN" altLang="en-US" sz="2000" b="1" dirty="0"/>
              <a:t>：</a:t>
            </a:r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dirty="0"/>
              <a:t>其中                            ，                            ，</a:t>
            </a:r>
            <a:r>
              <a:rPr lang="en-US" altLang="zh-CN" sz="2000" dirty="0"/>
              <a:t>n</a:t>
            </a:r>
            <a:r>
              <a:rPr lang="zh-CN" altLang="en-US" sz="2000" dirty="0"/>
              <a:t>是预测事件类型对应的</a:t>
            </a:r>
            <a:r>
              <a:rPr lang="en-US" altLang="zh-CN" sz="2000" dirty="0"/>
              <a:t>argument roles</a:t>
            </a:r>
            <a:r>
              <a:rPr lang="zh-CN" altLang="en-US" sz="2000" dirty="0"/>
              <a:t>数量。</a:t>
            </a:r>
            <a:br>
              <a:rPr lang="en-GB" altLang="zh-CN" sz="2000" dirty="0"/>
            </a:br>
            <a:endParaRPr lang="en-US" altLang="zh-CN" sz="20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FCFF196-DEC3-4E34-96D6-82083EC62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5808" y="4008094"/>
            <a:ext cx="4185747" cy="49144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00E6A9A-1AE1-4EE4-B43E-C3D673E880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107" y="4552630"/>
            <a:ext cx="1815979" cy="32364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24DF169-5F51-4041-95F5-4E33408B1B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5637" y="4526234"/>
            <a:ext cx="1968198" cy="37643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F5EF026-C7A8-4E00-A157-EE098B3E10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4096" y="5727836"/>
            <a:ext cx="5124450" cy="40005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3A230AE9-D224-4D5B-8B45-2749666B6F3F}"/>
              </a:ext>
            </a:extLst>
          </p:cNvPr>
          <p:cNvSpPr txBox="1"/>
          <p:nvPr/>
        </p:nvSpPr>
        <p:spPr>
          <a:xfrm>
            <a:off x="1011971" y="5312278"/>
            <a:ext cx="1022655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/>
              <a:t>Event-to-Role Decoder</a:t>
            </a:r>
            <a:r>
              <a:rPr lang="zh-CN" altLang="en-US" sz="2000" b="1" dirty="0"/>
              <a:t>：</a:t>
            </a:r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dirty="0"/>
          </a:p>
          <a:p>
            <a:r>
              <a:rPr lang="zh-CN" altLang="en-US" sz="2000" dirty="0"/>
              <a:t>其中                               。</a:t>
            </a:r>
            <a:br>
              <a:rPr lang="en-GB" altLang="zh-CN" sz="2000" dirty="0"/>
            </a:br>
            <a:endParaRPr lang="en-US" altLang="zh-CN" sz="2000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BBC401FB-CDDB-4AF8-ADB5-F9CF4266C1F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2281" b="-6481"/>
          <a:stretch/>
        </p:blipFill>
        <p:spPr>
          <a:xfrm>
            <a:off x="1624810" y="6247652"/>
            <a:ext cx="2084924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06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7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7B16A5-218A-452B-B2FF-8F00BFB63DB3}"/>
              </a:ext>
            </a:extLst>
          </p:cNvPr>
          <p:cNvSpPr txBox="1"/>
          <p:nvPr/>
        </p:nvSpPr>
        <p:spPr>
          <a:xfrm>
            <a:off x="509270" y="1082919"/>
            <a:ext cx="541909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3. </a:t>
            </a:r>
            <a:r>
              <a:rPr lang="en-GB" altLang="zh-CN" sz="2400" dirty="0"/>
              <a:t>Events Prediction</a:t>
            </a: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BA6FB5-6F2A-421C-8A1B-045046688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252" y="2338846"/>
            <a:ext cx="3838575" cy="37147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34C3E9C5-01DE-4AE4-BDDF-70AAF85BC2B7}"/>
              </a:ext>
            </a:extLst>
          </p:cNvPr>
          <p:cNvSpPr txBox="1"/>
          <p:nvPr/>
        </p:nvSpPr>
        <p:spPr>
          <a:xfrm>
            <a:off x="815084" y="1894713"/>
            <a:ext cx="1022655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首先，对每个</a:t>
            </a:r>
            <a:r>
              <a:rPr lang="en-US" altLang="zh-CN" sz="2000" dirty="0"/>
              <a:t>event query</a:t>
            </a:r>
            <a:r>
              <a:rPr lang="zh-CN" altLang="en-US" sz="2000" dirty="0"/>
              <a:t>的表示用一个二分类器判断其对应的预测事件是否为空：</a:t>
            </a:r>
            <a:endParaRPr lang="en-US" altLang="zh-CN" sz="2000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dirty="0"/>
              <a:t>其中                       ，是可学习的参数。</a:t>
            </a:r>
            <a:br>
              <a:rPr lang="en-GB" altLang="zh-CN" sz="2000" dirty="0"/>
            </a:br>
            <a:endParaRPr lang="en-US" altLang="zh-CN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27710C-41D8-4971-9C52-982F42CBD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285" y="2812766"/>
            <a:ext cx="1600200" cy="3429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7EAE4FB-CA1C-49B8-9B27-FB6B5618F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5724" y="4140002"/>
            <a:ext cx="6010275" cy="504825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ACE9E41-29CF-4112-8DA8-4A27EFBF6C46}"/>
              </a:ext>
            </a:extLst>
          </p:cNvPr>
          <p:cNvSpPr txBox="1"/>
          <p:nvPr/>
        </p:nvSpPr>
        <p:spPr>
          <a:xfrm>
            <a:off x="815084" y="3750489"/>
            <a:ext cx="102265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然后，预测每个事件的</a:t>
            </a:r>
            <a:r>
              <a:rPr lang="en-GB" altLang="zh-CN" sz="2000" dirty="0"/>
              <a:t>argument</a:t>
            </a:r>
            <a:r>
              <a:rPr lang="en-US" altLang="zh-CN" sz="2000" dirty="0"/>
              <a:t>s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dirty="0"/>
              <a:t>其中                                                                     ，是可学习的参数，                                  </a:t>
            </a:r>
            <a:endParaRPr lang="en-US" altLang="zh-CN" sz="2000" dirty="0"/>
          </a:p>
          <a:p>
            <a:r>
              <a:rPr lang="zh-CN" altLang="en-US" sz="2000" dirty="0"/>
              <a:t>，     为候选</a:t>
            </a:r>
            <a:r>
              <a:rPr lang="en-GB" altLang="zh-CN" sz="2000" dirty="0"/>
              <a:t>argument </a:t>
            </a:r>
            <a:r>
              <a:rPr lang="zh-CN" altLang="en-US" sz="2000" dirty="0"/>
              <a:t>的数量。</a:t>
            </a:r>
            <a:br>
              <a:rPr lang="en-GB" altLang="zh-CN" sz="2000" dirty="0"/>
            </a:br>
            <a:endParaRPr lang="en-US" altLang="zh-CN" sz="2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96ED5FF-D0B6-4EC2-B36E-52D27454F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7285" y="4669360"/>
            <a:ext cx="4800600" cy="381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09D37A1-9438-410E-9A7F-88ADFE2D05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8893" y="4678887"/>
            <a:ext cx="2743200" cy="3429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E7D50DA-C5EB-4E3F-96B2-B3ADDE33E0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328" y="4984158"/>
            <a:ext cx="381000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14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8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7B16A5-218A-452B-B2FF-8F00BFB63DB3}"/>
              </a:ext>
            </a:extLst>
          </p:cNvPr>
          <p:cNvSpPr txBox="1"/>
          <p:nvPr/>
        </p:nvSpPr>
        <p:spPr>
          <a:xfrm>
            <a:off x="509270" y="1082919"/>
            <a:ext cx="541909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3. </a:t>
            </a:r>
            <a:r>
              <a:rPr lang="zh-CN" altLang="en-US" sz="2400" dirty="0"/>
              <a:t>双向匹配损失</a:t>
            </a:r>
            <a:endParaRPr lang="en-US" altLang="zh-CN" sz="24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41933-E196-40FC-8148-70AD82121A97}"/>
              </a:ext>
            </a:extLst>
          </p:cNvPr>
          <p:cNvSpPr txBox="1"/>
          <p:nvPr/>
        </p:nvSpPr>
        <p:spPr>
          <a:xfrm>
            <a:off x="676910" y="1729156"/>
            <a:ext cx="54190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/>
              <a:t>首先对</a:t>
            </a:r>
            <a:r>
              <a:rPr lang="en-US" altLang="zh-CN" sz="2000" dirty="0"/>
              <a:t>prediction</a:t>
            </a:r>
            <a:r>
              <a:rPr lang="zh-CN" altLang="en-US" sz="2000" dirty="0"/>
              <a:t>和</a:t>
            </a:r>
            <a:r>
              <a:rPr lang="en-US" altLang="zh-CN" sz="2000" dirty="0"/>
              <a:t>gold</a:t>
            </a:r>
            <a:r>
              <a:rPr lang="zh-CN" altLang="en-US" sz="2000" dirty="0"/>
              <a:t>进行双向匹配：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78B0836-516E-4698-83F2-13B181B03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815" y="2129266"/>
            <a:ext cx="4305300" cy="9144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D43A3C1-DC79-4657-AE4F-1375C758D3AB}"/>
              </a:ext>
            </a:extLst>
          </p:cNvPr>
          <p:cNvSpPr txBox="1"/>
          <p:nvPr/>
        </p:nvSpPr>
        <p:spPr>
          <a:xfrm>
            <a:off x="676910" y="4129393"/>
            <a:ext cx="54190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/>
              <a:t>根据最优匹配计算负对数似然损失：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3AB6E1-CD38-4E86-B32A-4C29C682C3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68"/>
          <a:stretch/>
        </p:blipFill>
        <p:spPr>
          <a:xfrm>
            <a:off x="2513770" y="3043666"/>
            <a:ext cx="6000750" cy="9889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0F09D02-01C4-4AF1-84B2-6A1456B9F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070" y="4675877"/>
            <a:ext cx="5772150" cy="97155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37F4214-27C6-406F-B060-2A1B2F4BC79F}"/>
              </a:ext>
            </a:extLst>
          </p:cNvPr>
          <p:cNvSpPr txBox="1"/>
          <p:nvPr/>
        </p:nvSpPr>
        <p:spPr>
          <a:xfrm>
            <a:off x="676910" y="5894270"/>
            <a:ext cx="96550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/>
              <a:t>总的损失为候选</a:t>
            </a:r>
            <a:r>
              <a:rPr lang="en-US" altLang="zh-CN" sz="2000" dirty="0"/>
              <a:t>argument</a:t>
            </a:r>
            <a:r>
              <a:rPr lang="zh-CN" altLang="en-US" sz="2000" dirty="0"/>
              <a:t>识别损失，事件分类损失和双向匹配损失的加权和：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1EAE1BE-2B92-49D0-900D-92477694FF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815" y="6273714"/>
            <a:ext cx="45434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15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415772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数据集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9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E33C17-7C45-4891-A3C5-58391E31DCA4}"/>
              </a:ext>
            </a:extLst>
          </p:cNvPr>
          <p:cNvSpPr txBox="1"/>
          <p:nvPr/>
        </p:nvSpPr>
        <p:spPr>
          <a:xfrm>
            <a:off x="1217156" y="1685388"/>
            <a:ext cx="8189254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400" b="1" dirty="0" err="1"/>
              <a:t>ChFinAnn</a:t>
            </a:r>
            <a:r>
              <a:rPr lang="zh-CN" altLang="en-US" sz="2400" b="1" dirty="0"/>
              <a:t>：</a:t>
            </a:r>
            <a:r>
              <a:rPr lang="zh-CN" altLang="en-US" sz="2400" dirty="0"/>
              <a:t>一个大规模中文金融文档级事件抽取数据集，包含</a:t>
            </a:r>
            <a:r>
              <a:rPr lang="en-US" altLang="zh-CN" sz="2400" dirty="0"/>
              <a:t>32040</a:t>
            </a:r>
            <a:r>
              <a:rPr lang="zh-CN" altLang="en-US" sz="2400" dirty="0"/>
              <a:t>个文档和</a:t>
            </a:r>
            <a:r>
              <a:rPr lang="en-US" altLang="zh-CN" sz="2400" dirty="0"/>
              <a:t>5</a:t>
            </a:r>
            <a:r>
              <a:rPr lang="zh-CN" altLang="en-US" sz="2400" dirty="0"/>
              <a:t>种事件类型</a:t>
            </a:r>
            <a:r>
              <a:rPr lang="en-GB" altLang="zh-CN" sz="2000" dirty="0"/>
              <a:t> </a:t>
            </a:r>
            <a:r>
              <a:rPr lang="zh-CN" altLang="en-US" sz="2000" dirty="0"/>
              <a:t>：</a:t>
            </a:r>
            <a:r>
              <a:rPr lang="en-US" altLang="zh-CN" sz="2400" dirty="0"/>
              <a:t>Equity Freeze (EF), Equity Repurchase (ER), Equity Underweight (EU), Equity Overweight (EO) </a:t>
            </a:r>
            <a:r>
              <a:rPr lang="zh-CN" altLang="en-US" sz="2400" dirty="0"/>
              <a:t>和 </a:t>
            </a:r>
            <a:r>
              <a:rPr lang="en-US" altLang="zh-CN" sz="2400" dirty="0"/>
              <a:t>Equity Pledge (EP)</a:t>
            </a:r>
            <a:br>
              <a:rPr lang="en-GB" altLang="zh-CN" sz="2400" dirty="0"/>
            </a:b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52308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10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B90C1C-468F-45B9-BFB1-BD2A0EEB6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86" y="937847"/>
            <a:ext cx="9979499" cy="564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46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11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FA3D47A-55B0-4278-9E70-BFD587598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746" y="1434123"/>
            <a:ext cx="6698273" cy="255172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D953187-4522-4A88-8DB4-FC66CCA85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978" y="5056555"/>
            <a:ext cx="3590825" cy="49566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B56EAF8-6D59-418C-84A5-00E79D25526B}"/>
              </a:ext>
            </a:extLst>
          </p:cNvPr>
          <p:cNvSpPr txBox="1"/>
          <p:nvPr/>
        </p:nvSpPr>
        <p:spPr>
          <a:xfrm>
            <a:off x="1602299" y="4460695"/>
            <a:ext cx="9206377" cy="2118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/>
              <a:t>ASR</a:t>
            </a:r>
            <a:r>
              <a:rPr lang="zh-CN" altLang="en-US" sz="2200" dirty="0"/>
              <a:t>指</a:t>
            </a:r>
            <a:r>
              <a:rPr lang="en-GB" altLang="zh-CN" sz="2200" dirty="0"/>
              <a:t>arguments-scattering </a:t>
            </a:r>
            <a:r>
              <a:rPr lang="en-US" altLang="zh-CN" sz="2200" dirty="0"/>
              <a:t>ratio</a:t>
            </a:r>
            <a:r>
              <a:rPr lang="zh-CN" altLang="en-US" sz="2200" dirty="0"/>
              <a:t>，定义为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200" dirty="0"/>
              <a:t>其中                   为文档中有提到事件的句子的数量，</a:t>
            </a:r>
            <a:r>
              <a:rPr lang="en-US" altLang="zh-CN" sz="2200" dirty="0"/>
              <a:t>                </a:t>
            </a:r>
            <a:r>
              <a:rPr lang="zh-CN" altLang="en-US" sz="2200" dirty="0"/>
              <a:t>为文档中所有</a:t>
            </a:r>
            <a:r>
              <a:rPr lang="en-GB" altLang="zh-CN" sz="2200" dirty="0"/>
              <a:t>argument</a:t>
            </a:r>
            <a:r>
              <a:rPr lang="zh-CN" altLang="en-US" sz="2200" dirty="0"/>
              <a:t>的数量</a:t>
            </a:r>
            <a:endParaRPr lang="en-US" altLang="zh-CN" sz="2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071B473-3C38-4152-B4A7-1371F3E73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178" y="5671104"/>
            <a:ext cx="1362075" cy="381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700ADB5-CEAB-4904-BE0B-FEE308985CB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625"/>
          <a:stretch/>
        </p:blipFill>
        <p:spPr>
          <a:xfrm>
            <a:off x="8057662" y="5628929"/>
            <a:ext cx="1227406" cy="46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8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12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D9A9AE-9B0D-4BE0-915D-D6119A0A1C7E}"/>
              </a:ext>
            </a:extLst>
          </p:cNvPr>
          <p:cNvSpPr txBox="1"/>
          <p:nvPr/>
        </p:nvSpPr>
        <p:spPr>
          <a:xfrm>
            <a:off x="571793" y="1075103"/>
            <a:ext cx="541909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dirty="0"/>
              <a:t>消融实验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CB404C-C86E-4E69-8C5F-51DFE28F7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7" y="2080723"/>
            <a:ext cx="7244932" cy="351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36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1888</TotalTime>
  <Words>372</Words>
  <Application>Microsoft Office PowerPoint</Application>
  <PresentationFormat>宽屏</PresentationFormat>
  <Paragraphs>67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等线</vt:lpstr>
      <vt:lpstr>等线 Light</vt:lpstr>
      <vt:lpstr>仿宋</vt:lpstr>
      <vt:lpstr>华文楷体</vt:lpstr>
      <vt:lpstr>宋体</vt:lpstr>
      <vt:lpstr>Arial</vt:lpstr>
      <vt:lpstr>Arial Black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羽鑫</dc:creator>
  <cp:lastModifiedBy>羽鑫</cp:lastModifiedBy>
  <cp:revision>186</cp:revision>
  <dcterms:created xsi:type="dcterms:W3CDTF">2021-06-01T08:24:38Z</dcterms:created>
  <dcterms:modified xsi:type="dcterms:W3CDTF">2021-08-07T09:15:03Z</dcterms:modified>
</cp:coreProperties>
</file>