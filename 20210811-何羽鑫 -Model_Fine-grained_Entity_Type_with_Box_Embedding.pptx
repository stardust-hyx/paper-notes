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437" r:id="rId3"/>
    <p:sldId id="435" r:id="rId4"/>
    <p:sldId id="445" r:id="rId5"/>
    <p:sldId id="447" r:id="rId6"/>
    <p:sldId id="448" r:id="rId7"/>
    <p:sldId id="427" r:id="rId8"/>
    <p:sldId id="44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852" autoAdjust="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38CA0-D2C8-4CBD-A352-0534456D3CCF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C1761-BC92-431A-8FD2-4DA588ACCE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86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8EC584-D879-4BC2-9EFB-E67AB630A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286E5B-F704-40E3-A1E8-DB0FDAF1A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1D8501-DF67-411D-A477-A03C9AA84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5BC256-B1E8-48AA-A767-3B0EC6B68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2FB524-73C4-43DC-97AA-331D140C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32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2E1AC-DF1E-4E37-9627-F4FAC300A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419A72-0BB0-42F0-9D1A-B36043A95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65065A-5A30-442A-BE59-05645B638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DEB79F-2DB5-4BDA-95BF-B9BD34CF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92E81B-8457-4221-9759-003101D7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08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78497-5FF2-4063-8CBD-A61D6F09C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8E37C8-54AA-4227-AB6F-06E97AD84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96A281-0EC1-4F37-89CC-F4B2714F6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DC9D7C-9051-44EB-9AF3-C65F0E6DC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32B6A1-B207-412B-B216-6861D3E4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251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EBEA6-E0DB-40B1-B194-C1D06A6E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6AE76F-E91D-49D5-84EB-01E1615C9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2DCBC0-F8D0-4784-8509-F0235CE15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572F83-3E5B-40FD-8A47-AC65D8AC0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7C56E5-E1D9-494E-BEFF-78DB9008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2E66E8-369F-44EF-BE25-6BFDAE15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827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2FEE2-DD5B-420D-B2C3-A0E4E5397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7542F0-0A55-46B9-B6F9-130729DF7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B62748-135C-4FBF-A2CC-0934D0FC0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1FD7DC-E5AE-4753-A3AE-BF4AE6B78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473791-30B3-4762-A60C-4E79E046B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D2A6019-14CE-4D0C-B38A-3E9EC2301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9D0F88-B27D-4687-9E5B-4056923B8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CD0C52-D3AE-4851-8FB0-87A50E9C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91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8D405-FDF0-441C-9732-A01B8E048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BA742C-97C0-41AB-A285-F6365B35F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32EF57-BB7F-41E3-9280-0F4AD6390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0C3E0F-FA2F-4ACD-A6E1-9E390A23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470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94F57C-61B4-4E47-9BBC-BF1E0CF7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148328-AE47-4FB0-A81E-4D941B2BB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DB6EA0-FC67-4C61-8F45-205ACFA6C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09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538B5-0CDD-49B1-9550-C3FEF4F24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9272C4-2797-4D1D-973A-AB50961B7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608C78-4E00-4EA2-BC51-B9A01E835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78A6B1-E6F0-4EE9-BE3C-7A57AD933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931090-5A14-48A8-9AA2-7566DB0F2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63FCDA-BE2A-4689-BC84-D4D7A6F3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88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ED19F-DF58-4BE2-8646-27299FEB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0F0D68-EDBC-4F73-934F-8BAB8FBF42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208708-EEDB-4CEC-B2B1-00F6BA8FC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8BC80E-37F7-45FC-88AF-B1DA76FCE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4B1A78-B5C6-4F6A-991D-4E0F67E72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4F5965-434E-48EA-B7EF-71E52608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841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91F20-A1D8-409B-B75A-C4CA0D0D8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ABA1A4-C053-4579-9EEF-12122CDCB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5BDE58-8695-4E12-B3CD-64EC39C83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394BF8-C72C-4DD8-82FB-858F3617C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33E7B8-7751-4C02-BF43-D23A86D25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935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8B55B0-5C6E-4BB8-B735-1178200977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7CF004-AFFF-4675-A9B9-036E1A8C2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5D61EE-CF4E-4444-AB6E-848D2F4F5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09A6C7-AC47-4C8C-97F9-52D089E1C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FA252A-AD06-4841-8F9C-ED0AEC49B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517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093810-2041-413F-AE68-3EE82BBA0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803390-82C6-4693-8525-EEBC0737A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2B72C3-C2F2-4D63-8D8B-CD007468A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35C42-AD79-47EE-A839-0FD92B9C5B13}" type="datetimeFigureOut">
              <a:rPr lang="zh-CN" altLang="en-US" smtClean="0"/>
              <a:t>2021/8/13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341FBD-4048-4118-990B-5FF8ACE4F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4CFA93-E1B2-4A56-9AB5-8C186A2AF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940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45E63B2A-2972-4A28-9A46-D2D12E58286D}"/>
              </a:ext>
            </a:extLst>
          </p:cNvPr>
          <p:cNvGrpSpPr/>
          <p:nvPr/>
        </p:nvGrpSpPr>
        <p:grpSpPr>
          <a:xfrm>
            <a:off x="195385" y="436978"/>
            <a:ext cx="11785600" cy="2042160"/>
            <a:chOff x="1072" y="2747"/>
            <a:chExt cx="17444" cy="3216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EFA3CF4-B7E5-4A9D-869A-B515AF07C280}"/>
                </a:ext>
              </a:extLst>
            </p:cNvPr>
            <p:cNvGrpSpPr/>
            <p:nvPr/>
          </p:nvGrpSpPr>
          <p:grpSpPr>
            <a:xfrm>
              <a:off x="1072" y="2747"/>
              <a:ext cx="1316" cy="3216"/>
              <a:chOff x="2384" y="2668"/>
              <a:chExt cx="1316" cy="3216"/>
            </a:xfrm>
          </p:grpSpPr>
          <p:sp>
            <p:nvSpPr>
              <p:cNvPr id="14" name="矩形 87">
                <a:extLst>
                  <a:ext uri="{FF2B5EF4-FFF2-40B4-BE49-F238E27FC236}">
                    <a16:creationId xmlns:a16="http://schemas.microsoft.com/office/drawing/2014/main" id="{5D6218DE-BA00-4A8C-AEC0-903D1DD27A7E}"/>
                  </a:ext>
                </a:extLst>
              </p:cNvPr>
              <p:cNvSpPr/>
              <p:nvPr/>
            </p:nvSpPr>
            <p:spPr>
              <a:xfrm>
                <a:off x="2400" y="3160"/>
                <a:ext cx="528" cy="2723"/>
              </a:xfrm>
              <a:prstGeom prst="rect">
                <a:avLst/>
              </a:prstGeom>
              <a:solidFill>
                <a:srgbClr val="A5A5A5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5" name="矩形 102">
                <a:extLst>
                  <a:ext uri="{FF2B5EF4-FFF2-40B4-BE49-F238E27FC236}">
                    <a16:creationId xmlns:a16="http://schemas.microsoft.com/office/drawing/2014/main" id="{998B798D-7FD5-4C81-B9F5-6F8D29A81E97}"/>
                  </a:ext>
                </a:extLst>
              </p:cNvPr>
              <p:cNvSpPr/>
              <p:nvPr/>
            </p:nvSpPr>
            <p:spPr>
              <a:xfrm>
                <a:off x="2400" y="2668"/>
                <a:ext cx="1300" cy="2722"/>
              </a:xfrm>
              <a:prstGeom prst="rect">
                <a:avLst/>
              </a:prstGeom>
              <a:solidFill>
                <a:srgbClr val="005825"/>
              </a:solidFill>
              <a:ln w="1270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6" name="直角三角形 89">
                <a:extLst>
                  <a:ext uri="{FF2B5EF4-FFF2-40B4-BE49-F238E27FC236}">
                    <a16:creationId xmlns:a16="http://schemas.microsoft.com/office/drawing/2014/main" id="{DA9BB46C-78EA-4BDF-9E17-77BFC60F1DE0}"/>
                  </a:ext>
                </a:extLst>
              </p:cNvPr>
              <p:cNvSpPr/>
              <p:nvPr/>
            </p:nvSpPr>
            <p:spPr>
              <a:xfrm rot="-5400000" flipH="1">
                <a:off x="2400" y="5358"/>
                <a:ext cx="510" cy="542"/>
              </a:xfrm>
              <a:prstGeom prst="rtTriangle">
                <a:avLst/>
              </a:prstGeom>
              <a:solidFill>
                <a:schemeClr val="tx1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F2EA8F9-B98D-4AE2-9BAB-A4966B7C4258}"/>
                </a:ext>
              </a:extLst>
            </p:cNvPr>
            <p:cNvGrpSpPr/>
            <p:nvPr/>
          </p:nvGrpSpPr>
          <p:grpSpPr>
            <a:xfrm>
              <a:off x="17988" y="3203"/>
              <a:ext cx="528" cy="2723"/>
              <a:chOff x="16273" y="3160"/>
              <a:chExt cx="528" cy="2723"/>
            </a:xfrm>
          </p:grpSpPr>
          <p:sp>
            <p:nvSpPr>
              <p:cNvPr id="12" name="矩形 88">
                <a:extLst>
                  <a:ext uri="{FF2B5EF4-FFF2-40B4-BE49-F238E27FC236}">
                    <a16:creationId xmlns:a16="http://schemas.microsoft.com/office/drawing/2014/main" id="{5FCE61B3-8A3D-4886-A006-CED88F46D276}"/>
                  </a:ext>
                </a:extLst>
              </p:cNvPr>
              <p:cNvSpPr/>
              <p:nvPr/>
            </p:nvSpPr>
            <p:spPr>
              <a:xfrm>
                <a:off x="16273" y="3160"/>
                <a:ext cx="527" cy="2723"/>
              </a:xfrm>
              <a:prstGeom prst="rect">
                <a:avLst/>
              </a:prstGeom>
              <a:solidFill>
                <a:srgbClr val="A5A5A5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3" name="直角三角形 91">
                <a:extLst>
                  <a:ext uri="{FF2B5EF4-FFF2-40B4-BE49-F238E27FC236}">
                    <a16:creationId xmlns:a16="http://schemas.microsoft.com/office/drawing/2014/main" id="{2A2C1F84-2E2F-4937-A0F5-A64A3C17E925}"/>
                  </a:ext>
                </a:extLst>
              </p:cNvPr>
              <p:cNvSpPr/>
              <p:nvPr/>
            </p:nvSpPr>
            <p:spPr>
              <a:xfrm rot="-5400000" flipH="1" flipV="1">
                <a:off x="16283" y="5365"/>
                <a:ext cx="507" cy="528"/>
              </a:xfrm>
              <a:prstGeom prst="rtTriangle">
                <a:avLst/>
              </a:prstGeom>
              <a:solidFill>
                <a:schemeClr val="tx1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</p:grpSp>
      <p:sp>
        <p:nvSpPr>
          <p:cNvPr id="17" name="直接连接符 83">
            <a:extLst>
              <a:ext uri="{FF2B5EF4-FFF2-40B4-BE49-F238E27FC236}">
                <a16:creationId xmlns:a16="http://schemas.microsoft.com/office/drawing/2014/main" id="{9AB3BDF5-8C5C-4727-B9C9-CB6EF28CE63A}"/>
              </a:ext>
            </a:extLst>
          </p:cNvPr>
          <p:cNvSpPr/>
          <p:nvPr/>
        </p:nvSpPr>
        <p:spPr>
          <a:xfrm>
            <a:off x="1919923" y="6229668"/>
            <a:ext cx="8353425" cy="1587"/>
          </a:xfrm>
          <a:prstGeom prst="line">
            <a:avLst/>
          </a:prstGeom>
          <a:ln w="6350" cap="flat" cmpd="sng">
            <a:solidFill>
              <a:srgbClr val="BFBFBF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18" name="灯片编号占位符 4">
            <a:extLst>
              <a:ext uri="{FF2B5EF4-FFF2-40B4-BE49-F238E27FC236}">
                <a16:creationId xmlns:a16="http://schemas.microsoft.com/office/drawing/2014/main" id="{A4E641B7-D37E-4CBA-B48A-A2ADFC0F9993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1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69098BC-435A-4030-81A5-4D0F9BC22E6F}"/>
              </a:ext>
            </a:extLst>
          </p:cNvPr>
          <p:cNvSpPr txBox="1"/>
          <p:nvPr/>
        </p:nvSpPr>
        <p:spPr>
          <a:xfrm>
            <a:off x="2465033" y="5705455"/>
            <a:ext cx="7261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latin typeface="等线" panose="02010600030101010101" pitchFamily="2" charset="-122"/>
                <a:cs typeface="Times New Roman" panose="02020603050405020304" pitchFamily="18" charset="0"/>
              </a:rPr>
              <a:t>ACL 2021</a:t>
            </a:r>
            <a:endParaRPr lang="zh-CN" altLang="en-US" sz="24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9F4A9D8-A8D4-49DB-9CF9-30CE2FB5C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011" y="1322524"/>
            <a:ext cx="9814287" cy="32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423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介绍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2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1FB156-AD4E-4EAA-BA5F-391FC0CFD172}"/>
              </a:ext>
            </a:extLst>
          </p:cNvPr>
          <p:cNvSpPr txBox="1"/>
          <p:nvPr/>
        </p:nvSpPr>
        <p:spPr>
          <a:xfrm>
            <a:off x="570523" y="120615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400" dirty="0"/>
              <a:t>任务：（细粒度）实体多标签分类</a:t>
            </a:r>
            <a:endParaRPr lang="en-US" altLang="zh-CN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4C5F51-B98D-4AB4-A65A-E7CE3D2C6352}"/>
              </a:ext>
            </a:extLst>
          </p:cNvPr>
          <p:cNvSpPr txBox="1"/>
          <p:nvPr/>
        </p:nvSpPr>
        <p:spPr>
          <a:xfrm>
            <a:off x="570523" y="2028457"/>
            <a:ext cx="96441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动机：使用</a:t>
            </a:r>
            <a:r>
              <a:rPr lang="en-US" altLang="zh-CN" sz="2400" dirty="0"/>
              <a:t>Box Embeddings</a:t>
            </a:r>
            <a:r>
              <a:rPr lang="zh-CN" altLang="en-US" sz="2400" dirty="0"/>
              <a:t>在高维特征空间中对实体实例和实体类型进行统一表示，根据</a:t>
            </a:r>
            <a:r>
              <a:rPr lang="en-US" altLang="zh-CN" sz="2400" dirty="0"/>
              <a:t>Box Embeddings</a:t>
            </a:r>
            <a:r>
              <a:rPr lang="zh-CN" altLang="en-US" sz="2400" dirty="0"/>
              <a:t>间的重合比进行实体实例的多标签分类。</a:t>
            </a:r>
            <a:endParaRPr lang="en-US" altLang="zh-CN" sz="2400" dirty="0"/>
          </a:p>
          <a:p>
            <a:r>
              <a:rPr lang="en-US" altLang="zh-CN" sz="2400" dirty="0"/>
              <a:t>      </a:t>
            </a:r>
            <a:endParaRPr lang="zh-CN" altLang="en-US" sz="2400" b="1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E40645F-F416-4F43-9781-A373081D5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71" y="3424746"/>
            <a:ext cx="8985828" cy="31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56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3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F85EDF6-C120-4C98-8225-5DCA8190A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38" y="1467633"/>
            <a:ext cx="11340123" cy="360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03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4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CAF674-2288-4AED-AFCD-1E49A97F9048}"/>
              </a:ext>
            </a:extLst>
          </p:cNvPr>
          <p:cNvSpPr txBox="1"/>
          <p:nvPr/>
        </p:nvSpPr>
        <p:spPr>
          <a:xfrm>
            <a:off x="509269" y="1070371"/>
            <a:ext cx="4634231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b="1" dirty="0"/>
              <a:t>1. </a:t>
            </a:r>
            <a:r>
              <a:rPr lang="zh-CN" altLang="en-US" sz="2400" b="1" dirty="0"/>
              <a:t>实体实例的</a:t>
            </a:r>
            <a:r>
              <a:rPr lang="en-US" altLang="zh-CN" sz="2400" b="1" dirty="0"/>
              <a:t>Box Embedding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6BE342C-AD43-4E17-B786-9556E2A5A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084" y="5005963"/>
            <a:ext cx="3629025" cy="35242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FE527B9-707F-4D82-AA1E-396F26E66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46" y="2145443"/>
            <a:ext cx="3800475" cy="31432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7DFD966-C95E-45CA-8362-702864394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426" y="3281501"/>
            <a:ext cx="1571625" cy="38100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F78354E-1EA0-4891-BA85-F40A97778664}"/>
              </a:ext>
            </a:extLst>
          </p:cNvPr>
          <p:cNvSpPr txBox="1"/>
          <p:nvPr/>
        </p:nvSpPr>
        <p:spPr>
          <a:xfrm>
            <a:off x="2462921" y="2663601"/>
            <a:ext cx="762636" cy="369332"/>
          </a:xfrm>
          <a:prstGeom prst="rect">
            <a:avLst/>
          </a:prstGeom>
          <a:noFill/>
          <a:ln w="25400" cap="rnd">
            <a:solidFill>
              <a:schemeClr val="accent1"/>
            </a:solidFill>
          </a:ln>
          <a:effectLst>
            <a:softEdge rad="0"/>
          </a:effectLst>
        </p:spPr>
        <p:txBody>
          <a:bodyPr wrap="square">
            <a:spAutoFit/>
          </a:bodyPr>
          <a:lstStyle/>
          <a:p>
            <a:r>
              <a:rPr lang="en-US" altLang="zh-CN" sz="1800" b="1" dirty="0"/>
              <a:t>BERT</a:t>
            </a:r>
            <a:endParaRPr lang="zh-CN" altLang="en-US" dirty="0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824C0A9B-A6AB-4BD6-B4E4-94B8A1648F10}"/>
              </a:ext>
            </a:extLst>
          </p:cNvPr>
          <p:cNvSpPr/>
          <p:nvPr/>
        </p:nvSpPr>
        <p:spPr>
          <a:xfrm rot="5400000">
            <a:off x="2723600" y="2397355"/>
            <a:ext cx="205566" cy="314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E739656C-B575-4B3A-B549-EF820509B4A4}"/>
              </a:ext>
            </a:extLst>
          </p:cNvPr>
          <p:cNvSpPr/>
          <p:nvPr/>
        </p:nvSpPr>
        <p:spPr>
          <a:xfrm rot="5400000">
            <a:off x="2723600" y="2978555"/>
            <a:ext cx="205566" cy="314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5ED9AA1-36DA-4E3C-BA17-2EFAA6CA6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7604" y="3990487"/>
            <a:ext cx="1209675" cy="333375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B5F630B6-0237-4F76-8CC1-2EC602F9D4B0}"/>
              </a:ext>
            </a:extLst>
          </p:cNvPr>
          <p:cNvSpPr txBox="1"/>
          <p:nvPr/>
        </p:nvSpPr>
        <p:spPr>
          <a:xfrm>
            <a:off x="1011971" y="17243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输入：将句子</a:t>
            </a:r>
            <a:r>
              <a:rPr lang="en-US" altLang="zh-CN" sz="1800" dirty="0"/>
              <a:t>m</a:t>
            </a:r>
            <a:r>
              <a:rPr lang="zh-CN" altLang="en-US" sz="1800" dirty="0"/>
              <a:t>和实体实例</a:t>
            </a:r>
            <a:r>
              <a:rPr lang="en-US" altLang="zh-CN" sz="1800" dirty="0"/>
              <a:t>s</a:t>
            </a:r>
            <a:r>
              <a:rPr lang="zh-CN" altLang="en-US" sz="1800" dirty="0"/>
              <a:t>拼接</a:t>
            </a:r>
            <a:endParaRPr lang="zh-CN" altLang="en-US" dirty="0"/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9B72041A-8C7F-4B51-8D1B-98C15F79031E}"/>
              </a:ext>
            </a:extLst>
          </p:cNvPr>
          <p:cNvSpPr/>
          <p:nvPr/>
        </p:nvSpPr>
        <p:spPr>
          <a:xfrm rot="5400000">
            <a:off x="2714148" y="3570609"/>
            <a:ext cx="205566" cy="314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322D318-5D2D-4CA5-B758-EEEF58B8F7AC}"/>
              </a:ext>
            </a:extLst>
          </p:cNvPr>
          <p:cNvSpPr txBox="1"/>
          <p:nvPr/>
        </p:nvSpPr>
        <p:spPr>
          <a:xfrm>
            <a:off x="2685686" y="3976937"/>
            <a:ext cx="393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，</a:t>
            </a:r>
            <a:endParaRPr lang="zh-CN" altLang="en-US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7C728E35-113B-4148-B882-D1A91C72F81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355"/>
          <a:stretch/>
        </p:blipFill>
        <p:spPr>
          <a:xfrm>
            <a:off x="2938126" y="3979566"/>
            <a:ext cx="1004472" cy="314326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E7D01C49-2C7D-4ED4-93FB-7F0262B69A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746" y="5425291"/>
            <a:ext cx="3695700" cy="34290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10CCD43E-77EE-4F87-8264-55DB555529BA}"/>
              </a:ext>
            </a:extLst>
          </p:cNvPr>
          <p:cNvSpPr txBox="1"/>
          <p:nvPr/>
        </p:nvSpPr>
        <p:spPr>
          <a:xfrm>
            <a:off x="1514673" y="42691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Box</a:t>
            </a:r>
            <a:r>
              <a:rPr lang="zh-CN" altLang="en-US" sz="1800" dirty="0"/>
              <a:t>的中心点和偏移向量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418B932-0974-4763-AC2D-EAAD4677960F}"/>
              </a:ext>
            </a:extLst>
          </p:cNvPr>
          <p:cNvSpPr txBox="1"/>
          <p:nvPr/>
        </p:nvSpPr>
        <p:spPr>
          <a:xfrm>
            <a:off x="1834057" y="5772542"/>
            <a:ext cx="2491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Box</a:t>
            </a:r>
            <a:r>
              <a:rPr lang="zh-CN" altLang="en-US" sz="1800" dirty="0"/>
              <a:t>的两个角点</a:t>
            </a:r>
            <a:endParaRPr lang="zh-CN" altLang="en-US" dirty="0"/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8B4BBA27-7419-4E56-A38C-4B7CFA3D5397}"/>
              </a:ext>
            </a:extLst>
          </p:cNvPr>
          <p:cNvSpPr/>
          <p:nvPr/>
        </p:nvSpPr>
        <p:spPr>
          <a:xfrm rot="5400000">
            <a:off x="2723599" y="4614854"/>
            <a:ext cx="205566" cy="314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0CDEA95B-A261-4C7F-9992-4C721854C94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" b="1930"/>
          <a:stretch/>
        </p:blipFill>
        <p:spPr>
          <a:xfrm>
            <a:off x="6482643" y="1792356"/>
            <a:ext cx="3448050" cy="392327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6571DB3A-2E0B-4FE9-A39A-AB48E36F0DC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5304"/>
          <a:stretch/>
        </p:blipFill>
        <p:spPr>
          <a:xfrm>
            <a:off x="6525314" y="2363684"/>
            <a:ext cx="3209925" cy="369810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070FFF70-FA21-4DF2-980F-A482B68B57F8}"/>
              </a:ext>
            </a:extLst>
          </p:cNvPr>
          <p:cNvSpPr txBox="1"/>
          <p:nvPr/>
        </p:nvSpPr>
        <p:spPr>
          <a:xfrm>
            <a:off x="6169221" y="1070371"/>
            <a:ext cx="4733291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b="1" dirty="0"/>
              <a:t>2. </a:t>
            </a:r>
            <a:r>
              <a:rPr lang="zh-CN" altLang="en-US" sz="2400" b="1" dirty="0"/>
              <a:t>实体类型</a:t>
            </a:r>
            <a:r>
              <a:rPr lang="en-US" altLang="zh-CN" sz="2400" b="1" dirty="0"/>
              <a:t>k</a:t>
            </a:r>
            <a:r>
              <a:rPr lang="zh-CN" altLang="en-US" sz="2400" b="1" dirty="0"/>
              <a:t>的</a:t>
            </a:r>
            <a:r>
              <a:rPr lang="en-US" altLang="zh-CN" sz="2400" b="1" dirty="0"/>
              <a:t>Box Embedding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176E7D7-2E54-4BA8-ABD5-529DE55162B5}"/>
              </a:ext>
            </a:extLst>
          </p:cNvPr>
          <p:cNvSpPr txBox="1"/>
          <p:nvPr/>
        </p:nvSpPr>
        <p:spPr>
          <a:xfrm>
            <a:off x="6389765" y="3059668"/>
            <a:ext cx="46575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其中      和      是可学习的参数</a:t>
            </a: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B2BD4D80-8F96-4C97-82BC-D4194C2D9F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7161" y="3059759"/>
            <a:ext cx="321321" cy="422791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4113236D-521C-4A8C-B405-09813562D19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" r="6666"/>
          <a:stretch/>
        </p:blipFill>
        <p:spPr>
          <a:xfrm>
            <a:off x="7701115" y="3054858"/>
            <a:ext cx="321228" cy="40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043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5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E834AEA6-F55C-445E-8404-4ED82CABC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71" y="5840969"/>
            <a:ext cx="5133975" cy="7715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6D83C76-603F-4DBB-A4CC-718776333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04" y="1988520"/>
            <a:ext cx="4752975" cy="8001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25DF035-8C47-48F8-B3BA-BEC91B2AE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291" y="3511978"/>
            <a:ext cx="3657600" cy="1619025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1E8173C8-B809-42CB-BA39-03DF37D2E3B3}"/>
              </a:ext>
            </a:extLst>
          </p:cNvPr>
          <p:cNvSpPr txBox="1"/>
          <p:nvPr/>
        </p:nvSpPr>
        <p:spPr>
          <a:xfrm>
            <a:off x="509269" y="1070371"/>
            <a:ext cx="567270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b="1" dirty="0"/>
              <a:t>3. </a:t>
            </a:r>
            <a:r>
              <a:rPr lang="zh-CN" altLang="en-US" sz="2400" b="1" dirty="0"/>
              <a:t>实体类型</a:t>
            </a:r>
            <a:r>
              <a:rPr lang="en-US" altLang="zh-CN" sz="2400" b="1" dirty="0"/>
              <a:t>k</a:t>
            </a:r>
            <a:r>
              <a:rPr lang="zh-CN" altLang="en-US" sz="2400" b="1" dirty="0"/>
              <a:t>的预测概率</a:t>
            </a:r>
            <a:endParaRPr lang="en-US" altLang="zh-CN" sz="2400" b="1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D4AC1A0-E160-4771-9A6F-ACE9E891420F}"/>
              </a:ext>
            </a:extLst>
          </p:cNvPr>
          <p:cNvSpPr txBox="1"/>
          <p:nvPr/>
        </p:nvSpPr>
        <p:spPr>
          <a:xfrm>
            <a:off x="759604" y="298358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其中</a:t>
            </a:r>
            <a:r>
              <a:rPr lang="en-US" altLang="zh-CN" sz="2000" dirty="0"/>
              <a:t>Box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000" dirty="0"/>
              <a:t>和</a:t>
            </a:r>
            <a:r>
              <a:rPr lang="en-US" altLang="zh-CN" sz="2000" dirty="0"/>
              <a:t>Box      </a:t>
            </a:r>
            <a:r>
              <a:rPr lang="zh-CN" altLang="en-US" sz="2000" dirty="0"/>
              <a:t>的重合</a:t>
            </a:r>
            <a:r>
              <a:rPr lang="en-US" altLang="zh-CN" sz="2000" dirty="0"/>
              <a:t>Box</a:t>
            </a:r>
            <a:r>
              <a:rPr lang="zh-CN" altLang="en-US" sz="2000" dirty="0"/>
              <a:t>的角点定义如下：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25EA3CF-EA84-4676-8DF6-3264BCE50E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4609" y="3070194"/>
            <a:ext cx="266944" cy="309093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71343035-B0B5-4E6B-A873-6AB78BBEB62F}"/>
              </a:ext>
            </a:extLst>
          </p:cNvPr>
          <p:cNvSpPr txBox="1"/>
          <p:nvPr/>
        </p:nvSpPr>
        <p:spPr>
          <a:xfrm>
            <a:off x="759604" y="528593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Box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的体积的计算方式：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0A13251-A201-4182-A7A6-1F58C080D4E8}"/>
              </a:ext>
            </a:extLst>
          </p:cNvPr>
          <p:cNvSpPr txBox="1"/>
          <p:nvPr/>
        </p:nvSpPr>
        <p:spPr>
          <a:xfrm>
            <a:off x="6855604" y="1070370"/>
            <a:ext cx="567270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b="1" dirty="0"/>
              <a:t>4. </a:t>
            </a:r>
            <a:r>
              <a:rPr lang="zh-CN" altLang="en-US" sz="2400" b="1" dirty="0"/>
              <a:t>多标签分类结果</a:t>
            </a:r>
            <a:endParaRPr lang="en-US" altLang="zh-CN" sz="2400" b="1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A1D6BFA-0C1A-4BA4-B1FA-EBEB205F8B2B}"/>
              </a:ext>
            </a:extLst>
          </p:cNvPr>
          <p:cNvSpPr txBox="1"/>
          <p:nvPr/>
        </p:nvSpPr>
        <p:spPr>
          <a:xfrm>
            <a:off x="6911263" y="1874086"/>
            <a:ext cx="4657885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400" dirty="0"/>
              <a:t>所有预测概率大于</a:t>
            </a:r>
            <a:r>
              <a:rPr lang="en-US" altLang="zh-CN" sz="2400" dirty="0"/>
              <a:t>0.5</a:t>
            </a:r>
            <a:r>
              <a:rPr lang="zh-CN" altLang="en-US" sz="2400" dirty="0"/>
              <a:t>的实体类型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210760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6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E8173C8-B809-42CB-BA39-03DF37D2E3B3}"/>
              </a:ext>
            </a:extLst>
          </p:cNvPr>
          <p:cNvSpPr txBox="1"/>
          <p:nvPr/>
        </p:nvSpPr>
        <p:spPr>
          <a:xfrm>
            <a:off x="509269" y="1070371"/>
            <a:ext cx="567270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b="1" dirty="0"/>
              <a:t>5. </a:t>
            </a:r>
            <a:r>
              <a:rPr lang="zh-CN" altLang="en-US" sz="2400" b="1" dirty="0"/>
              <a:t>训练损失</a:t>
            </a:r>
            <a:endParaRPr lang="en-US" altLang="zh-CN" sz="2400" b="1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B8C4A8D-EF9F-4250-A30C-916EF50925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13"/>
          <a:stretch/>
        </p:blipFill>
        <p:spPr>
          <a:xfrm>
            <a:off x="1011971" y="2201374"/>
            <a:ext cx="5581650" cy="16672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C477162-A6A1-42B3-BDDE-66E13F820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535" y="3468565"/>
            <a:ext cx="37147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306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82614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实验结果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7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105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82614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实验结果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8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E21610-20B8-4018-B748-8C4DDD35119F}"/>
              </a:ext>
            </a:extLst>
          </p:cNvPr>
          <p:cNvSpPr txBox="1"/>
          <p:nvPr/>
        </p:nvSpPr>
        <p:spPr>
          <a:xfrm>
            <a:off x="769815" y="1034396"/>
            <a:ext cx="6096000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000" dirty="0"/>
              <a:t>模型效率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077368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2093</TotalTime>
  <Words>161</Words>
  <Application>Microsoft Office PowerPoint</Application>
  <PresentationFormat>宽屏</PresentationFormat>
  <Paragraphs>34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等线</vt:lpstr>
      <vt:lpstr>等线 Light</vt:lpstr>
      <vt:lpstr>仿宋</vt:lpstr>
      <vt:lpstr>华文楷体</vt:lpstr>
      <vt:lpstr>宋体</vt:lpstr>
      <vt:lpstr>Arial</vt:lpstr>
      <vt:lpstr>Arial Black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羽鑫</dc:creator>
  <cp:lastModifiedBy>羽鑫</cp:lastModifiedBy>
  <cp:revision>243</cp:revision>
  <dcterms:created xsi:type="dcterms:W3CDTF">2021-06-01T08:24:38Z</dcterms:created>
  <dcterms:modified xsi:type="dcterms:W3CDTF">2021-08-13T10:45:05Z</dcterms:modified>
</cp:coreProperties>
</file>