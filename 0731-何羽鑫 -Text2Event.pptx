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25" r:id="rId3"/>
    <p:sldId id="419" r:id="rId4"/>
    <p:sldId id="427" r:id="rId5"/>
    <p:sldId id="428" r:id="rId6"/>
    <p:sldId id="429" r:id="rId7"/>
    <p:sldId id="434" r:id="rId8"/>
    <p:sldId id="421" r:id="rId9"/>
    <p:sldId id="430" r:id="rId10"/>
    <p:sldId id="432" r:id="rId11"/>
    <p:sldId id="43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52" autoAdjust="0"/>
  </p:normalViewPr>
  <p:slideViewPr>
    <p:cSldViewPr snapToGrid="0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8CA0-D2C8-4CBD-A352-0534456D3CCF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C1761-BC92-431A-8FD2-4DA588ACCE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6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EC584-D879-4BC2-9EFB-E67AB630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86E5B-F704-40E3-A1E8-DB0FDAF1A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D8501-DF67-411D-A477-A03C9AA8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BC256-B1E8-48AA-A767-3B0EC6B6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FB524-73C4-43DC-97AA-331D140C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2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E1AC-DF1E-4E37-9627-F4FAC300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19A72-0BB0-42F0-9D1A-B36043A9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5065A-5A30-442A-BE59-05645B63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EB79F-2DB5-4BDA-95BF-B9BD34CF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2E81B-8457-4221-9759-003101D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8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78497-5FF2-4063-8CBD-A61D6F0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37C8-54AA-4227-AB6F-06E97AD8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6A281-0EC1-4F37-89CC-F4B2714F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9D7C-9051-44EB-9AF3-C65F0E6D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2B6A1-B207-412B-B216-6861D3E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25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EBEA6-E0DB-40B1-B194-C1D06A6E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AE76F-E91D-49D5-84EB-01E1615C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DCBC0-F8D0-4784-8509-F0235CE15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572F83-3E5B-40FD-8A47-AC65D8AC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C56E5-E1D9-494E-BEFF-78DB9008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E66E8-369F-44EF-BE25-6BFDAE15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2FEE2-DD5B-420D-B2C3-A0E4E53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542F0-0A55-46B9-B6F9-130729DF7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62748-135C-4FBF-A2CC-0934D0FC0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FD7DC-E5AE-4753-A3AE-BF4AE6B78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473791-30B3-4762-A60C-4E79E046B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2A6019-14CE-4D0C-B38A-3E9EC230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9D0F88-B27D-4687-9E5B-4056923B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CD0C52-D3AE-4851-8FB0-87A50E9C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1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D405-FDF0-441C-9732-A01B8E04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A742C-97C0-41AB-A285-F6365B35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2EF57-BB7F-41E3-9280-0F4AD639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0C3E0F-FA2F-4ACD-A6E1-9E390A23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47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4F57C-61B4-4E47-9BBC-BF1E0CF7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48328-AE47-4FB0-A81E-4D941B2B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B6EA0-FC67-4C61-8F45-205ACFA6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9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538B5-0CDD-49B1-9550-C3FEF4F2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272C4-2797-4D1D-973A-AB50961B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08C78-4E00-4EA2-BC51-B9A01E83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78A6B1-E6F0-4EE9-BE3C-7A57AD93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31090-5A14-48A8-9AA2-7566DB0F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63FCDA-BE2A-4689-BC84-D4D7A6F3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8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ED19F-DF58-4BE2-8646-27299FE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F0D68-EDBC-4F73-934F-8BAB8FBF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08708-EEDB-4CEC-B2B1-00F6BA8FC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BC80E-37F7-45FC-88AF-B1DA76FC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4B1A78-B5C6-4F6A-991D-4E0F67E7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F5965-434E-48EA-B7EF-71E52608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4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91F20-A1D8-409B-B75A-C4CA0D0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ABA1A4-C053-4579-9EEF-12122CDC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BDE58-8695-4E12-B3CD-64EC39C8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94BF8-C72C-4DD8-82FB-858F3617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3E7B8-7751-4C02-BF43-D23A86D2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B55B0-5C6E-4BB8-B735-117820097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7CF004-AFFF-4675-A9B9-036E1A8C2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D61EE-CF4E-4444-AB6E-848D2F4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9A6C7-AC47-4C8C-97F9-52D089E1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A252A-AD06-4841-8F9C-ED0AEC49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093810-2041-413F-AE68-3EE82BBA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3390-82C6-4693-8525-EEBC0737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B72C3-C2F2-4D63-8D8B-CD007468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35C42-AD79-47EE-A839-0FD92B9C5B13}" type="datetimeFigureOut">
              <a:rPr lang="zh-CN" altLang="en-US" smtClean="0"/>
              <a:t>2021/7/30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41FBD-4048-4118-990B-5FF8ACE4F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CFA93-E1B2-4A56-9AB5-8C186A2AF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4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5E63B2A-2972-4A28-9A46-D2D12E58286D}"/>
              </a:ext>
            </a:extLst>
          </p:cNvPr>
          <p:cNvGrpSpPr/>
          <p:nvPr/>
        </p:nvGrpSpPr>
        <p:grpSpPr>
          <a:xfrm>
            <a:off x="195385" y="436978"/>
            <a:ext cx="11785600" cy="2042160"/>
            <a:chOff x="1072" y="2747"/>
            <a:chExt cx="17444" cy="321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FA3CF4-B7E5-4A9D-869A-B515AF07C280}"/>
                </a:ext>
              </a:extLst>
            </p:cNvPr>
            <p:cNvGrpSpPr/>
            <p:nvPr/>
          </p:nvGrpSpPr>
          <p:grpSpPr>
            <a:xfrm>
              <a:off x="1072" y="2747"/>
              <a:ext cx="1316" cy="3216"/>
              <a:chOff x="2384" y="2668"/>
              <a:chExt cx="1316" cy="3216"/>
            </a:xfrm>
          </p:grpSpPr>
          <p:sp>
            <p:nvSpPr>
              <p:cNvPr id="14" name="矩形 87">
                <a:extLst>
                  <a:ext uri="{FF2B5EF4-FFF2-40B4-BE49-F238E27FC236}">
                    <a16:creationId xmlns:a16="http://schemas.microsoft.com/office/drawing/2014/main" id="{5D6218DE-BA00-4A8C-AEC0-903D1DD27A7E}"/>
                  </a:ext>
                </a:extLst>
              </p:cNvPr>
              <p:cNvSpPr/>
              <p:nvPr/>
            </p:nvSpPr>
            <p:spPr>
              <a:xfrm>
                <a:off x="2400" y="3160"/>
                <a:ext cx="528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5" name="矩形 102">
                <a:extLst>
                  <a:ext uri="{FF2B5EF4-FFF2-40B4-BE49-F238E27FC236}">
                    <a16:creationId xmlns:a16="http://schemas.microsoft.com/office/drawing/2014/main" id="{998B798D-7FD5-4C81-B9F5-6F8D29A81E97}"/>
                  </a:ext>
                </a:extLst>
              </p:cNvPr>
              <p:cNvSpPr/>
              <p:nvPr/>
            </p:nvSpPr>
            <p:spPr>
              <a:xfrm>
                <a:off x="2400" y="2668"/>
                <a:ext cx="1300" cy="2722"/>
              </a:xfrm>
              <a:prstGeom prst="rect">
                <a:avLst/>
              </a:prstGeom>
              <a:solidFill>
                <a:srgbClr val="005825"/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6" name="直角三角形 89">
                <a:extLst>
                  <a:ext uri="{FF2B5EF4-FFF2-40B4-BE49-F238E27FC236}">
                    <a16:creationId xmlns:a16="http://schemas.microsoft.com/office/drawing/2014/main" id="{DA9BB46C-78EA-4BDF-9E17-77BFC60F1DE0}"/>
                  </a:ext>
                </a:extLst>
              </p:cNvPr>
              <p:cNvSpPr/>
              <p:nvPr/>
            </p:nvSpPr>
            <p:spPr>
              <a:xfrm rot="-5400000" flipH="1">
                <a:off x="2400" y="5358"/>
                <a:ext cx="510" cy="542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2EA8F9-B98D-4AE2-9BAB-A4966B7C4258}"/>
                </a:ext>
              </a:extLst>
            </p:cNvPr>
            <p:cNvGrpSpPr/>
            <p:nvPr/>
          </p:nvGrpSpPr>
          <p:grpSpPr>
            <a:xfrm>
              <a:off x="17988" y="3203"/>
              <a:ext cx="528" cy="2723"/>
              <a:chOff x="16273" y="3160"/>
              <a:chExt cx="528" cy="2723"/>
            </a:xfrm>
          </p:grpSpPr>
          <p:sp>
            <p:nvSpPr>
              <p:cNvPr id="12" name="矩形 88">
                <a:extLst>
                  <a:ext uri="{FF2B5EF4-FFF2-40B4-BE49-F238E27FC236}">
                    <a16:creationId xmlns:a16="http://schemas.microsoft.com/office/drawing/2014/main" id="{5FCE61B3-8A3D-4886-A006-CED88F46D276}"/>
                  </a:ext>
                </a:extLst>
              </p:cNvPr>
              <p:cNvSpPr/>
              <p:nvPr/>
            </p:nvSpPr>
            <p:spPr>
              <a:xfrm>
                <a:off x="16273" y="3160"/>
                <a:ext cx="527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直角三角形 91">
                <a:extLst>
                  <a:ext uri="{FF2B5EF4-FFF2-40B4-BE49-F238E27FC236}">
                    <a16:creationId xmlns:a16="http://schemas.microsoft.com/office/drawing/2014/main" id="{2A2C1F84-2E2F-4937-A0F5-A64A3C17E925}"/>
                  </a:ext>
                </a:extLst>
              </p:cNvPr>
              <p:cNvSpPr/>
              <p:nvPr/>
            </p:nvSpPr>
            <p:spPr>
              <a:xfrm rot="-5400000" flipH="1" flipV="1">
                <a:off x="16283" y="5365"/>
                <a:ext cx="507" cy="528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sp>
        <p:nvSpPr>
          <p:cNvPr id="17" name="直接连接符 83">
            <a:extLst>
              <a:ext uri="{FF2B5EF4-FFF2-40B4-BE49-F238E27FC236}">
                <a16:creationId xmlns:a16="http://schemas.microsoft.com/office/drawing/2014/main" id="{9AB3BDF5-8C5C-4727-B9C9-CB6EF28CE63A}"/>
              </a:ext>
            </a:extLst>
          </p:cNvPr>
          <p:cNvSpPr/>
          <p:nvPr/>
        </p:nvSpPr>
        <p:spPr>
          <a:xfrm>
            <a:off x="1919923" y="6229668"/>
            <a:ext cx="8353425" cy="1587"/>
          </a:xfrm>
          <a:prstGeom prst="line">
            <a:avLst/>
          </a:prstGeom>
          <a:ln w="6350" cap="flat" cmpd="sng">
            <a:solidFill>
              <a:srgbClr val="BFBFBF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A4E641B7-D37E-4CBA-B48A-A2ADFC0F9993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14FFF7-2EFD-4160-B4D2-32CBDD041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54"/>
          <a:stretch/>
        </p:blipFill>
        <p:spPr>
          <a:xfrm>
            <a:off x="1347384" y="1301213"/>
            <a:ext cx="9680123" cy="355682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69098BC-435A-4030-81A5-4D0F9BC22E6F}"/>
              </a:ext>
            </a:extLst>
          </p:cNvPr>
          <p:cNvSpPr txBox="1"/>
          <p:nvPr/>
        </p:nvSpPr>
        <p:spPr>
          <a:xfrm>
            <a:off x="2465033" y="5705455"/>
            <a:ext cx="7261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latin typeface="等线" panose="02010600030101010101" pitchFamily="2" charset="-122"/>
                <a:cs typeface="Times New Roman" panose="02020603050405020304" pitchFamily="18" charset="0"/>
              </a:rPr>
              <a:t>ACL 2021</a:t>
            </a:r>
            <a:endParaRPr lang="zh-CN" altLang="en-US" sz="24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42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介绍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668B86-3F25-4DAF-B521-E087B5BF7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27" y="1072615"/>
            <a:ext cx="4852638" cy="55525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11FB156-AD4E-4EAA-BA5F-391FC0CFD172}"/>
              </a:ext>
            </a:extLst>
          </p:cNvPr>
          <p:cNvSpPr txBox="1"/>
          <p:nvPr/>
        </p:nvSpPr>
        <p:spPr>
          <a:xfrm>
            <a:off x="6096000" y="13077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任务：事件抽取</a:t>
            </a:r>
            <a:endParaRPr lang="en-US" altLang="zh-CN" sz="24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给定文本，抽取其中所提及事件的类型，触发器</a:t>
            </a:r>
            <a:r>
              <a:rPr lang="en-US" altLang="zh-CN" sz="2000" dirty="0"/>
              <a:t>(trigger)</a:t>
            </a:r>
            <a:r>
              <a:rPr lang="zh-CN" altLang="en-US" sz="2000" dirty="0"/>
              <a:t>，各参量名称及相应值</a:t>
            </a:r>
            <a:r>
              <a:rPr lang="en-US" altLang="zh-CN" sz="2000" dirty="0"/>
              <a:t>(arguments)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C5F51-B98D-4AB4-A65A-E7CE3D2C6352}"/>
              </a:ext>
            </a:extLst>
          </p:cNvPr>
          <p:cNvSpPr txBox="1"/>
          <p:nvPr/>
        </p:nvSpPr>
        <p:spPr>
          <a:xfrm>
            <a:off x="6096000" y="3120259"/>
            <a:ext cx="590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动机：采用</a:t>
            </a:r>
            <a:r>
              <a:rPr lang="en-US" altLang="zh-CN" sz="2400" dirty="0"/>
              <a:t>seq2seq</a:t>
            </a:r>
            <a:r>
              <a:rPr lang="zh-CN" altLang="en-US" sz="2400" dirty="0"/>
              <a:t>的生成式模型实现端到端的事件抽取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98E68E0-761C-4D65-B1D6-4C31CE047CB0}"/>
              </a:ext>
            </a:extLst>
          </p:cNvPr>
          <p:cNvCxnSpPr>
            <a:cxnSpLocks/>
          </p:cNvCxnSpPr>
          <p:nvPr/>
        </p:nvCxnSpPr>
        <p:spPr>
          <a:xfrm>
            <a:off x="1096027" y="4501284"/>
            <a:ext cx="51643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FC19990-AAC6-40A2-B088-A5B28C8F4218}"/>
              </a:ext>
            </a:extLst>
          </p:cNvPr>
          <p:cNvCxnSpPr>
            <a:cxnSpLocks/>
          </p:cNvCxnSpPr>
          <p:nvPr/>
        </p:nvCxnSpPr>
        <p:spPr>
          <a:xfrm>
            <a:off x="1096027" y="4741233"/>
            <a:ext cx="61328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C62B8B1-FE30-4952-832B-6B831AC20CB1}"/>
              </a:ext>
            </a:extLst>
          </p:cNvPr>
          <p:cNvCxnSpPr>
            <a:cxnSpLocks/>
          </p:cNvCxnSpPr>
          <p:nvPr/>
        </p:nvCxnSpPr>
        <p:spPr>
          <a:xfrm>
            <a:off x="1096027" y="5174601"/>
            <a:ext cx="525447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18722A8-9E96-48D3-B05D-7D9151826483}"/>
              </a:ext>
            </a:extLst>
          </p:cNvPr>
          <p:cNvSpPr/>
          <p:nvPr/>
        </p:nvSpPr>
        <p:spPr>
          <a:xfrm>
            <a:off x="1621474" y="4854102"/>
            <a:ext cx="1777046" cy="639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3BD430-51FC-4D91-BFD2-F4543DEADBE1}"/>
              </a:ext>
            </a:extLst>
          </p:cNvPr>
          <p:cNvSpPr txBox="1"/>
          <p:nvPr/>
        </p:nvSpPr>
        <p:spPr>
          <a:xfrm>
            <a:off x="269048" y="4320588"/>
            <a:ext cx="983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事件类型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AB613A4-26E1-4FC1-A9DA-BD782C7AD51B}"/>
              </a:ext>
            </a:extLst>
          </p:cNvPr>
          <p:cNvSpPr txBox="1"/>
          <p:nvPr/>
        </p:nvSpPr>
        <p:spPr>
          <a:xfrm>
            <a:off x="347178" y="4569817"/>
            <a:ext cx="826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触发器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764214-3168-4E8C-B833-5BBD24640D67}"/>
              </a:ext>
            </a:extLst>
          </p:cNvPr>
          <p:cNvSpPr txBox="1"/>
          <p:nvPr/>
        </p:nvSpPr>
        <p:spPr>
          <a:xfrm>
            <a:off x="457269" y="5010038"/>
            <a:ext cx="826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参量</a:t>
            </a:r>
          </a:p>
        </p:txBody>
      </p:sp>
    </p:spTree>
    <p:extLst>
      <p:ext uri="{BB962C8B-B14F-4D97-AF65-F5344CB8AC3E}">
        <p14:creationId xmlns:p14="http://schemas.microsoft.com/office/powerpoint/2010/main" val="82160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653F74-CF37-4A75-85E2-0BE356B53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00" y="1952060"/>
            <a:ext cx="11423600" cy="409868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3865612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1. </a:t>
            </a:r>
            <a:r>
              <a:rPr lang="zh-CN" altLang="en-US" sz="2400" dirty="0"/>
              <a:t>事件结构线性化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72129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457327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2. </a:t>
            </a:r>
            <a:r>
              <a:rPr lang="en-GB" altLang="zh-CN" sz="2400" dirty="0"/>
              <a:t>Sequence-to-Structure</a:t>
            </a:r>
            <a:r>
              <a:rPr lang="zh-CN" altLang="en-US" sz="2400" dirty="0"/>
              <a:t>模型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FB007C-29DE-42C8-8F8E-DAB872E1B47B}"/>
              </a:ext>
            </a:extLst>
          </p:cNvPr>
          <p:cNvSpPr txBox="1"/>
          <p:nvPr/>
        </p:nvSpPr>
        <p:spPr>
          <a:xfrm>
            <a:off x="1063268" y="2147054"/>
            <a:ext cx="9924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基础模型：</a:t>
            </a:r>
            <a:endParaRPr lang="en-US" altLang="zh-CN" sz="2000" b="1" dirty="0"/>
          </a:p>
          <a:p>
            <a:r>
              <a:rPr lang="en-US" altLang="zh-CN" sz="2000" dirty="0"/>
              <a:t>        T5</a:t>
            </a:r>
            <a:r>
              <a:rPr lang="zh-CN" altLang="en-US" sz="2000" dirty="0"/>
              <a:t>，一种</a:t>
            </a:r>
            <a:r>
              <a:rPr lang="en-GB" altLang="zh-CN" sz="2000" dirty="0"/>
              <a:t>encoder-decoder</a:t>
            </a:r>
            <a:r>
              <a:rPr lang="zh-CN" altLang="en-US" sz="2000" dirty="0"/>
              <a:t>架构的预训练语言模型，隐含了大规模语料中的通用语义知识。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3FDE34-BD13-4196-B872-B591FBBAF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433" y="3864560"/>
            <a:ext cx="4587612" cy="5800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7FBA655-046D-42ED-9F0E-B18482417296}"/>
              </a:ext>
            </a:extLst>
          </p:cNvPr>
          <p:cNvSpPr txBox="1"/>
          <p:nvPr/>
        </p:nvSpPr>
        <p:spPr>
          <a:xfrm>
            <a:off x="1063268" y="3495229"/>
            <a:ext cx="7155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编码：</a:t>
            </a:r>
            <a:endParaRPr lang="en-US" altLang="zh-CN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2C15208-FD5C-4FE1-A4C1-3EC9FE9C86F4}"/>
              </a:ext>
            </a:extLst>
          </p:cNvPr>
          <p:cNvSpPr txBox="1"/>
          <p:nvPr/>
        </p:nvSpPr>
        <p:spPr>
          <a:xfrm>
            <a:off x="1063268" y="4692554"/>
            <a:ext cx="7155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解码：</a:t>
            </a:r>
            <a:endParaRPr lang="en-US" altLang="zh-CN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C04F61-3B79-4821-B76C-488B596E4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67" y="5061886"/>
            <a:ext cx="5299432" cy="50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0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3. </a:t>
            </a:r>
            <a:r>
              <a:rPr lang="zh-CN" altLang="en-US" sz="2400" dirty="0"/>
              <a:t>受限解码（</a:t>
            </a:r>
            <a:r>
              <a:rPr lang="en-US" altLang="zh-CN" sz="2400" dirty="0"/>
              <a:t>Constrained Decoding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5B69F5-E4AF-483C-B6C0-D0A56F7B80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594"/>
          <a:stretch/>
        </p:blipFill>
        <p:spPr>
          <a:xfrm>
            <a:off x="6096000" y="1377935"/>
            <a:ext cx="5591384" cy="221680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6DBC108-E5F0-45BE-AAEC-1606325420E4}"/>
              </a:ext>
            </a:extLst>
          </p:cNvPr>
          <p:cNvSpPr txBox="1"/>
          <p:nvPr/>
        </p:nvSpPr>
        <p:spPr>
          <a:xfrm>
            <a:off x="676910" y="1949918"/>
            <a:ext cx="541909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/>
              <a:t>类似于字典树搜索，在每个生成步，根据当前状态和事件模式知识，限制生成的范围（候选词表）。</a:t>
            </a:r>
            <a:endParaRPr lang="en-US" altLang="zh-CN" sz="2000" dirty="0"/>
          </a:p>
          <a:p>
            <a:pPr>
              <a:spcAft>
                <a:spcPts val="600"/>
              </a:spcAft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DB84A9-00C0-4C3B-81E4-354B9957BF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97"/>
          <a:stretch/>
        </p:blipFill>
        <p:spPr>
          <a:xfrm>
            <a:off x="9948282" y="4523802"/>
            <a:ext cx="1537492" cy="14948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A06EE7-2E54-41EC-A56D-7EFAC6DF3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42" y="3593671"/>
            <a:ext cx="4893945" cy="283295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44D41D4-23CA-4C54-81F7-0DC4F88790CC}"/>
              </a:ext>
            </a:extLst>
          </p:cNvPr>
          <p:cNvSpPr txBox="1"/>
          <p:nvPr/>
        </p:nvSpPr>
        <p:spPr>
          <a:xfrm>
            <a:off x="676910" y="3134858"/>
            <a:ext cx="525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/>
              <a:t>候选词表包含三类：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D4D5B29-098C-40DF-9799-B2A6E5CC6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557" y="4673300"/>
            <a:ext cx="2952750" cy="126546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F92940F-C9D3-46DA-8409-D01EA6696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025" y="4028654"/>
            <a:ext cx="1965680" cy="46251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37D902A-D217-4FE7-A3BF-40E79E644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8332" y="5933577"/>
            <a:ext cx="2743199" cy="48923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294FE53-4838-446E-8229-33007F64AC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7719" y="6051325"/>
            <a:ext cx="2025362" cy="30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1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3. </a:t>
            </a:r>
            <a:r>
              <a:rPr lang="zh-CN" altLang="en-US" sz="2400" dirty="0"/>
              <a:t>学习过程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5FF64C-423C-4025-A606-3DAB1AE2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" y="2389006"/>
            <a:ext cx="4187581" cy="82094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8D41933-E196-40FC-8148-70AD82121A97}"/>
              </a:ext>
            </a:extLst>
          </p:cNvPr>
          <p:cNvSpPr txBox="1"/>
          <p:nvPr/>
        </p:nvSpPr>
        <p:spPr>
          <a:xfrm>
            <a:off x="676910" y="1893279"/>
            <a:ext cx="5419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b="1" dirty="0"/>
              <a:t>损失函数：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C645F8-BF65-49E4-B1B4-B9E13384D29B}"/>
              </a:ext>
            </a:extLst>
          </p:cNvPr>
          <p:cNvSpPr txBox="1"/>
          <p:nvPr/>
        </p:nvSpPr>
        <p:spPr>
          <a:xfrm>
            <a:off x="6096000" y="1859339"/>
            <a:ext cx="578338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altLang="zh-CN" sz="2000" b="1" dirty="0"/>
              <a:t>Curriculum Learning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>
              <a:spcAft>
                <a:spcPts val="600"/>
              </a:spcAft>
            </a:pPr>
            <a:r>
              <a:rPr lang="en-US" altLang="zh-CN" sz="2000" dirty="0"/>
              <a:t>      </a:t>
            </a:r>
            <a:r>
              <a:rPr lang="zh-CN" altLang="en-US" sz="2000" dirty="0"/>
              <a:t>先学习生成事件子结构。事件子结构只包含</a:t>
            </a:r>
            <a:r>
              <a:rPr lang="en-GB" altLang="zh-CN" sz="2000" dirty="0"/>
              <a:t>(type, trigger words)</a:t>
            </a:r>
            <a:r>
              <a:rPr lang="zh-CN" altLang="en-US" sz="2000" dirty="0"/>
              <a:t>和</a:t>
            </a:r>
            <a:r>
              <a:rPr lang="en-GB" altLang="zh-CN" sz="2000" dirty="0"/>
              <a:t>(argument role, argument words)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spcAft>
                <a:spcPts val="600"/>
              </a:spcAft>
            </a:pPr>
            <a:r>
              <a:rPr lang="en-US" altLang="zh-CN" sz="2000" dirty="0"/>
              <a:t>      </a:t>
            </a:r>
            <a:r>
              <a:rPr lang="zh-CN" altLang="en-US" sz="2000" dirty="0"/>
              <a:t>例如：“</a:t>
            </a:r>
            <a:r>
              <a:rPr lang="en-US" altLang="zh-CN" sz="2000" dirty="0"/>
              <a:t>(Transport returned) (Artifact The man) …(Arrest-Jail capture)…(Agent bounty hunter)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/>
              <a:t>      </a:t>
            </a:r>
            <a:r>
              <a:rPr lang="zh-CN" altLang="en-US" sz="2000" dirty="0"/>
              <a:t>再学习生成完整的事件记录。</a:t>
            </a:r>
            <a:endParaRPr lang="en-US" altLang="zh-CN" sz="2000" dirty="0"/>
          </a:p>
          <a:p>
            <a:pPr>
              <a:spcAft>
                <a:spcPts val="600"/>
              </a:spcAft>
            </a:pPr>
            <a:r>
              <a:rPr lang="en-GB" altLang="zh-CN" sz="2000" dirty="0"/>
              <a:t> </a:t>
            </a:r>
            <a:br>
              <a:rPr lang="en-GB" altLang="zh-CN" dirty="0"/>
            </a:b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0EFAE0-7B77-4CE2-8559-A80C3A33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01" y="3287909"/>
            <a:ext cx="3069249" cy="2937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79F6E3-927E-43AF-8616-75A0A8DB2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37" y="4488135"/>
            <a:ext cx="3807801" cy="211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1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数据集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5BEDF4-C955-4DE9-BAA9-80FB9C49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341" y="1381979"/>
            <a:ext cx="6151318" cy="467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0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00634F6-F477-417E-A872-C2EAF41F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858618"/>
            <a:ext cx="8340087" cy="578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4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DF9BA6-C6EE-4D3E-B9D1-ABFCE04ED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46" y="1428306"/>
            <a:ext cx="6697907" cy="453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7AC4F0-9838-4F4A-A79A-FD2F0B70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86" y="1239569"/>
            <a:ext cx="5413949" cy="54819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0194E03-AA4A-4697-AE62-AE0666426076}"/>
              </a:ext>
            </a:extLst>
          </p:cNvPr>
          <p:cNvSpPr txBox="1"/>
          <p:nvPr/>
        </p:nvSpPr>
        <p:spPr>
          <a:xfrm>
            <a:off x="571793" y="1075103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/>
              <a:t>迁移学习实验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034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09257D-2FDF-4F6F-8EAF-BBB271A57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05" y="1434731"/>
            <a:ext cx="5929190" cy="50431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D9A9AE-9B0D-4BE0-915D-D6119A0A1C7E}"/>
              </a:ext>
            </a:extLst>
          </p:cNvPr>
          <p:cNvSpPr txBox="1"/>
          <p:nvPr/>
        </p:nvSpPr>
        <p:spPr>
          <a:xfrm>
            <a:off x="571793" y="1075103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/>
              <a:t>消融实验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5053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228</Words>
  <Application>Microsoft Office PowerPoint</Application>
  <PresentationFormat>宽屏</PresentationFormat>
  <Paragraphs>46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仿宋</vt:lpstr>
      <vt:lpstr>华文楷体</vt:lpstr>
      <vt:lpstr>宋体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羽鑫</dc:creator>
  <cp:lastModifiedBy>羽鑫</cp:lastModifiedBy>
  <cp:revision>164</cp:revision>
  <dcterms:created xsi:type="dcterms:W3CDTF">2021-06-01T08:24:38Z</dcterms:created>
  <dcterms:modified xsi:type="dcterms:W3CDTF">2021-07-30T16:22:11Z</dcterms:modified>
</cp:coreProperties>
</file>